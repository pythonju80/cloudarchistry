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81" r:id="rId2"/>
    <p:sldId id="27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bby Chang" initials="DC" lastIdx="8" clrIdx="0">
    <p:extLst>
      <p:ext uri="{19B8F6BF-5375-455C-9EA6-DF929625EA0E}">
        <p15:presenceInfo xmlns:p15="http://schemas.microsoft.com/office/powerpoint/2012/main" userId="Debby Ch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29"/>
    <p:restoredTop sz="94721"/>
  </p:normalViewPr>
  <p:slideViewPr>
    <p:cSldViewPr snapToGrid="0" snapToObjects="1">
      <p:cViewPr>
        <p:scale>
          <a:sx n="125" d="100"/>
          <a:sy n="125" d="100"/>
        </p:scale>
        <p:origin x="348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6B231-60EB-4C49-AAEF-269B5DFF8A47}" type="datetimeFigureOut">
              <a:rPr lang="en-US" smtClean="0"/>
              <a:t>2/28/2024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86CF6-1F11-0F42-9224-21A256809A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734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quip-amazon.com/5XEtAzI2yYvC/Code-Sample-Events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developer initiates an activity in AWS CI/CD pipeline such as push code changes. These activities create Amazon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CloudWatch events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EventBridge event rule detects the CloudWatch events and sends the event data to an Amazon Kinesis Firehose Delivery Stream. One event rule per event source.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event rule is also created to capture event data from Amazon CloudWatch Synthetics Canary if customer has set up the canary – only needed for MTTR.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Firehose uses a Lambda function for data transformation. It extracts relevant data and sends it to an Amazon S3 bucket.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Athena database queries the S3 data and returns the query result to an Amazon QuickSight.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QuickSight obtains the query result and builds dashboard displays for the management team.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3B235-0EC1-A945-8A73-E24DD50E928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249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0B15-2441-8C40-A7FF-E2A903BA0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EDCD3-FE1E-3A42-A167-0D7548E86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A736C-3AF2-754D-B90D-CBD093139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2/28/2024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6406-6A04-E148-9208-C65993B6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5A83A-851E-1A44-9FCE-6FFD4813A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5C4C-80D1-964F-8C27-E6533D318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D3B0B-74C5-4245-AEBB-F27838447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75128-5C99-924A-8235-4D35BDF5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2/28/2024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3A23-0936-5347-BCEE-94B0BBC5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E944D-764C-594E-89F2-A935820D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63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914EC-30FA-784D-89FE-065ABF8A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02DC6-75AF-934A-8CD0-3860E57B6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1C632-EFB6-984D-9E96-59FFF448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2/28/2024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F414A-1C2C-F74E-966B-28ED8607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65928-0931-B243-805D-290462A0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54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B84D-AA29-BF47-A2C3-00F3CC6F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547C6-5414-4D49-B625-9F62F0182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F339C-0A28-6E45-9806-D043A1E2E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00151-3BFF-394D-AA82-5EC5D874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2/28/2024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515EA-2174-8A4C-9226-DDCFAF19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A7A2B-22F6-B34E-AAAA-F650C35A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79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B524-B009-1849-954B-63F1A2B2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A1271-2C8E-744E-B3A6-F1F4D0BD5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C27E9-0BB9-684A-83E9-B98AEBE76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C2C89-FB2B-2848-9CBC-845ACD8AE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8A7B3-5BB6-F142-8991-B826A35EBC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F6A90-BCA7-A844-BDD1-229C01420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2/28/2024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70EB13-5D11-5449-9512-615224438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89CFB-D3AA-5D40-8CD5-82FB72E2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5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C06F-E9D1-9848-8730-019EDC09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F6A42A-BD0A-6044-B98A-667A10B91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2/28/2024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6F7CE-1782-F34B-8546-4418076A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4FECA-CEB6-EA48-989E-76920583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8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5ACDC-A542-1644-ACC8-03BEFDCE9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2/28/2024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3CAD7-D680-3248-89AC-406C3A2F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4454D-3F33-CF4C-AAEA-B9C5C3288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32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DC62-3092-4F47-B1CE-3F896D090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C02A2-C681-EC4D-883E-EDD4C9F35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3D7A2-001A-E546-90B4-92D80CF48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D9759-F5A3-D041-9C49-871DE939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2/28/2024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6F5AD-6FC4-0546-BCC8-1996C15E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7A332-74A7-C049-9406-D84CFB5A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51D8-6D19-DF4B-9F98-C7AC0FFEE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D56044-1EBB-F64A-B5BC-EF7CA4262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5DFA7-FA61-E240-8E13-D17D1C0DA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96980-11CA-3B45-AE34-01194C85E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2/28/2024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CCDDE-3E46-2544-ACD5-1F7475EA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FCE0F-973C-2D41-A199-7D2984F7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736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A80F3-24C0-CB47-9701-96650041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C93E1-0242-0D43-9778-62EBD48D1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8B7D1-6415-D741-8ED7-723B58CDB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2/28/2024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EDD59-7593-9648-BF09-F82F663A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E32E3-4EBB-0146-BCB3-694DD543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39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D1C21A-B8BD-4146-8AD7-8E9448250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2FC8A-61FE-DB4B-8F2A-FE5EDE2F0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F5535-45FC-9A44-81C9-97555F81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2/28/2024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AC401-C660-EF4F-B64A-0D14A2C6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2AEFD-3CC8-8F44-9371-5A08F340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36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5F298-9AE0-F440-B542-5F54802A7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FAE3-2B3B-D548-B56B-CE84E6538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3DF35-730C-C244-B98A-CB1C9F822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802BD-3636-C34F-81A0-C5C670484C61}" type="datetimeFigureOut">
              <a:rPr lang="en-US" smtClean="0"/>
              <a:t>2/28/2024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F7E14-3D8F-1644-8351-8BCD9C2C7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80F83-AAFE-764D-9B87-A488A02AD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210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sv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21" Type="http://schemas.openxmlformats.org/officeDocument/2006/relationships/image" Target="../media/image18.svg"/><Relationship Id="rId34" Type="http://schemas.openxmlformats.org/officeDocument/2006/relationships/image" Target="../media/image31.pn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5" Type="http://schemas.openxmlformats.org/officeDocument/2006/relationships/image" Target="../media/image22.svg"/><Relationship Id="rId33" Type="http://schemas.openxmlformats.org/officeDocument/2006/relationships/image" Target="../media/image30.svg"/><Relationship Id="rId38" Type="http://schemas.openxmlformats.org/officeDocument/2006/relationships/image" Target="../media/image3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2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24" Type="http://schemas.openxmlformats.org/officeDocument/2006/relationships/image" Target="../media/image21.png"/><Relationship Id="rId32" Type="http://schemas.openxmlformats.org/officeDocument/2006/relationships/image" Target="../media/image29.png"/><Relationship Id="rId37" Type="http://schemas.openxmlformats.org/officeDocument/2006/relationships/image" Target="../media/image34.png"/><Relationship Id="rId5" Type="http://schemas.openxmlformats.org/officeDocument/2006/relationships/hyperlink" Target="https://docs.aws.amazon.com/architecture-diagrams/latest/high-performance-computing/high-performance-computing.html" TargetMode="External"/><Relationship Id="rId15" Type="http://schemas.openxmlformats.org/officeDocument/2006/relationships/image" Target="../media/image12.svg"/><Relationship Id="rId23" Type="http://schemas.openxmlformats.org/officeDocument/2006/relationships/image" Target="../media/image20.svg"/><Relationship Id="rId28" Type="http://schemas.openxmlformats.org/officeDocument/2006/relationships/image" Target="../media/image25.png"/><Relationship Id="rId36" Type="http://schemas.openxmlformats.org/officeDocument/2006/relationships/image" Target="../media/image33.svg"/><Relationship Id="rId10" Type="http://schemas.openxmlformats.org/officeDocument/2006/relationships/image" Target="../media/image7.png"/><Relationship Id="rId19" Type="http://schemas.openxmlformats.org/officeDocument/2006/relationships/image" Target="../media/image16.svg"/><Relationship Id="rId31" Type="http://schemas.openxmlformats.org/officeDocument/2006/relationships/image" Target="../media/image28.svg"/><Relationship Id="rId4" Type="http://schemas.openxmlformats.org/officeDocument/2006/relationships/image" Target="../media/image2.svg"/><Relationship Id="rId9" Type="http://schemas.openxmlformats.org/officeDocument/2006/relationships/image" Target="../media/image6.sv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svg"/><Relationship Id="rId30" Type="http://schemas.openxmlformats.org/officeDocument/2006/relationships/image" Target="../media/image27.png"/><Relationship Id="rId35" Type="http://schemas.openxmlformats.org/officeDocument/2006/relationships/image" Target="../media/image32.png"/><Relationship Id="rId8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architecture/" TargetMode="External"/><Relationship Id="rId2" Type="http://schemas.openxmlformats.org/officeDocument/2006/relationships/hyperlink" Target="https://aws.amazon.com/architecture/icon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-feedback.aws.amazon.com/feedback.jsp?feedback_destination_id=a0d18259-7974-4e8f-8382-0a4be53f4374&amp;topic_url=http://docs.aws.amazon.com/en_us/architecture-diagrams/latest/high-performance-computing-on-aws/high-performance-computing-on-aws.html" TargetMode="External"/><Relationship Id="rId4" Type="http://schemas.openxmlformats.org/officeDocument/2006/relationships/hyperlink" Target="https://aws.amazon.com/architecture/well-architected/?wa-lens-whitepapers.sort-by=item.additionalFields.sortDate&amp;wa-lens-whitepapers.sort-order=des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raphic 102">
            <a:extLst>
              <a:ext uri="{FF2B5EF4-FFF2-40B4-BE49-F238E27FC236}">
                <a16:creationId xmlns:a16="http://schemas.microsoft.com/office/drawing/2014/main" id="{1DD42CEA-08C0-B743-AC84-1AA6A123B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92" y="6406198"/>
            <a:ext cx="585391" cy="348070"/>
          </a:xfrm>
          <a:prstGeom prst="rect">
            <a:avLst/>
          </a:prstGeom>
        </p:spPr>
      </p:pic>
      <p:sp>
        <p:nvSpPr>
          <p:cNvPr id="104" name="AWS copyright text">
            <a:extLst>
              <a:ext uri="{FF2B5EF4-FFF2-40B4-BE49-F238E27FC236}">
                <a16:creationId xmlns:a16="http://schemas.microsoft.com/office/drawing/2014/main" id="{E926D9DC-0FDF-1C44-85C5-53E31AA8B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619133"/>
            <a:ext cx="4036484" cy="14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x-none" sz="933" b="0" i="0" dirty="0">
                <a:solidFill>
                  <a:srgbClr val="7F7F7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© 2024, Amazon Web Services, Inc. or its affiliates. All rights reserved.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C66A8E-F283-4763-B096-ACFA9F5EC61A}"/>
              </a:ext>
            </a:extLst>
          </p:cNvPr>
          <p:cNvSpPr txBox="1"/>
          <p:nvPr/>
        </p:nvSpPr>
        <p:spPr>
          <a:xfrm>
            <a:off x="95668" y="134489"/>
            <a:ext cx="6271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LUMINAI Refinery Advisor on AWS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8F7425-C01F-4322-A5E8-4271654E0F7E}"/>
              </a:ext>
            </a:extLst>
          </p:cNvPr>
          <p:cNvSpPr txBox="1"/>
          <p:nvPr/>
        </p:nvSpPr>
        <p:spPr>
          <a:xfrm>
            <a:off x="101092" y="458980"/>
            <a:ext cx="4862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For the architecture description, refer to the </a:t>
            </a:r>
            <a:r>
              <a:rPr lang="en-US" sz="14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  <a:hlinkClick r:id="rId5"/>
              </a:rPr>
              <a:t>full diagram</a:t>
            </a:r>
            <a:r>
              <a:rPr lang="en-US" sz="14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695AB0A-62A7-4428-81C8-059753799A3B}"/>
              </a:ext>
            </a:extLst>
          </p:cNvPr>
          <p:cNvSpPr/>
          <p:nvPr/>
        </p:nvSpPr>
        <p:spPr>
          <a:xfrm>
            <a:off x="5530252" y="2163735"/>
            <a:ext cx="5343488" cy="3915195"/>
          </a:xfrm>
          <a:prstGeom prst="rect">
            <a:avLst/>
          </a:prstGeom>
          <a:noFill/>
          <a:ln w="12700">
            <a:solidFill>
              <a:srgbClr val="00A4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302C804-A797-4F74-8843-8B47A2C8EA09}"/>
              </a:ext>
            </a:extLst>
          </p:cNvPr>
          <p:cNvSpPr/>
          <p:nvPr/>
        </p:nvSpPr>
        <p:spPr bwMode="auto">
          <a:xfrm>
            <a:off x="3748784" y="1519321"/>
            <a:ext cx="7429756" cy="4815642"/>
          </a:xfrm>
          <a:prstGeom prst="rect">
            <a:avLst/>
          </a:prstGeom>
          <a:noFill/>
          <a:ln w="12700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n w="0"/>
                <a:solidFill>
                  <a:schemeClr val="tx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72AFE8C-E72D-4338-8306-5ADD0F3474FD}"/>
              </a:ext>
            </a:extLst>
          </p:cNvPr>
          <p:cNvSpPr/>
          <p:nvPr/>
        </p:nvSpPr>
        <p:spPr bwMode="auto">
          <a:xfrm>
            <a:off x="3630110" y="1091248"/>
            <a:ext cx="7723690" cy="53149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Cloud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ED45BCB-1A16-41D4-9073-69075FA14029}"/>
              </a:ext>
            </a:extLst>
          </p:cNvPr>
          <p:cNvSpPr/>
          <p:nvPr/>
        </p:nvSpPr>
        <p:spPr bwMode="auto">
          <a:xfrm rot="5400000">
            <a:off x="5264481" y="484051"/>
            <a:ext cx="4314827" cy="7211437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solidFill>
                <a:srgbClr val="5B9CD5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97C03F00-E1C2-44AD-B953-9A5F8CEEEE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630110" y="1087474"/>
            <a:ext cx="365760" cy="365760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CC56FA99-C13B-495E-865C-38FE852F9A44}"/>
              </a:ext>
            </a:extLst>
          </p:cNvPr>
          <p:cNvSpPr/>
          <p:nvPr/>
        </p:nvSpPr>
        <p:spPr>
          <a:xfrm rot="5400000">
            <a:off x="6481833" y="1723155"/>
            <a:ext cx="3333051" cy="5140686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t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solidFill>
                <a:srgbClr val="DF3312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C1DAF8A-72F5-4C26-8335-CDE36BE25018}"/>
              </a:ext>
            </a:extLst>
          </p:cNvPr>
          <p:cNvSpPr/>
          <p:nvPr/>
        </p:nvSpPr>
        <p:spPr>
          <a:xfrm>
            <a:off x="1534581" y="2811548"/>
            <a:ext cx="1386806" cy="2535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290E8D-C8D0-4B10-ACE6-25DF52FA4A6D}"/>
              </a:ext>
            </a:extLst>
          </p:cNvPr>
          <p:cNvSpPr txBox="1"/>
          <p:nvPr/>
        </p:nvSpPr>
        <p:spPr>
          <a:xfrm>
            <a:off x="1451284" y="2649849"/>
            <a:ext cx="1410344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Refinery sites</a:t>
            </a:r>
          </a:p>
        </p:txBody>
      </p:sp>
      <p:pic>
        <p:nvPicPr>
          <p:cNvPr id="62" name="Graphic 12">
            <a:extLst>
              <a:ext uri="{FF2B5EF4-FFF2-40B4-BE49-F238E27FC236}">
                <a16:creationId xmlns:a16="http://schemas.microsoft.com/office/drawing/2014/main" id="{67B8FFC7-FFCD-4893-A0E3-0ED744965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2366471" y="311026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" name="TextBox 19">
            <a:extLst>
              <a:ext uri="{FF2B5EF4-FFF2-40B4-BE49-F238E27FC236}">
                <a16:creationId xmlns:a16="http://schemas.microsoft.com/office/drawing/2014/main" id="{C6E6EBC3-1C08-479A-B919-058A85DE0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4030" y="3545685"/>
            <a:ext cx="63735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assets</a:t>
            </a:r>
          </a:p>
        </p:txBody>
      </p:sp>
      <p:sp>
        <p:nvSpPr>
          <p:cNvPr id="64" name="TextBox 19">
            <a:extLst>
              <a:ext uri="{FF2B5EF4-FFF2-40B4-BE49-F238E27FC236}">
                <a16:creationId xmlns:a16="http://schemas.microsoft.com/office/drawing/2014/main" id="{0B27CE9B-DB7D-4583-915F-1B2688067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8445" y="4321494"/>
            <a:ext cx="141034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data streams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CDB1675-5472-4F53-AFD0-8BF03C62DEE1}"/>
              </a:ext>
            </a:extLst>
          </p:cNvPr>
          <p:cNvSpPr/>
          <p:nvPr/>
        </p:nvSpPr>
        <p:spPr>
          <a:xfrm>
            <a:off x="3903996" y="2163735"/>
            <a:ext cx="1538204" cy="3915194"/>
          </a:xfrm>
          <a:prstGeom prst="rect">
            <a:avLst/>
          </a:prstGeom>
          <a:noFill/>
          <a:ln w="12700">
            <a:solidFill>
              <a:srgbClr val="7AA11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000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19">
            <a:extLst>
              <a:ext uri="{FF2B5EF4-FFF2-40B4-BE49-F238E27FC236}">
                <a16:creationId xmlns:a16="http://schemas.microsoft.com/office/drawing/2014/main" id="{F748F09D-C480-4DD9-8912-7E6E13491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9273" y="3546923"/>
            <a:ext cx="8282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ECS</a:t>
            </a:r>
            <a:b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8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UI</a:t>
            </a:r>
          </a:p>
        </p:txBody>
      </p:sp>
      <p:sp>
        <p:nvSpPr>
          <p:cNvPr id="67" name="TextBox 19">
            <a:extLst>
              <a:ext uri="{FF2B5EF4-FFF2-40B4-BE49-F238E27FC236}">
                <a16:creationId xmlns:a16="http://schemas.microsoft.com/office/drawing/2014/main" id="{97EDCF49-499E-41EC-A9E7-6B3128AAE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394" y="3536918"/>
            <a:ext cx="11102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ECS</a:t>
            </a:r>
            <a:b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8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API/middleware</a:t>
            </a:r>
          </a:p>
        </p:txBody>
      </p:sp>
      <p:sp>
        <p:nvSpPr>
          <p:cNvPr id="68" name="TextBox 19">
            <a:extLst>
              <a:ext uri="{FF2B5EF4-FFF2-40B4-BE49-F238E27FC236}">
                <a16:creationId xmlns:a16="http://schemas.microsoft.com/office/drawing/2014/main" id="{648D5348-9554-4391-8505-1E9879508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8620" y="3035955"/>
            <a:ext cx="865443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Web/UI/API </a:t>
            </a:r>
          </a:p>
        </p:txBody>
      </p:sp>
      <p:sp>
        <p:nvSpPr>
          <p:cNvPr id="69" name="TextBox 19">
            <a:extLst>
              <a:ext uri="{FF2B5EF4-FFF2-40B4-BE49-F238E27FC236}">
                <a16:creationId xmlns:a16="http://schemas.microsoft.com/office/drawing/2014/main" id="{F981A42F-9DB7-47C9-8A93-DEA7B4F62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8469" y="4447539"/>
            <a:ext cx="9351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MSK</a:t>
            </a:r>
            <a:b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8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sensor data streams</a:t>
            </a:r>
          </a:p>
        </p:txBody>
      </p:sp>
      <p:sp>
        <p:nvSpPr>
          <p:cNvPr id="70" name="TextBox 19">
            <a:extLst>
              <a:ext uri="{FF2B5EF4-FFF2-40B4-BE49-F238E27FC236}">
                <a16:creationId xmlns:a16="http://schemas.microsoft.com/office/drawing/2014/main" id="{F039E63B-49FB-447D-A6FF-D516953F0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0420" y="4462842"/>
            <a:ext cx="10452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EMR</a:t>
            </a:r>
            <a:b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8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sensor processing pipeline</a:t>
            </a:r>
          </a:p>
        </p:txBody>
      </p:sp>
      <p:sp>
        <p:nvSpPr>
          <p:cNvPr id="71" name="TextBox 19">
            <a:extLst>
              <a:ext uri="{FF2B5EF4-FFF2-40B4-BE49-F238E27FC236}">
                <a16:creationId xmlns:a16="http://schemas.microsoft.com/office/drawing/2014/main" id="{B843B8D2-A5A5-4929-AD8B-4C1693865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9941" y="4454319"/>
            <a:ext cx="9173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ECS</a:t>
            </a:r>
            <a:b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8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data ingress 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3C297CC-C257-4962-A5AE-7F3D547E9583}"/>
              </a:ext>
            </a:extLst>
          </p:cNvPr>
          <p:cNvSpPr/>
          <p:nvPr/>
        </p:nvSpPr>
        <p:spPr>
          <a:xfrm>
            <a:off x="5684347" y="3900885"/>
            <a:ext cx="2660513" cy="1027104"/>
          </a:xfrm>
          <a:prstGeom prst="rect">
            <a:avLst/>
          </a:prstGeom>
          <a:noFill/>
          <a:ln w="12700">
            <a:solidFill>
              <a:srgbClr val="7D89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Box 19">
            <a:extLst>
              <a:ext uri="{FF2B5EF4-FFF2-40B4-BE49-F238E27FC236}">
                <a16:creationId xmlns:a16="http://schemas.microsoft.com/office/drawing/2014/main" id="{0DC5AD71-6154-447B-9C03-619450436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789" y="3895985"/>
            <a:ext cx="212729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Sensor processing pipeline</a:t>
            </a:r>
          </a:p>
        </p:txBody>
      </p:sp>
      <p:sp>
        <p:nvSpPr>
          <p:cNvPr id="75" name="TextBox 19">
            <a:extLst>
              <a:ext uri="{FF2B5EF4-FFF2-40B4-BE49-F238E27FC236}">
                <a16:creationId xmlns:a16="http://schemas.microsoft.com/office/drawing/2014/main" id="{8A23D02A-D717-432F-B797-4B6A6DBD9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0368" y="3802415"/>
            <a:ext cx="91050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ECS</a:t>
            </a:r>
          </a:p>
          <a:p>
            <a:pPr algn="ctr" eaLnBrk="1" hangingPunct="1"/>
            <a:r>
              <a:rPr lang="en-US" altLang="en-US" sz="8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orchestrator</a:t>
            </a:r>
          </a:p>
        </p:txBody>
      </p:sp>
      <p:sp>
        <p:nvSpPr>
          <p:cNvPr id="76" name="TextBox 19">
            <a:extLst>
              <a:ext uri="{FF2B5EF4-FFF2-40B4-BE49-F238E27FC236}">
                <a16:creationId xmlns:a16="http://schemas.microsoft.com/office/drawing/2014/main" id="{B4E7B434-A4DA-4B8B-8C53-64B28B189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7188" y="3809479"/>
            <a:ext cx="84677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ECS</a:t>
            </a:r>
          </a:p>
          <a:p>
            <a:pPr algn="ctr" eaLnBrk="1" hangingPunct="1"/>
            <a:r>
              <a:rPr lang="en-US" altLang="en-US" sz="8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reasoner</a:t>
            </a:r>
          </a:p>
        </p:txBody>
      </p:sp>
      <p:sp>
        <p:nvSpPr>
          <p:cNvPr id="77" name="TextBox 19">
            <a:extLst>
              <a:ext uri="{FF2B5EF4-FFF2-40B4-BE49-F238E27FC236}">
                <a16:creationId xmlns:a16="http://schemas.microsoft.com/office/drawing/2014/main" id="{4C14AA80-F9AF-48AC-9BAF-B7B620C31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7889" y="4551944"/>
            <a:ext cx="10721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ECS</a:t>
            </a:r>
          </a:p>
          <a:p>
            <a:pPr algn="ctr" eaLnBrk="1" hangingPunct="1"/>
            <a:r>
              <a:rPr lang="en-US" altLang="en-US" sz="800" i="1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reporting APIs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D78A8A3-2B92-40FB-A35B-413E2571ACE6}"/>
              </a:ext>
            </a:extLst>
          </p:cNvPr>
          <p:cNvSpPr/>
          <p:nvPr/>
        </p:nvSpPr>
        <p:spPr>
          <a:xfrm>
            <a:off x="8407594" y="3027552"/>
            <a:ext cx="2130821" cy="1900438"/>
          </a:xfrm>
          <a:prstGeom prst="rect">
            <a:avLst/>
          </a:prstGeom>
          <a:noFill/>
          <a:ln w="12700">
            <a:solidFill>
              <a:srgbClr val="7D8998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Box 19">
            <a:extLst>
              <a:ext uri="{FF2B5EF4-FFF2-40B4-BE49-F238E27FC236}">
                <a16:creationId xmlns:a16="http://schemas.microsoft.com/office/drawing/2014/main" id="{3A1F954B-C6CA-44C9-BF4A-1B2DEA9D7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4357" y="3020567"/>
            <a:ext cx="165287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LUMINAI business services </a:t>
            </a:r>
          </a:p>
        </p:txBody>
      </p:sp>
      <p:sp>
        <p:nvSpPr>
          <p:cNvPr id="80" name="TextBox 19">
            <a:extLst>
              <a:ext uri="{FF2B5EF4-FFF2-40B4-BE49-F238E27FC236}">
                <a16:creationId xmlns:a16="http://schemas.microsoft.com/office/drawing/2014/main" id="{5D968410-54D2-4ECB-B158-288C1E997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4007" y="5576543"/>
            <a:ext cx="81444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S3</a:t>
            </a:r>
          </a:p>
        </p:txBody>
      </p:sp>
      <p:sp>
        <p:nvSpPr>
          <p:cNvPr id="81" name="TextBox 19">
            <a:extLst>
              <a:ext uri="{FF2B5EF4-FFF2-40B4-BE49-F238E27FC236}">
                <a16:creationId xmlns:a16="http://schemas.microsoft.com/office/drawing/2014/main" id="{0923769D-7716-46B5-B2B1-B7709635E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4280" y="5590223"/>
            <a:ext cx="144021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Aurora PostgreSQL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E22D07F-7F07-4A30-8577-CC53A3ADF4F9}"/>
              </a:ext>
            </a:extLst>
          </p:cNvPr>
          <p:cNvSpPr/>
          <p:nvPr/>
        </p:nvSpPr>
        <p:spPr>
          <a:xfrm>
            <a:off x="6675557" y="4987871"/>
            <a:ext cx="2368164" cy="922063"/>
          </a:xfrm>
          <a:prstGeom prst="rect">
            <a:avLst/>
          </a:prstGeom>
          <a:noFill/>
          <a:ln w="12700">
            <a:solidFill>
              <a:srgbClr val="7D89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Box 19">
            <a:extLst>
              <a:ext uri="{FF2B5EF4-FFF2-40B4-BE49-F238E27FC236}">
                <a16:creationId xmlns:a16="http://schemas.microsoft.com/office/drawing/2014/main" id="{7AC80AE0-B1FE-4ACA-9DDD-40FC1D41C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6033" y="4977746"/>
            <a:ext cx="2368164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Raw data backup/processed data</a:t>
            </a:r>
          </a:p>
        </p:txBody>
      </p:sp>
      <p:sp>
        <p:nvSpPr>
          <p:cNvPr id="91" name="TextBox 19">
            <a:extLst>
              <a:ext uri="{FF2B5EF4-FFF2-40B4-BE49-F238E27FC236}">
                <a16:creationId xmlns:a16="http://schemas.microsoft.com/office/drawing/2014/main" id="{6BACB6D7-AD47-4866-823C-73FF736F1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207" y="5424019"/>
            <a:ext cx="11742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authorized clients</a:t>
            </a:r>
          </a:p>
        </p:txBody>
      </p:sp>
      <p:sp>
        <p:nvSpPr>
          <p:cNvPr id="92" name="TextBox 19">
            <a:extLst>
              <a:ext uri="{FF2B5EF4-FFF2-40B4-BE49-F238E27FC236}">
                <a16:creationId xmlns:a16="http://schemas.microsoft.com/office/drawing/2014/main" id="{8D1400C4-8D62-4D0F-AB32-5C1C56138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1985" y="4596052"/>
            <a:ext cx="69832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ALB data</a:t>
            </a:r>
          </a:p>
        </p:txBody>
      </p:sp>
      <p:sp>
        <p:nvSpPr>
          <p:cNvPr id="94" name="TextBox 19">
            <a:extLst>
              <a:ext uri="{FF2B5EF4-FFF2-40B4-BE49-F238E27FC236}">
                <a16:creationId xmlns:a16="http://schemas.microsoft.com/office/drawing/2014/main" id="{3819B414-668C-4FF3-9726-9D0ACCEF4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2744" y="3660323"/>
            <a:ext cx="6480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ALB web</a:t>
            </a:r>
          </a:p>
        </p:txBody>
      </p:sp>
      <p:sp>
        <p:nvSpPr>
          <p:cNvPr id="95" name="TextBox 19">
            <a:extLst>
              <a:ext uri="{FF2B5EF4-FFF2-40B4-BE49-F238E27FC236}">
                <a16:creationId xmlns:a16="http://schemas.microsoft.com/office/drawing/2014/main" id="{EDFC187D-D627-4E0C-A408-C5442A216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442" y="5332973"/>
            <a:ext cx="92931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ALB reporting data</a:t>
            </a:r>
          </a:p>
        </p:txBody>
      </p:sp>
      <p:cxnSp>
        <p:nvCxnSpPr>
          <p:cNvPr id="96" name="Connector: Elbow 179">
            <a:extLst>
              <a:ext uri="{FF2B5EF4-FFF2-40B4-BE49-F238E27FC236}">
                <a16:creationId xmlns:a16="http://schemas.microsoft.com/office/drawing/2014/main" id="{7B7EE654-B1C9-4F25-B06E-0B1E66496EA9}"/>
              </a:ext>
            </a:extLst>
          </p:cNvPr>
          <p:cNvCxnSpPr>
            <a:cxnSpLocks/>
            <a:stCxn id="95" idx="2"/>
            <a:endCxn id="78" idx="2"/>
          </p:cNvCxnSpPr>
          <p:nvPr/>
        </p:nvCxnSpPr>
        <p:spPr>
          <a:xfrm rot="5400000" flipH="1" flipV="1">
            <a:off x="6705283" y="2903806"/>
            <a:ext cx="743537" cy="4791906"/>
          </a:xfrm>
          <a:prstGeom prst="bentConnector3">
            <a:avLst>
              <a:gd name="adj1" fmla="val -65589"/>
            </a:avLst>
          </a:prstGeom>
          <a:ln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19">
            <a:extLst>
              <a:ext uri="{FF2B5EF4-FFF2-40B4-BE49-F238E27FC236}">
                <a16:creationId xmlns:a16="http://schemas.microsoft.com/office/drawing/2014/main" id="{97A4BA81-C8B1-40D0-95A7-1CBAC82B5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9851" y="3548050"/>
            <a:ext cx="67374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processes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C42AE70-640C-4320-BC90-07CB5953BB97}"/>
              </a:ext>
            </a:extLst>
          </p:cNvPr>
          <p:cNvSpPr/>
          <p:nvPr/>
        </p:nvSpPr>
        <p:spPr>
          <a:xfrm rot="5400000">
            <a:off x="3020846" y="3620955"/>
            <a:ext cx="3323003" cy="1335034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="t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00" dirty="0">
              <a:solidFill>
                <a:srgbClr val="DF3312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101" name="Graphic 100" descr="VPC group icon.">
            <a:extLst>
              <a:ext uri="{FF2B5EF4-FFF2-40B4-BE49-F238E27FC236}">
                <a16:creationId xmlns:a16="http://schemas.microsoft.com/office/drawing/2014/main" id="{EEDB832F-9773-4D20-9E4F-02727F07C9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755921" y="1525027"/>
            <a:ext cx="365760" cy="365760"/>
          </a:xfrm>
          <a:prstGeom prst="rect">
            <a:avLst/>
          </a:prstGeom>
        </p:spPr>
      </p:pic>
      <p:pic>
        <p:nvPicPr>
          <p:cNvPr id="102" name="Graphic 101" descr="Public subnet group icon. ">
            <a:extLst>
              <a:ext uri="{FF2B5EF4-FFF2-40B4-BE49-F238E27FC236}">
                <a16:creationId xmlns:a16="http://schemas.microsoft.com/office/drawing/2014/main" id="{1AFA0BA4-F18B-4F2F-BFB6-239FAA54B64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3902848" y="2156956"/>
            <a:ext cx="381000" cy="381000"/>
          </a:xfrm>
          <a:prstGeom prst="rect">
            <a:avLst/>
          </a:prstGeom>
        </p:spPr>
      </p:pic>
      <p:pic>
        <p:nvPicPr>
          <p:cNvPr id="108" name="Graphic 107" descr="Private subnet group icon. ">
            <a:extLst>
              <a:ext uri="{FF2B5EF4-FFF2-40B4-BE49-F238E27FC236}">
                <a16:creationId xmlns:a16="http://schemas.microsoft.com/office/drawing/2014/main" id="{F4292C7C-8D44-4F9D-91D3-EB0A0BA1CC3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5529304" y="2167305"/>
            <a:ext cx="381000" cy="381000"/>
          </a:xfrm>
          <a:prstGeom prst="rect">
            <a:avLst/>
          </a:prstGeom>
        </p:spPr>
      </p:pic>
      <p:sp>
        <p:nvSpPr>
          <p:cNvPr id="109" name="Rectangle 108" descr="Generic group.">
            <a:extLst>
              <a:ext uri="{FF2B5EF4-FFF2-40B4-BE49-F238E27FC236}">
                <a16:creationId xmlns:a16="http://schemas.microsoft.com/office/drawing/2014/main" id="{3995FA24-E825-4257-ACCF-EFC3ABA28011}"/>
              </a:ext>
            </a:extLst>
          </p:cNvPr>
          <p:cNvSpPr/>
          <p:nvPr/>
        </p:nvSpPr>
        <p:spPr>
          <a:xfrm>
            <a:off x="5687236" y="3027552"/>
            <a:ext cx="2657624" cy="831954"/>
          </a:xfrm>
          <a:prstGeom prst="rect">
            <a:avLst/>
          </a:prstGeom>
          <a:noFill/>
          <a:ln w="12700">
            <a:solidFill>
              <a:srgbClr val="7D8998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153" name="Graphic 18" descr="Amazon Elastic Container Service (Amazon ECS) service icon.">
            <a:extLst>
              <a:ext uri="{FF2B5EF4-FFF2-40B4-BE49-F238E27FC236}">
                <a16:creationId xmlns:a16="http://schemas.microsoft.com/office/drawing/2014/main" id="{10FF71EB-6481-4430-833C-6890AA945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6210813" y="3219678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" name="Graphic 18" descr="Amazon Elastic Container Service (Amazon ECS) service icon.">
            <a:extLst>
              <a:ext uri="{FF2B5EF4-FFF2-40B4-BE49-F238E27FC236}">
                <a16:creationId xmlns:a16="http://schemas.microsoft.com/office/drawing/2014/main" id="{3AC20602-BE65-4E0D-BAF9-23A672A50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7173436" y="3219678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5" name="Graphic 18" descr="Amazon Elastic Container Service (Amazon ECS) service icon.">
            <a:extLst>
              <a:ext uri="{FF2B5EF4-FFF2-40B4-BE49-F238E27FC236}">
                <a16:creationId xmlns:a16="http://schemas.microsoft.com/office/drawing/2014/main" id="{DA98F682-4884-436F-AC52-84C21E188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6006748" y="4119183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6" name="Graphic 155" descr="Amazon Managed Streaming for Apache Kafka (Amazon MSK) service icon.">
            <a:extLst>
              <a:ext uri="{FF2B5EF4-FFF2-40B4-BE49-F238E27FC236}">
                <a16:creationId xmlns:a16="http://schemas.microsoft.com/office/drawing/2014/main" id="{75C3BB5D-78A2-4C9B-B3DC-139429251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6712550" y="4111031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7" name="Graphic 22" descr="Amazon EMR service icon.">
            <a:extLst>
              <a:ext uri="{FF2B5EF4-FFF2-40B4-BE49-F238E27FC236}">
                <a16:creationId xmlns:a16="http://schemas.microsoft.com/office/drawing/2014/main" id="{6CEFBCDE-4EFB-4CB2-90C1-87D91A550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7571054" y="4150340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9" name="Graphic 8" descr="Amazon Simple Storage Service (Amazon S3) service icon.">
            <a:extLst>
              <a:ext uri="{FF2B5EF4-FFF2-40B4-BE49-F238E27FC236}">
                <a16:creationId xmlns:a16="http://schemas.microsoft.com/office/drawing/2014/main" id="{A40E0475-C8D4-4697-B229-565DBF9F1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>
            <a:off x="8211235" y="5234378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" name="Graphic 159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AD09F78E-A9C4-4130-A126-099224081E5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485420" y="3294563"/>
            <a:ext cx="365760" cy="365760"/>
          </a:xfrm>
          <a:prstGeom prst="rect">
            <a:avLst/>
          </a:prstGeom>
        </p:spPr>
      </p:pic>
      <p:pic>
        <p:nvPicPr>
          <p:cNvPr id="161" name="Graphic 160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9C06EF90-9EEE-4F42-A2AD-24F88D6A639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477923" y="4231546"/>
            <a:ext cx="365760" cy="365760"/>
          </a:xfrm>
          <a:prstGeom prst="rect">
            <a:avLst/>
          </a:prstGeom>
        </p:spPr>
      </p:pic>
      <p:pic>
        <p:nvPicPr>
          <p:cNvPr id="162" name="Graphic 161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664D45B2-7C61-44F5-8E8D-38D38B47D23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486609" y="5018453"/>
            <a:ext cx="365760" cy="365760"/>
          </a:xfrm>
          <a:prstGeom prst="rect">
            <a:avLst/>
          </a:prstGeom>
        </p:spPr>
      </p:pic>
      <p:pic>
        <p:nvPicPr>
          <p:cNvPr id="163" name="Graphic 6" descr="General resource icon.">
            <a:extLst>
              <a:ext uri="{FF2B5EF4-FFF2-40B4-BE49-F238E27FC236}">
                <a16:creationId xmlns:a16="http://schemas.microsoft.com/office/drawing/2014/main" id="{D728442D-6A34-4C4B-BE30-AE42A1CCA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 flipH="1">
            <a:off x="2355763" y="169740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" name="Graphic 6" descr="General resource icon.">
            <a:extLst>
              <a:ext uri="{FF2B5EF4-FFF2-40B4-BE49-F238E27FC236}">
                <a16:creationId xmlns:a16="http://schemas.microsoft.com/office/drawing/2014/main" id="{F530EED8-7D38-4912-8B6F-CBE5599AC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 flipH="1">
            <a:off x="2375396" y="4969602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5" name="TextBox 19">
            <a:extLst>
              <a:ext uri="{FF2B5EF4-FFF2-40B4-BE49-F238E27FC236}">
                <a16:creationId xmlns:a16="http://schemas.microsoft.com/office/drawing/2014/main" id="{1D2DCB4A-8FFC-4A39-B176-0FA8EC468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596" y="2149527"/>
            <a:ext cx="92078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users</a:t>
            </a:r>
          </a:p>
        </p:txBody>
      </p:sp>
      <p:pic>
        <p:nvPicPr>
          <p:cNvPr id="166" name="Graphic 16" descr="Data stream resource icon for the General Icons category.">
            <a:extLst>
              <a:ext uri="{FF2B5EF4-FFF2-40B4-BE49-F238E27FC236}">
                <a16:creationId xmlns:a16="http://schemas.microsoft.com/office/drawing/2014/main" id="{F08D685D-95F6-4B0B-8B72-A772CD9EA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2404276" y="388204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7" name="Graphic 166" descr="Database resource icon for the General Icons category.">
            <a:extLst>
              <a:ext uri="{FF2B5EF4-FFF2-40B4-BE49-F238E27FC236}">
                <a16:creationId xmlns:a16="http://schemas.microsoft.com/office/drawing/2014/main" id="{E3DE6408-360C-4B80-A086-6C68F47CB499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653585" y="3900884"/>
            <a:ext cx="457200" cy="457200"/>
          </a:xfrm>
          <a:prstGeom prst="rect">
            <a:avLst/>
          </a:prstGeom>
        </p:spPr>
      </p:pic>
      <p:sp>
        <p:nvSpPr>
          <p:cNvPr id="168" name="Rectangle 167" descr="Generic group.">
            <a:extLst>
              <a:ext uri="{FF2B5EF4-FFF2-40B4-BE49-F238E27FC236}">
                <a16:creationId xmlns:a16="http://schemas.microsoft.com/office/drawing/2014/main" id="{CA976A0D-1F45-4EA4-9CF3-C18B62189473}"/>
              </a:ext>
            </a:extLst>
          </p:cNvPr>
          <p:cNvSpPr/>
          <p:nvPr/>
        </p:nvSpPr>
        <p:spPr>
          <a:xfrm>
            <a:off x="1415497" y="2626968"/>
            <a:ext cx="1567173" cy="2053856"/>
          </a:xfrm>
          <a:prstGeom prst="rect">
            <a:avLst/>
          </a:prstGeom>
          <a:noFill/>
          <a:ln w="12700">
            <a:solidFill>
              <a:srgbClr val="7D8998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170" name="Graphic 41" descr="IoT hardware board resource icon for the Internet of Things category.">
            <a:extLst>
              <a:ext uri="{FF2B5EF4-FFF2-40B4-BE49-F238E27FC236}">
                <a16:creationId xmlns:a16="http://schemas.microsoft.com/office/drawing/2014/main" id="{30BAFAD8-41C5-481A-B364-598F4A4CB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 bwMode="auto">
          <a:xfrm>
            <a:off x="1644211" y="312506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1" name="TextBox 19">
            <a:extLst>
              <a:ext uri="{FF2B5EF4-FFF2-40B4-BE49-F238E27FC236}">
                <a16:creationId xmlns:a16="http://schemas.microsoft.com/office/drawing/2014/main" id="{C55E0D8D-DB15-4456-BACC-739D4C99B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357" y="1925019"/>
            <a:ext cx="160906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defRPr/>
            </a:pPr>
            <a:r>
              <a:rPr lang="en-US" sz="1000" dirty="0">
                <a:solidFill>
                  <a:srgbClr val="5B9CD5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Availability Zones A,B,C</a:t>
            </a:r>
          </a:p>
        </p:txBody>
      </p:sp>
      <p:sp>
        <p:nvSpPr>
          <p:cNvPr id="172" name="TextBox 19">
            <a:extLst>
              <a:ext uri="{FF2B5EF4-FFF2-40B4-BE49-F238E27FC236}">
                <a16:creationId xmlns:a16="http://schemas.microsoft.com/office/drawing/2014/main" id="{4084BA65-BFE7-42FF-8308-97F843960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3115" y="2195717"/>
            <a:ext cx="99282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1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sp>
        <p:nvSpPr>
          <p:cNvPr id="173" name="TextBox 19">
            <a:extLst>
              <a:ext uri="{FF2B5EF4-FFF2-40B4-BE49-F238E27FC236}">
                <a16:creationId xmlns:a16="http://schemas.microsoft.com/office/drawing/2014/main" id="{987195E9-A206-4464-94BF-A7500A27C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943" y="2182186"/>
            <a:ext cx="122681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1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74" name="TextBox 19">
            <a:extLst>
              <a:ext uri="{FF2B5EF4-FFF2-40B4-BE49-F238E27FC236}">
                <a16:creationId xmlns:a16="http://schemas.microsoft.com/office/drawing/2014/main" id="{804D0530-D90B-4CED-BDAC-5E5AD6450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2813" y="2660374"/>
            <a:ext cx="123737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1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pic>
        <p:nvPicPr>
          <p:cNvPr id="175" name="Picture 174">
            <a:extLst>
              <a:ext uri="{FF2B5EF4-FFF2-40B4-BE49-F238E27FC236}">
                <a16:creationId xmlns:a16="http://schemas.microsoft.com/office/drawing/2014/main" id="{E72B7FCB-2ACA-4433-A537-034E74EE06A3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14830" y="2624252"/>
            <a:ext cx="365760" cy="361458"/>
          </a:xfrm>
          <a:prstGeom prst="rect">
            <a:avLst/>
          </a:prstGeom>
        </p:spPr>
      </p:pic>
      <p:sp>
        <p:nvSpPr>
          <p:cNvPr id="176" name="TextBox 19">
            <a:extLst>
              <a:ext uri="{FF2B5EF4-FFF2-40B4-BE49-F238E27FC236}">
                <a16:creationId xmlns:a16="http://schemas.microsoft.com/office/drawing/2014/main" id="{35AD5EA7-CEED-454F-AA77-F099E0324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8170" y="2659787"/>
            <a:ext cx="123737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defRPr/>
            </a:pPr>
            <a:r>
              <a:rPr lang="en-US" sz="1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Security group</a:t>
            </a:r>
          </a:p>
        </p:txBody>
      </p:sp>
      <p:pic>
        <p:nvPicPr>
          <p:cNvPr id="177" name="Picture 176">
            <a:extLst>
              <a:ext uri="{FF2B5EF4-FFF2-40B4-BE49-F238E27FC236}">
                <a16:creationId xmlns:a16="http://schemas.microsoft.com/office/drawing/2014/main" id="{0305CCBE-652C-4CE6-A2AA-253B78CB9AC9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584370" y="2628246"/>
            <a:ext cx="365760" cy="361458"/>
          </a:xfrm>
          <a:prstGeom prst="rect">
            <a:avLst/>
          </a:prstGeom>
        </p:spPr>
      </p:pic>
      <p:sp>
        <p:nvSpPr>
          <p:cNvPr id="178" name="TextBox 19">
            <a:extLst>
              <a:ext uri="{FF2B5EF4-FFF2-40B4-BE49-F238E27FC236}">
                <a16:creationId xmlns:a16="http://schemas.microsoft.com/office/drawing/2014/main" id="{8E54F3D9-4085-480D-8939-18D11FFAF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386" y="4321801"/>
            <a:ext cx="141034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data historians</a:t>
            </a:r>
          </a:p>
        </p:txBody>
      </p:sp>
      <p:pic>
        <p:nvPicPr>
          <p:cNvPr id="186" name="Graphic 18" descr="Amazon Elastic Container Service (Amazon ECS) service icon.">
            <a:extLst>
              <a:ext uri="{FF2B5EF4-FFF2-40B4-BE49-F238E27FC236}">
                <a16:creationId xmlns:a16="http://schemas.microsoft.com/office/drawing/2014/main" id="{885BE621-3A2D-4989-9A6E-0AE0D9DDF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8960239" y="3464450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7" name="Graphic 18" descr="Amazon Elastic Container Service (Amazon ECS) service icon.">
            <a:extLst>
              <a:ext uri="{FF2B5EF4-FFF2-40B4-BE49-F238E27FC236}">
                <a16:creationId xmlns:a16="http://schemas.microsoft.com/office/drawing/2014/main" id="{DBF43B83-CE05-4777-92D5-F0B1EE646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9863445" y="3462163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8" name="Graphic 18" descr="Amazon Elastic Container Service (Amazon ECS) service icon.">
            <a:extLst>
              <a:ext uri="{FF2B5EF4-FFF2-40B4-BE49-F238E27FC236}">
                <a16:creationId xmlns:a16="http://schemas.microsoft.com/office/drawing/2014/main" id="{71A00729-1C09-4606-A251-BC8C19F24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9365726" y="4219596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9" name="Rectangle 188">
            <a:extLst>
              <a:ext uri="{FF2B5EF4-FFF2-40B4-BE49-F238E27FC236}">
                <a16:creationId xmlns:a16="http://schemas.microsoft.com/office/drawing/2014/main" id="{2AAAB77D-211D-4FAC-8B94-B462E6987EC2}"/>
              </a:ext>
            </a:extLst>
          </p:cNvPr>
          <p:cNvSpPr/>
          <p:nvPr/>
        </p:nvSpPr>
        <p:spPr>
          <a:xfrm>
            <a:off x="7623673" y="5129191"/>
            <a:ext cx="148875" cy="1987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715F1AD9-6B7D-46CB-BF77-DF1A03469CE8}"/>
              </a:ext>
            </a:extLst>
          </p:cNvPr>
          <p:cNvSpPr/>
          <p:nvPr/>
        </p:nvSpPr>
        <p:spPr>
          <a:xfrm>
            <a:off x="7738696" y="4625212"/>
            <a:ext cx="148875" cy="1987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245317E-9BDB-4ACE-8762-8BBDBF12C6F3}"/>
              </a:ext>
            </a:extLst>
          </p:cNvPr>
          <p:cNvSpPr/>
          <p:nvPr/>
        </p:nvSpPr>
        <p:spPr>
          <a:xfrm>
            <a:off x="9287833" y="4603056"/>
            <a:ext cx="368807" cy="4261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B94741D-9767-4086-93CE-035E9BDDA0FB}"/>
              </a:ext>
            </a:extLst>
          </p:cNvPr>
          <p:cNvSpPr/>
          <p:nvPr/>
        </p:nvSpPr>
        <p:spPr>
          <a:xfrm>
            <a:off x="8029685" y="3608348"/>
            <a:ext cx="778769" cy="817377"/>
          </a:xfrm>
          <a:prstGeom prst="rect">
            <a:avLst/>
          </a:prstGeom>
          <a:solidFill>
            <a:schemeClr val="bg1"/>
          </a:solidFill>
          <a:ln w="12700">
            <a:solidFill>
              <a:srgbClr val="7D899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/>
            <a:endParaRPr lang="en-US" sz="1200" dirty="0">
              <a:solidFill>
                <a:schemeClr val="tx1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6332E2C-87E1-4174-AFEB-5D440F9ABF8B}"/>
              </a:ext>
            </a:extLst>
          </p:cNvPr>
          <p:cNvGrpSpPr/>
          <p:nvPr/>
        </p:nvGrpSpPr>
        <p:grpSpPr>
          <a:xfrm>
            <a:off x="7951623" y="3715134"/>
            <a:ext cx="961741" cy="552148"/>
            <a:chOff x="7792356" y="3736487"/>
            <a:chExt cx="961741" cy="552148"/>
          </a:xfrm>
        </p:grpSpPr>
        <p:sp>
          <p:nvSpPr>
            <p:cNvPr id="74" name="TextBox 19">
              <a:extLst>
                <a:ext uri="{FF2B5EF4-FFF2-40B4-BE49-F238E27FC236}">
                  <a16:creationId xmlns:a16="http://schemas.microsoft.com/office/drawing/2014/main" id="{B0044906-F0DA-413F-A1FB-E0515CF471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2356" y="4073191"/>
              <a:ext cx="96174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MQ</a:t>
              </a:r>
            </a:p>
          </p:txBody>
        </p:sp>
        <p:pic>
          <p:nvPicPr>
            <p:cNvPr id="158" name="Graphic 28" descr="Amazon MQ service icon.">
              <a:extLst>
                <a:ext uri="{FF2B5EF4-FFF2-40B4-BE49-F238E27FC236}">
                  <a16:creationId xmlns:a16="http://schemas.microsoft.com/office/drawing/2014/main" id="{23D649C4-F510-41A4-AC69-1BE4F0B282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rcRect/>
            <a:stretch/>
          </p:blipFill>
          <p:spPr bwMode="auto">
            <a:xfrm>
              <a:off x="8069044" y="3736487"/>
              <a:ext cx="365760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93" name="Connector: Elbow 179">
            <a:extLst>
              <a:ext uri="{FF2B5EF4-FFF2-40B4-BE49-F238E27FC236}">
                <a16:creationId xmlns:a16="http://schemas.microsoft.com/office/drawing/2014/main" id="{BA2B364E-7AAF-43EB-A803-BA1FEB85F0A7}"/>
              </a:ext>
            </a:extLst>
          </p:cNvPr>
          <p:cNvCxnSpPr>
            <a:cxnSpLocks/>
          </p:cNvCxnSpPr>
          <p:nvPr/>
        </p:nvCxnSpPr>
        <p:spPr>
          <a:xfrm rot="5400000">
            <a:off x="8909945" y="5075880"/>
            <a:ext cx="548640" cy="274320"/>
          </a:xfrm>
          <a:prstGeom prst="bentConnector2">
            <a:avLst/>
          </a:prstGeom>
          <a:ln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72D65043-1ADB-439C-9660-92F2B565C92F}"/>
              </a:ext>
            </a:extLst>
          </p:cNvPr>
          <p:cNvSpPr/>
          <p:nvPr/>
        </p:nvSpPr>
        <p:spPr>
          <a:xfrm>
            <a:off x="6123114" y="4597306"/>
            <a:ext cx="368807" cy="4261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196" name="Connector: Elbow 179">
            <a:extLst>
              <a:ext uri="{FF2B5EF4-FFF2-40B4-BE49-F238E27FC236}">
                <a16:creationId xmlns:a16="http://schemas.microsoft.com/office/drawing/2014/main" id="{293E8B34-4750-4316-BF5B-D2D2CBB52E06}"/>
              </a:ext>
            </a:extLst>
          </p:cNvPr>
          <p:cNvCxnSpPr>
            <a:cxnSpLocks/>
            <a:endCxn id="82" idx="1"/>
          </p:cNvCxnSpPr>
          <p:nvPr/>
        </p:nvCxnSpPr>
        <p:spPr>
          <a:xfrm rot="16200000" flipH="1">
            <a:off x="6197296" y="4970642"/>
            <a:ext cx="514134" cy="442388"/>
          </a:xfrm>
          <a:prstGeom prst="bentConnector2">
            <a:avLst/>
          </a:prstGeom>
          <a:ln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" name="Graphic 204" descr="PostgreSQL instance instance icon for the Database category.">
            <a:extLst>
              <a:ext uri="{FF2B5EF4-FFF2-40B4-BE49-F238E27FC236}">
                <a16:creationId xmlns:a16="http://schemas.microsoft.com/office/drawing/2014/main" id="{5DB5695C-6EA7-44E1-82BE-2E9CC455B32E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7109864" y="5198549"/>
            <a:ext cx="454649" cy="454649"/>
          </a:xfrm>
          <a:prstGeom prst="rect">
            <a:avLst/>
          </a:prstGeom>
        </p:spPr>
      </p:pic>
      <p:sp>
        <p:nvSpPr>
          <p:cNvPr id="100" name="Oval 99">
            <a:extLst>
              <a:ext uri="{FF2B5EF4-FFF2-40B4-BE49-F238E27FC236}">
                <a16:creationId xmlns:a16="http://schemas.microsoft.com/office/drawing/2014/main" id="{CD96C4A8-31D8-4FC3-8EF2-276606D2356B}"/>
              </a:ext>
            </a:extLst>
          </p:cNvPr>
          <p:cNvSpPr>
            <a:spLocks noChangeAspect="1"/>
          </p:cNvSpPr>
          <p:nvPr/>
        </p:nvSpPr>
        <p:spPr bwMode="auto">
          <a:xfrm>
            <a:off x="1473298" y="2705066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07A5E37A-9DC2-42C5-A479-F1AC143D179D}"/>
              </a:ext>
            </a:extLst>
          </p:cNvPr>
          <p:cNvSpPr>
            <a:spLocks noChangeAspect="1"/>
          </p:cNvSpPr>
          <p:nvPr/>
        </p:nvSpPr>
        <p:spPr bwMode="auto">
          <a:xfrm>
            <a:off x="4119818" y="3696585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41230CCB-DF10-4142-8820-3A6EA7C263D1}"/>
              </a:ext>
            </a:extLst>
          </p:cNvPr>
          <p:cNvSpPr>
            <a:spLocks noChangeAspect="1"/>
          </p:cNvSpPr>
          <p:nvPr/>
        </p:nvSpPr>
        <p:spPr bwMode="auto">
          <a:xfrm>
            <a:off x="5712814" y="4031598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65AC1C8-8A35-444E-81CC-FE40D54B9DB3}"/>
              </a:ext>
            </a:extLst>
          </p:cNvPr>
          <p:cNvSpPr>
            <a:spLocks noChangeAspect="1"/>
          </p:cNvSpPr>
          <p:nvPr/>
        </p:nvSpPr>
        <p:spPr bwMode="auto">
          <a:xfrm>
            <a:off x="8474898" y="3117060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4AAFFD1B-F285-47BD-9125-2D722A636391}"/>
              </a:ext>
            </a:extLst>
          </p:cNvPr>
          <p:cNvSpPr>
            <a:spLocks noChangeAspect="1"/>
          </p:cNvSpPr>
          <p:nvPr/>
        </p:nvSpPr>
        <p:spPr bwMode="auto">
          <a:xfrm>
            <a:off x="6720739" y="504638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FF59E413-DF69-468E-BF5D-4B1FDF512F5B}"/>
              </a:ext>
            </a:extLst>
          </p:cNvPr>
          <p:cNvSpPr>
            <a:spLocks noChangeAspect="1"/>
          </p:cNvSpPr>
          <p:nvPr/>
        </p:nvSpPr>
        <p:spPr bwMode="auto">
          <a:xfrm>
            <a:off x="2919297" y="1593120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0CDD4FBA-8379-4FC4-B4CB-E3D4BD631192}"/>
              </a:ext>
            </a:extLst>
          </p:cNvPr>
          <p:cNvSpPr>
            <a:spLocks noChangeAspect="1"/>
          </p:cNvSpPr>
          <p:nvPr/>
        </p:nvSpPr>
        <p:spPr bwMode="auto">
          <a:xfrm>
            <a:off x="3168157" y="444091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 anchorCtr="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C93DD169-F36F-48D3-87D3-4519512A9D1E}"/>
              </a:ext>
            </a:extLst>
          </p:cNvPr>
          <p:cNvCxnSpPr>
            <a:cxnSpLocks/>
            <a:stCxn id="163" idx="1"/>
            <a:endCxn id="160" idx="1"/>
          </p:cNvCxnSpPr>
          <p:nvPr/>
        </p:nvCxnSpPr>
        <p:spPr>
          <a:xfrm>
            <a:off x="2825663" y="1932355"/>
            <a:ext cx="1659757" cy="1545088"/>
          </a:xfrm>
          <a:prstGeom prst="bentConnector3">
            <a:avLst>
              <a:gd name="adj1" fmla="val 34391"/>
            </a:avLst>
          </a:prstGeom>
          <a:ln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B34D5EE5-C419-43C7-A997-D58BE4DE2212}"/>
              </a:ext>
            </a:extLst>
          </p:cNvPr>
          <p:cNvCxnSpPr>
            <a:cxnSpLocks/>
            <a:stCxn id="168" idx="3"/>
            <a:endCxn id="161" idx="1"/>
          </p:cNvCxnSpPr>
          <p:nvPr/>
        </p:nvCxnSpPr>
        <p:spPr>
          <a:xfrm>
            <a:off x="2982670" y="3653896"/>
            <a:ext cx="1495253" cy="76053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: Elbow 179">
            <a:extLst>
              <a:ext uri="{FF2B5EF4-FFF2-40B4-BE49-F238E27FC236}">
                <a16:creationId xmlns:a16="http://schemas.microsoft.com/office/drawing/2014/main" id="{304DD259-B347-4D96-BD70-574D08F522D3}"/>
              </a:ext>
            </a:extLst>
          </p:cNvPr>
          <p:cNvCxnSpPr>
            <a:cxnSpLocks/>
            <a:stCxn id="164" idx="1"/>
            <a:endCxn id="162" idx="1"/>
          </p:cNvCxnSpPr>
          <p:nvPr/>
        </p:nvCxnSpPr>
        <p:spPr>
          <a:xfrm flipV="1">
            <a:off x="2845296" y="5201332"/>
            <a:ext cx="1641313" cy="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551E99A7-EE07-4EE9-A6FA-F45D05654623}"/>
              </a:ext>
            </a:extLst>
          </p:cNvPr>
          <p:cNvCxnSpPr>
            <a:cxnSpLocks/>
          </p:cNvCxnSpPr>
          <p:nvPr/>
        </p:nvCxnSpPr>
        <p:spPr>
          <a:xfrm flipV="1">
            <a:off x="4851180" y="3476692"/>
            <a:ext cx="836056" cy="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: Elbow 179">
            <a:extLst>
              <a:ext uri="{FF2B5EF4-FFF2-40B4-BE49-F238E27FC236}">
                <a16:creationId xmlns:a16="http://schemas.microsoft.com/office/drawing/2014/main" id="{5E158822-C4F4-4B9C-950E-B407158A50DD}"/>
              </a:ext>
            </a:extLst>
          </p:cNvPr>
          <p:cNvCxnSpPr>
            <a:cxnSpLocks/>
            <a:stCxn id="161" idx="3"/>
            <a:endCxn id="72" idx="1"/>
          </p:cNvCxnSpPr>
          <p:nvPr/>
        </p:nvCxnSpPr>
        <p:spPr>
          <a:xfrm>
            <a:off x="4843683" y="4414426"/>
            <a:ext cx="840664" cy="1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245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C6148-E3E5-664B-8A24-89C2726A7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68" y="401065"/>
            <a:ext cx="10515600" cy="982412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CB9B0-CBBE-A041-9695-C3789648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all service icons, refer to </a:t>
            </a:r>
            <a:r>
              <a:rPr lang="en-US" dirty="0">
                <a:hlinkClick r:id="rId2"/>
              </a:rPr>
              <a:t>AWS Architecture Icons</a:t>
            </a:r>
            <a:r>
              <a:rPr lang="en-US" dirty="0"/>
              <a:t>.</a:t>
            </a:r>
          </a:p>
          <a:p>
            <a:r>
              <a:rPr lang="en-US" dirty="0"/>
              <a:t>For more architecture diagrams, refer to </a:t>
            </a:r>
            <a:r>
              <a:rPr lang="en-US" dirty="0">
                <a:hlinkClick r:id="rId3"/>
              </a:rPr>
              <a:t>AWS Architecture Center</a:t>
            </a:r>
            <a:r>
              <a:rPr lang="en-US" dirty="0"/>
              <a:t>.</a:t>
            </a:r>
          </a:p>
          <a:p>
            <a:r>
              <a:rPr lang="en-US" dirty="0"/>
              <a:t>For more AWS best practices, refer to </a:t>
            </a:r>
            <a:r>
              <a:rPr lang="en-US" dirty="0">
                <a:hlinkClick r:id="rId4"/>
              </a:rPr>
              <a:t>AWS Well-Architected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you have suggestions about making this experience better, </a:t>
            </a:r>
            <a:r>
              <a:rPr lang="en-US" dirty="0">
                <a:hlinkClick r:id="rId5"/>
              </a:rPr>
              <a:t>provide feedback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C8BDD-2AC7-FD49-B718-D5C3842239D0}"/>
              </a:ext>
            </a:extLst>
          </p:cNvPr>
          <p:cNvSpPr txBox="1"/>
          <p:nvPr/>
        </p:nvSpPr>
        <p:spPr>
          <a:xfrm>
            <a:off x="673768" y="1174282"/>
            <a:ext cx="973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get started with customizing your architecture diagram, refer to the following resources.</a:t>
            </a:r>
          </a:p>
        </p:txBody>
      </p:sp>
    </p:spTree>
    <p:extLst>
      <p:ext uri="{BB962C8B-B14F-4D97-AF65-F5344CB8AC3E}">
        <p14:creationId xmlns:p14="http://schemas.microsoft.com/office/powerpoint/2010/main" val="3056669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59428</TotalTime>
  <Words>343</Words>
  <Application>Microsoft Office PowerPoint</Application>
  <PresentationFormat>Widescreen</PresentationFormat>
  <Paragraphs>59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Amazon Ember</vt:lpstr>
      <vt:lpstr>Arial</vt:lpstr>
      <vt:lpstr>Calibri</vt:lpstr>
      <vt:lpstr>Calibri Light</vt:lpstr>
      <vt:lpstr>Office Theme</vt:lpstr>
      <vt:lpstr>PowerPoint Presentation</vt:lpstr>
      <vt:lpstr>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Performance Computing on AWS</dc:title>
  <dc:subject/>
  <dc:creator>Amazon Web Services</dc:creator>
  <cp:keywords/>
  <dc:description/>
  <cp:lastModifiedBy>Courtright, Andrea</cp:lastModifiedBy>
  <cp:revision>116</cp:revision>
  <dcterms:created xsi:type="dcterms:W3CDTF">2020-07-21T19:38:25Z</dcterms:created>
  <dcterms:modified xsi:type="dcterms:W3CDTF">2024-02-28T19:09:59Z</dcterms:modified>
  <cp:category/>
</cp:coreProperties>
</file>