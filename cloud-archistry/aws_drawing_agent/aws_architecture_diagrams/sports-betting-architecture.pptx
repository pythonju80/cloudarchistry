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79" r:id="rId2"/>
    <p:sldId id="280" r:id="rId3"/>
    <p:sldId id="281" r:id="rId4"/>
    <p:sldId id="27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bby Chang" initials="DC" lastIdx="8" clrIdx="0">
    <p:extLst>
      <p:ext uri="{19B8F6BF-5375-455C-9EA6-DF929625EA0E}">
        <p15:presenceInfo xmlns:p15="http://schemas.microsoft.com/office/powerpoint/2012/main" userId="Debby Chang" providerId="None"/>
      </p:ext>
    </p:extLst>
  </p:cmAuthor>
  <p:cmAuthor id="2" name="Courtright, Andrea" initials="CA" lastIdx="7" clrIdx="1">
    <p:extLst>
      <p:ext uri="{19B8F6BF-5375-455C-9EA6-DF929625EA0E}">
        <p15:presenceInfo xmlns:p15="http://schemas.microsoft.com/office/powerpoint/2012/main" userId="S-1-5-21-1407069837-2091007605-538272213-4809820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BF"/>
    <a:srgbClr val="29B5E8"/>
    <a:srgbClr val="545B64"/>
    <a:srgbClr val="7D89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29"/>
    <p:restoredTop sz="94721"/>
  </p:normalViewPr>
  <p:slideViewPr>
    <p:cSldViewPr snapToGrid="0" snapToObjects="1">
      <p:cViewPr varScale="1">
        <p:scale>
          <a:sx n="153" d="100"/>
          <a:sy n="153" d="100"/>
        </p:scale>
        <p:origin x="16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6B231-60EB-4C49-AAEF-269B5DFF8A47}" type="datetimeFigureOut">
              <a:rPr lang="en-US" smtClean="0"/>
              <a:t>11/16/2023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86CF6-1F11-0F42-9224-21A256809A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734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quip-amazon.com/5XEtAzI2yYvC/Code-Sample-Events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quip-amazon.com/5XEtAzI2yYvC/Code-Sample-Events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quip-amazon.com/5XEtAzI2yYvC/Code-Sample-Events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developer initiates an activity in AWS CI/CD pipeline such as push code changes. These activities create Amazon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CloudWatch events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EventBridge event rule detects the CloudWatch events and sends the event data to an Amazon Kinesis Firehose Delivery Stream. One event rule per event source.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event rule is also created to capture event data from Amazon CloudWatch Synthetics Canary if customer has set up the canary – only needed for MTTR.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Firehose uses a Lambda function for data transformation. It extracts relevant data and sends it to an Amazon S3 bucket.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Athena database queries the S3 data and returns the query result to an Amazon QuickSight.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QuickSight obtains the query result and builds dashboard displays for the management team.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3B235-0EC1-A945-8A73-E24DD50E928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31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developer initiates an activity in AWS CI/CD pipeline such as push code changes. These activities create Amazon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CloudWatch events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EventBridge event rule detects the CloudWatch events and sends the event data to an Amazon Kinesis Firehose Delivery Stream. One event rule per event source.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event rule is also created to capture event data from Amazon CloudWatch Synthetics Canary if customer has set up the canary – only needed for MTTR.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Firehose uses a Lambda function for data transformation. It extracts relevant data and sends it to an Amazon S3 bucket.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Athena database queries the S3 data and returns the query result to an Amazon QuickSight.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QuickSight obtains the query result and builds dashboard displays for the management team.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3B235-0EC1-A945-8A73-E24DD50E928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920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developer initiates an activity in AWS CI/CD pipeline such as push code changes. These activities create Amazon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CloudWatch events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EventBridge event rule detects the CloudWatch events and sends the event data to an Amazon Kinesis Firehose Delivery Stream. One event rule per event source.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event rule is also created to capture event data from Amazon CloudWatch Synthetics Canary if customer has set up the canary – only needed for MTTR.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Firehose uses a Lambda function for data transformation. It extracts relevant data and sends it to an Amazon S3 bucket.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Athena database queries the S3 data and returns the query result to an Amazon QuickSight.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QuickSight obtains the query result and builds dashboard displays for the management team.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3B235-0EC1-A945-8A73-E24DD50E928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29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0B15-2441-8C40-A7FF-E2A903BA0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EDCD3-FE1E-3A42-A167-0D7548E86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A736C-3AF2-754D-B90D-CBD093139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11/16/2023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6406-6A04-E148-9208-C65993B6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5A83A-851E-1A44-9FCE-6FFD4813A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5C4C-80D1-964F-8C27-E6533D318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D3B0B-74C5-4245-AEBB-F27838447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75128-5C99-924A-8235-4D35BDF5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11/16/2023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3A23-0936-5347-BCEE-94B0BBC5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E944D-764C-594E-89F2-A935820D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63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914EC-30FA-784D-89FE-065ABF8A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02DC6-75AF-934A-8CD0-3860E57B6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1C632-EFB6-984D-9E96-59FFF448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11/16/2023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F414A-1C2C-F74E-966B-28ED8607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65928-0931-B243-805D-290462A0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54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B84D-AA29-BF47-A2C3-00F3CC6F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547C6-5414-4D49-B625-9F62F0182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F339C-0A28-6E45-9806-D043A1E2E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00151-3BFF-394D-AA82-5EC5D874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11/16/2023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515EA-2174-8A4C-9226-DDCFAF19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A7A2B-22F6-B34E-AAAA-F650C35A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79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B524-B009-1849-954B-63F1A2B2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A1271-2C8E-744E-B3A6-F1F4D0BD5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C27E9-0BB9-684A-83E9-B98AEBE76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C2C89-FB2B-2848-9CBC-845ACD8AE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8A7B3-5BB6-F142-8991-B826A35EBC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F6A90-BCA7-A844-BDD1-229C01420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11/16/2023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70EB13-5D11-5449-9512-615224438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89CFB-D3AA-5D40-8CD5-82FB72E2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5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C06F-E9D1-9848-8730-019EDC09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F6A42A-BD0A-6044-B98A-667A10B91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11/16/2023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6F7CE-1782-F34B-8546-4418076A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4FECA-CEB6-EA48-989E-76920583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8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5ACDC-A542-1644-ACC8-03BEFDCE9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11/16/2023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3CAD7-D680-3248-89AC-406C3A2F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4454D-3F33-CF4C-AAEA-B9C5C3288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32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DC62-3092-4F47-B1CE-3F896D090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C02A2-C681-EC4D-883E-EDD4C9F35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3D7A2-001A-E546-90B4-92D80CF48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D9759-F5A3-D041-9C49-871DE939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11/16/2023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6F5AD-6FC4-0546-BCC8-1996C15E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7A332-74A7-C049-9406-D84CFB5A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51D8-6D19-DF4B-9F98-C7AC0FFEE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D56044-1EBB-F64A-B5BC-EF7CA4262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5DFA7-FA61-E240-8E13-D17D1C0DA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96980-11CA-3B45-AE34-01194C85E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11/16/2023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CCDDE-3E46-2544-ACD5-1F7475EA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FCE0F-973C-2D41-A199-7D2984F7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736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A80F3-24C0-CB47-9701-96650041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C93E1-0242-0D43-9778-62EBD48D1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8B7D1-6415-D741-8ED7-723B58CDB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11/16/2023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EDD59-7593-9648-BF09-F82F663A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E32E3-4EBB-0146-BCB3-694DD543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39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D1C21A-B8BD-4146-8AD7-8E9448250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2FC8A-61FE-DB4B-8F2A-FE5EDE2F0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F5535-45FC-9A44-81C9-97555F81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11/16/2023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AC401-C660-EF4F-B64A-0D14A2C6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2AEFD-3CC8-8F44-9371-5A08F340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36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5F298-9AE0-F440-B542-5F54802A7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FAE3-2B3B-D548-B56B-CE84E6538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3DF35-730C-C244-B98A-CB1C9F822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802BD-3636-C34F-81A0-C5C670484C61}" type="datetimeFigureOut">
              <a:rPr lang="en-US" smtClean="0"/>
              <a:t>11/16/2023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F7E14-3D8F-1644-8351-8BCD9C2C7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80F83-AAFE-764D-9B87-A488A02AD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210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image" Target="../media/image15.svg"/><Relationship Id="rId26" Type="http://schemas.openxmlformats.org/officeDocument/2006/relationships/image" Target="../media/image23.svg"/><Relationship Id="rId39" Type="http://schemas.openxmlformats.org/officeDocument/2006/relationships/image" Target="../media/image36.png"/><Relationship Id="rId21" Type="http://schemas.openxmlformats.org/officeDocument/2006/relationships/image" Target="../media/image18.png"/><Relationship Id="rId34" Type="http://schemas.openxmlformats.org/officeDocument/2006/relationships/image" Target="../media/image31.svg"/><Relationship Id="rId42" Type="http://schemas.openxmlformats.org/officeDocument/2006/relationships/image" Target="../media/image39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sv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24" Type="http://schemas.openxmlformats.org/officeDocument/2006/relationships/image" Target="../media/image21.svg"/><Relationship Id="rId32" Type="http://schemas.openxmlformats.org/officeDocument/2006/relationships/image" Target="../media/image29.svg"/><Relationship Id="rId37" Type="http://schemas.openxmlformats.org/officeDocument/2006/relationships/image" Target="../media/image34.png"/><Relationship Id="rId40" Type="http://schemas.openxmlformats.org/officeDocument/2006/relationships/image" Target="../media/image37.svg"/><Relationship Id="rId45" Type="http://schemas.openxmlformats.org/officeDocument/2006/relationships/image" Target="../media/image42.png"/><Relationship Id="rId5" Type="http://schemas.openxmlformats.org/officeDocument/2006/relationships/hyperlink" Target="https://docs.aws.amazon.com/architecture-diagrams/latest/sports-betting-architecture/sports-betting-architecture.html" TargetMode="External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25.svg"/><Relationship Id="rId36" Type="http://schemas.openxmlformats.org/officeDocument/2006/relationships/image" Target="../media/image33.sv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31" Type="http://schemas.openxmlformats.org/officeDocument/2006/relationships/image" Target="../media/image28.png"/><Relationship Id="rId44" Type="http://schemas.openxmlformats.org/officeDocument/2006/relationships/image" Target="../media/image41.svg"/><Relationship Id="rId4" Type="http://schemas.openxmlformats.org/officeDocument/2006/relationships/image" Target="../media/image2.svg"/><Relationship Id="rId9" Type="http://schemas.openxmlformats.org/officeDocument/2006/relationships/image" Target="../media/image6.svg"/><Relationship Id="rId14" Type="http://schemas.openxmlformats.org/officeDocument/2006/relationships/image" Target="../media/image11.svg"/><Relationship Id="rId22" Type="http://schemas.openxmlformats.org/officeDocument/2006/relationships/image" Target="../media/image19.svg"/><Relationship Id="rId27" Type="http://schemas.openxmlformats.org/officeDocument/2006/relationships/image" Target="../media/image24.png"/><Relationship Id="rId30" Type="http://schemas.openxmlformats.org/officeDocument/2006/relationships/image" Target="../media/image27.svg"/><Relationship Id="rId35" Type="http://schemas.openxmlformats.org/officeDocument/2006/relationships/image" Target="../media/image32.png"/><Relationship Id="rId43" Type="http://schemas.openxmlformats.org/officeDocument/2006/relationships/image" Target="../media/image40.png"/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12" Type="http://schemas.openxmlformats.org/officeDocument/2006/relationships/image" Target="../media/image9.svg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33" Type="http://schemas.openxmlformats.org/officeDocument/2006/relationships/image" Target="../media/image30.png"/><Relationship Id="rId38" Type="http://schemas.openxmlformats.org/officeDocument/2006/relationships/image" Target="../media/image35.svg"/><Relationship Id="rId46" Type="http://schemas.openxmlformats.org/officeDocument/2006/relationships/image" Target="../media/image43.svg"/><Relationship Id="rId20" Type="http://schemas.openxmlformats.org/officeDocument/2006/relationships/image" Target="../media/image17.svg"/><Relationship Id="rId41" Type="http://schemas.openxmlformats.org/officeDocument/2006/relationships/image" Target="../media/image38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18" Type="http://schemas.openxmlformats.org/officeDocument/2006/relationships/image" Target="../media/image33.svg"/><Relationship Id="rId26" Type="http://schemas.openxmlformats.org/officeDocument/2006/relationships/image" Target="../media/image35.svg"/><Relationship Id="rId39" Type="http://schemas.openxmlformats.org/officeDocument/2006/relationships/image" Target="../media/image40.png"/><Relationship Id="rId21" Type="http://schemas.openxmlformats.org/officeDocument/2006/relationships/image" Target="../media/image48.png"/><Relationship Id="rId34" Type="http://schemas.openxmlformats.org/officeDocument/2006/relationships/image" Target="../media/image39.svg"/><Relationship Id="rId42" Type="http://schemas.openxmlformats.org/officeDocument/2006/relationships/image" Target="../media/image37.svg"/><Relationship Id="rId47" Type="http://schemas.openxmlformats.org/officeDocument/2006/relationships/image" Target="../media/image8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7.sv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26.png"/><Relationship Id="rId24" Type="http://schemas.openxmlformats.org/officeDocument/2006/relationships/image" Target="../media/image29.svg"/><Relationship Id="rId32" Type="http://schemas.openxmlformats.org/officeDocument/2006/relationships/image" Target="../media/image23.svg"/><Relationship Id="rId37" Type="http://schemas.openxmlformats.org/officeDocument/2006/relationships/image" Target="../media/image14.png"/><Relationship Id="rId40" Type="http://schemas.openxmlformats.org/officeDocument/2006/relationships/image" Target="../media/image41.svg"/><Relationship Id="rId45" Type="http://schemas.openxmlformats.org/officeDocument/2006/relationships/image" Target="../media/image18.png"/><Relationship Id="rId5" Type="http://schemas.openxmlformats.org/officeDocument/2006/relationships/hyperlink" Target="https://docs.aws.amazon.com/architecture-diagrams/latest/sports-betting-architecture/sports-betting-architecture.html" TargetMode="External"/><Relationship Id="rId15" Type="http://schemas.openxmlformats.org/officeDocument/2006/relationships/image" Target="../media/image46.png"/><Relationship Id="rId23" Type="http://schemas.openxmlformats.org/officeDocument/2006/relationships/image" Target="../media/image28.png"/><Relationship Id="rId28" Type="http://schemas.openxmlformats.org/officeDocument/2006/relationships/image" Target="../media/image21.svg"/><Relationship Id="rId36" Type="http://schemas.openxmlformats.org/officeDocument/2006/relationships/image" Target="../media/image17.svg"/><Relationship Id="rId10" Type="http://schemas.openxmlformats.org/officeDocument/2006/relationships/image" Target="../media/image4.png"/><Relationship Id="rId19" Type="http://schemas.openxmlformats.org/officeDocument/2006/relationships/image" Target="../media/image10.png"/><Relationship Id="rId31" Type="http://schemas.openxmlformats.org/officeDocument/2006/relationships/image" Target="../media/image22.png"/><Relationship Id="rId44" Type="http://schemas.openxmlformats.org/officeDocument/2006/relationships/image" Target="../media/image31.svg"/><Relationship Id="rId4" Type="http://schemas.openxmlformats.org/officeDocument/2006/relationships/image" Target="../media/image2.svg"/><Relationship Id="rId9" Type="http://schemas.openxmlformats.org/officeDocument/2006/relationships/image" Target="../media/image3.png"/><Relationship Id="rId14" Type="http://schemas.openxmlformats.org/officeDocument/2006/relationships/image" Target="../media/image45.svg"/><Relationship Id="rId22" Type="http://schemas.openxmlformats.org/officeDocument/2006/relationships/image" Target="../media/image49.svg"/><Relationship Id="rId27" Type="http://schemas.openxmlformats.org/officeDocument/2006/relationships/image" Target="../media/image20.png"/><Relationship Id="rId30" Type="http://schemas.openxmlformats.org/officeDocument/2006/relationships/image" Target="../media/image25.svg"/><Relationship Id="rId35" Type="http://schemas.openxmlformats.org/officeDocument/2006/relationships/image" Target="../media/image16.png"/><Relationship Id="rId43" Type="http://schemas.openxmlformats.org/officeDocument/2006/relationships/image" Target="../media/image30.png"/><Relationship Id="rId48" Type="http://schemas.openxmlformats.org/officeDocument/2006/relationships/image" Target="../media/image9.svg"/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12" Type="http://schemas.openxmlformats.org/officeDocument/2006/relationships/image" Target="../media/image27.svg"/><Relationship Id="rId17" Type="http://schemas.openxmlformats.org/officeDocument/2006/relationships/image" Target="../media/image32.png"/><Relationship Id="rId25" Type="http://schemas.openxmlformats.org/officeDocument/2006/relationships/image" Target="../media/image34.png"/><Relationship Id="rId33" Type="http://schemas.openxmlformats.org/officeDocument/2006/relationships/image" Target="../media/image38.png"/><Relationship Id="rId38" Type="http://schemas.openxmlformats.org/officeDocument/2006/relationships/image" Target="../media/image15.svg"/><Relationship Id="rId46" Type="http://schemas.openxmlformats.org/officeDocument/2006/relationships/image" Target="../media/image19.svg"/><Relationship Id="rId20" Type="http://schemas.openxmlformats.org/officeDocument/2006/relationships/image" Target="../media/image11.svg"/><Relationship Id="rId41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18" Type="http://schemas.openxmlformats.org/officeDocument/2006/relationships/image" Target="../media/image47.svg"/><Relationship Id="rId26" Type="http://schemas.openxmlformats.org/officeDocument/2006/relationships/image" Target="../media/image41.svg"/><Relationship Id="rId39" Type="http://schemas.openxmlformats.org/officeDocument/2006/relationships/image" Target="../media/image36.png"/><Relationship Id="rId21" Type="http://schemas.openxmlformats.org/officeDocument/2006/relationships/image" Target="../media/image18.png"/><Relationship Id="rId34" Type="http://schemas.openxmlformats.org/officeDocument/2006/relationships/image" Target="../media/image17.svg"/><Relationship Id="rId42" Type="http://schemas.openxmlformats.org/officeDocument/2006/relationships/image" Target="../media/image33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svg"/><Relationship Id="rId20" Type="http://schemas.openxmlformats.org/officeDocument/2006/relationships/image" Target="../media/image39.svg"/><Relationship Id="rId29" Type="http://schemas.openxmlformats.org/officeDocument/2006/relationships/image" Target="../media/image48.png"/><Relationship Id="rId41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6.png"/><Relationship Id="rId24" Type="http://schemas.openxmlformats.org/officeDocument/2006/relationships/image" Target="../media/image21.svg"/><Relationship Id="rId32" Type="http://schemas.openxmlformats.org/officeDocument/2006/relationships/image" Target="../media/image11.svg"/><Relationship Id="rId37" Type="http://schemas.openxmlformats.org/officeDocument/2006/relationships/image" Target="../media/image28.png"/><Relationship Id="rId40" Type="http://schemas.openxmlformats.org/officeDocument/2006/relationships/image" Target="../media/image37.svg"/><Relationship Id="rId5" Type="http://schemas.openxmlformats.org/officeDocument/2006/relationships/hyperlink" Target="https://docs.aws.amazon.com/architecture-diagrams/latest/sports-betting-architecture/sports-betting-architecture.html" TargetMode="External"/><Relationship Id="rId15" Type="http://schemas.openxmlformats.org/officeDocument/2006/relationships/image" Target="../media/image14.png"/><Relationship Id="rId23" Type="http://schemas.openxmlformats.org/officeDocument/2006/relationships/image" Target="../media/image20.png"/><Relationship Id="rId28" Type="http://schemas.openxmlformats.org/officeDocument/2006/relationships/image" Target="../media/image23.svg"/><Relationship Id="rId36" Type="http://schemas.openxmlformats.org/officeDocument/2006/relationships/image" Target="../media/image35.svg"/><Relationship Id="rId10" Type="http://schemas.openxmlformats.org/officeDocument/2006/relationships/image" Target="../media/image6.svg"/><Relationship Id="rId19" Type="http://schemas.openxmlformats.org/officeDocument/2006/relationships/image" Target="../media/image38.png"/><Relationship Id="rId31" Type="http://schemas.openxmlformats.org/officeDocument/2006/relationships/image" Target="../media/image10.png"/><Relationship Id="rId44" Type="http://schemas.openxmlformats.org/officeDocument/2006/relationships/image" Target="../media/image9.svg"/><Relationship Id="rId4" Type="http://schemas.openxmlformats.org/officeDocument/2006/relationships/image" Target="../media/image2.svg"/><Relationship Id="rId9" Type="http://schemas.openxmlformats.org/officeDocument/2006/relationships/image" Target="../media/image5.png"/><Relationship Id="rId14" Type="http://schemas.openxmlformats.org/officeDocument/2006/relationships/image" Target="../media/image45.svg"/><Relationship Id="rId22" Type="http://schemas.openxmlformats.org/officeDocument/2006/relationships/image" Target="../media/image19.svg"/><Relationship Id="rId27" Type="http://schemas.openxmlformats.org/officeDocument/2006/relationships/image" Target="../media/image22.png"/><Relationship Id="rId30" Type="http://schemas.openxmlformats.org/officeDocument/2006/relationships/image" Target="../media/image49.svg"/><Relationship Id="rId35" Type="http://schemas.openxmlformats.org/officeDocument/2006/relationships/image" Target="../media/image34.png"/><Relationship Id="rId43" Type="http://schemas.openxmlformats.org/officeDocument/2006/relationships/image" Target="../media/image8.png"/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12" Type="http://schemas.openxmlformats.org/officeDocument/2006/relationships/image" Target="../media/image27.svg"/><Relationship Id="rId17" Type="http://schemas.openxmlformats.org/officeDocument/2006/relationships/image" Target="../media/image46.png"/><Relationship Id="rId25" Type="http://schemas.openxmlformats.org/officeDocument/2006/relationships/image" Target="../media/image40.png"/><Relationship Id="rId33" Type="http://schemas.openxmlformats.org/officeDocument/2006/relationships/image" Target="../media/image16.png"/><Relationship Id="rId38" Type="http://schemas.openxmlformats.org/officeDocument/2006/relationships/image" Target="../media/image2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architecture/" TargetMode="External"/><Relationship Id="rId2" Type="http://schemas.openxmlformats.org/officeDocument/2006/relationships/hyperlink" Target="https://aws.amazon.com/architecture/icon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-feedback.aws.amazon.com/feedback.jsp?feedback_destination_id=a0d18259-7974-4e8f-8382-0a4be53f4374&amp;topic_url=http://docs.aws.amazon.com/en_us/architecture-diagrams/latest/high-performance-computing-on-aws/high-performance-computing-on-aws.html" TargetMode="External"/><Relationship Id="rId4" Type="http://schemas.openxmlformats.org/officeDocument/2006/relationships/hyperlink" Target="https://aws.amazon.com/architecture/well-architected/?wa-lens-whitepapers.sort-by=item.additionalFields.sortDate&amp;wa-lens-whitepapers.sort-order=des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raphic 102">
            <a:extLst>
              <a:ext uri="{FF2B5EF4-FFF2-40B4-BE49-F238E27FC236}">
                <a16:creationId xmlns:a16="http://schemas.microsoft.com/office/drawing/2014/main" id="{1DD42CEA-08C0-B743-AC84-1AA6A123B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92" y="6406198"/>
            <a:ext cx="585391" cy="348070"/>
          </a:xfrm>
          <a:prstGeom prst="rect">
            <a:avLst/>
          </a:prstGeom>
        </p:spPr>
      </p:pic>
      <p:sp>
        <p:nvSpPr>
          <p:cNvPr id="104" name="AWS copyright text">
            <a:extLst>
              <a:ext uri="{FF2B5EF4-FFF2-40B4-BE49-F238E27FC236}">
                <a16:creationId xmlns:a16="http://schemas.microsoft.com/office/drawing/2014/main" id="{E926D9DC-0FDF-1C44-85C5-53E31AA8B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619133"/>
            <a:ext cx="4036484" cy="14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x-none" sz="933" b="0" i="0" dirty="0">
                <a:solidFill>
                  <a:srgbClr val="7F7F7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© 2023, Amazon Web Services, Inc. or its affiliates. All rights reserved.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C66A8E-F283-4763-B096-ACFA9F5EC61A}"/>
              </a:ext>
            </a:extLst>
          </p:cNvPr>
          <p:cNvSpPr txBox="1"/>
          <p:nvPr/>
        </p:nvSpPr>
        <p:spPr>
          <a:xfrm>
            <a:off x="95668" y="134489"/>
            <a:ext cx="10757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Sports Betting Architecture - </a:t>
            </a:r>
            <a:r>
              <a:rPr lang="en-GB" sz="2000" b="1" dirty="0">
                <a:solidFill>
                  <a:srgbClr val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Deployment of All Components on AWS</a:t>
            </a:r>
            <a:endParaRPr lang="en-US" sz="2000" b="1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8F7425-C01F-4322-A5E8-4271654E0F7E}"/>
              </a:ext>
            </a:extLst>
          </p:cNvPr>
          <p:cNvSpPr txBox="1"/>
          <p:nvPr/>
        </p:nvSpPr>
        <p:spPr>
          <a:xfrm>
            <a:off x="101092" y="458980"/>
            <a:ext cx="4862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For the architecture description, refer to the </a:t>
            </a:r>
            <a:r>
              <a:rPr lang="en-US" sz="14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  <a:hlinkClick r:id="rId5"/>
              </a:rPr>
              <a:t>full diagram</a:t>
            </a:r>
            <a:r>
              <a:rPr lang="en-US" sz="14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E57E0CA-3C0D-4801-AE21-4619D3339231}"/>
              </a:ext>
            </a:extLst>
          </p:cNvPr>
          <p:cNvSpPr/>
          <p:nvPr/>
        </p:nvSpPr>
        <p:spPr>
          <a:xfrm>
            <a:off x="4059880" y="4557447"/>
            <a:ext cx="4949960" cy="1538432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600" dirty="0">
              <a:solidFill>
                <a:srgbClr val="5B9CD5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ADBA984-956B-4339-A8C2-3163A97525FA}"/>
              </a:ext>
            </a:extLst>
          </p:cNvPr>
          <p:cNvSpPr/>
          <p:nvPr/>
        </p:nvSpPr>
        <p:spPr>
          <a:xfrm>
            <a:off x="4112053" y="2261152"/>
            <a:ext cx="813951" cy="3523611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167AC4C2-D285-4C8E-8FF8-8F5CCC9201B2}"/>
              </a:ext>
            </a:extLst>
          </p:cNvPr>
          <p:cNvSpPr/>
          <p:nvPr/>
        </p:nvSpPr>
        <p:spPr>
          <a:xfrm>
            <a:off x="4982517" y="2399718"/>
            <a:ext cx="3909436" cy="349125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776E1C9-3A6D-463F-BA61-1D06BD38DE1E}"/>
              </a:ext>
            </a:extLst>
          </p:cNvPr>
          <p:cNvSpPr/>
          <p:nvPr/>
        </p:nvSpPr>
        <p:spPr>
          <a:xfrm>
            <a:off x="2866098" y="914404"/>
            <a:ext cx="7087964" cy="5410196"/>
          </a:xfrm>
          <a:prstGeom prst="rect">
            <a:avLst/>
          </a:prstGeom>
          <a:noFill/>
          <a:ln w="15875">
            <a:solidFill>
              <a:srgbClr val="141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603D786-C92E-41FF-B253-5B693A691E74}"/>
              </a:ext>
            </a:extLst>
          </p:cNvPr>
          <p:cNvGrpSpPr/>
          <p:nvPr/>
        </p:nvGrpSpPr>
        <p:grpSpPr>
          <a:xfrm>
            <a:off x="1612881" y="3506595"/>
            <a:ext cx="1073150" cy="551447"/>
            <a:chOff x="87844" y="2565942"/>
            <a:chExt cx="1073150" cy="551447"/>
          </a:xfrm>
        </p:grpSpPr>
        <p:pic>
          <p:nvPicPr>
            <p:cNvPr id="117" name="Graphic 24">
              <a:extLst>
                <a:ext uri="{FF2B5EF4-FFF2-40B4-BE49-F238E27FC236}">
                  <a16:creationId xmlns:a16="http://schemas.microsoft.com/office/drawing/2014/main" id="{26CBBF52-AF0B-427E-8B5D-770E714193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427" y="2565942"/>
              <a:ext cx="317490" cy="317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8" name="TextBox 25">
              <a:extLst>
                <a:ext uri="{FF2B5EF4-FFF2-40B4-BE49-F238E27FC236}">
                  <a16:creationId xmlns:a16="http://schemas.microsoft.com/office/drawing/2014/main" id="{A6B17838-50C6-4C33-976A-D807F8720B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844" y="2901945"/>
              <a:ext cx="107315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client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C1201DC-6C69-45D3-9647-D4284760C6FF}"/>
              </a:ext>
            </a:extLst>
          </p:cNvPr>
          <p:cNvGrpSpPr/>
          <p:nvPr/>
        </p:nvGrpSpPr>
        <p:grpSpPr>
          <a:xfrm>
            <a:off x="1698159" y="4119287"/>
            <a:ext cx="1073150" cy="561315"/>
            <a:chOff x="131019" y="3629030"/>
            <a:chExt cx="1073150" cy="561315"/>
          </a:xfrm>
        </p:grpSpPr>
        <p:pic>
          <p:nvPicPr>
            <p:cNvPr id="120" name="Graphic 15">
              <a:extLst>
                <a:ext uri="{FF2B5EF4-FFF2-40B4-BE49-F238E27FC236}">
                  <a16:creationId xmlns:a16="http://schemas.microsoft.com/office/drawing/2014/main" id="{EF13305B-FC22-42A2-A038-E86EFB6143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565" y="3629030"/>
              <a:ext cx="378229" cy="378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1" name="TextBox 32">
              <a:extLst>
                <a:ext uri="{FF2B5EF4-FFF2-40B4-BE49-F238E27FC236}">
                  <a16:creationId xmlns:a16="http://schemas.microsoft.com/office/drawing/2014/main" id="{73D3633E-A5AA-4C74-BC4D-D2B734CCC0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019" y="3974901"/>
              <a:ext cx="107315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mobile client</a:t>
              </a:r>
            </a:p>
          </p:txBody>
        </p:sp>
      </p:grpSp>
      <p:sp>
        <p:nvSpPr>
          <p:cNvPr id="122" name="TextBox 9">
            <a:extLst>
              <a:ext uri="{FF2B5EF4-FFF2-40B4-BE49-F238E27FC236}">
                <a16:creationId xmlns:a16="http://schemas.microsoft.com/office/drawing/2014/main" id="{F283C8C6-9905-461F-AA7E-3277D871D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463" y="4608547"/>
            <a:ext cx="9360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Load Balancer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256BF74-F1B6-4E6B-BB02-45DEAB26DC87}"/>
              </a:ext>
            </a:extLst>
          </p:cNvPr>
          <p:cNvSpPr txBox="1"/>
          <p:nvPr/>
        </p:nvSpPr>
        <p:spPr>
          <a:xfrm>
            <a:off x="2570571" y="4265869"/>
            <a:ext cx="273079" cy="123111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</a:t>
            </a:r>
            <a:r>
              <a:rPr lang="en-DE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ets</a:t>
            </a:r>
          </a:p>
        </p:txBody>
      </p:sp>
      <p:cxnSp>
        <p:nvCxnSpPr>
          <p:cNvPr id="124" name="Elbow Connector 35">
            <a:extLst>
              <a:ext uri="{FF2B5EF4-FFF2-40B4-BE49-F238E27FC236}">
                <a16:creationId xmlns:a16="http://schemas.microsoft.com/office/drawing/2014/main" id="{8B703DC2-2730-4B61-948B-FE95DD78A526}"/>
              </a:ext>
            </a:extLst>
          </p:cNvPr>
          <p:cNvCxnSpPr>
            <a:cxnSpLocks/>
            <a:stCxn id="134" idx="2"/>
            <a:endCxn id="121" idx="2"/>
          </p:cNvCxnSpPr>
          <p:nvPr/>
        </p:nvCxnSpPr>
        <p:spPr>
          <a:xfrm rot="5400000" flipH="1">
            <a:off x="2813511" y="4101826"/>
            <a:ext cx="114888" cy="1272441"/>
          </a:xfrm>
          <a:prstGeom prst="bentConnector3">
            <a:avLst>
              <a:gd name="adj1" fmla="val -198976"/>
            </a:avLst>
          </a:prstGeom>
          <a:ln w="15875" cap="flat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Elbow Connector 36">
            <a:extLst>
              <a:ext uri="{FF2B5EF4-FFF2-40B4-BE49-F238E27FC236}">
                <a16:creationId xmlns:a16="http://schemas.microsoft.com/office/drawing/2014/main" id="{2BF68A27-2D6B-48EA-A4C4-92CBCD2B4958}"/>
              </a:ext>
            </a:extLst>
          </p:cNvPr>
          <p:cNvCxnSpPr>
            <a:cxnSpLocks/>
            <a:stCxn id="134" idx="2"/>
            <a:endCxn id="117" idx="1"/>
          </p:cNvCxnSpPr>
          <p:nvPr/>
        </p:nvCxnSpPr>
        <p:spPr>
          <a:xfrm rot="5400000" flipH="1">
            <a:off x="2190245" y="3478560"/>
            <a:ext cx="1130150" cy="1503711"/>
          </a:xfrm>
          <a:prstGeom prst="bentConnector4">
            <a:avLst>
              <a:gd name="adj1" fmla="val -20227"/>
              <a:gd name="adj2" fmla="val 109389"/>
            </a:avLst>
          </a:prstGeom>
          <a:ln w="15875" cap="flat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9">
            <a:extLst>
              <a:ext uri="{FF2B5EF4-FFF2-40B4-BE49-F238E27FC236}">
                <a16:creationId xmlns:a16="http://schemas.microsoft.com/office/drawing/2014/main" id="{A35D705F-7682-426B-BDC5-47E1DF7A9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0552" y="4073866"/>
            <a:ext cx="81178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Multi-AZ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replica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11D1C9BC-EA4A-418D-B25C-436B9BEFB7B2}"/>
              </a:ext>
            </a:extLst>
          </p:cNvPr>
          <p:cNvSpPr/>
          <p:nvPr/>
        </p:nvSpPr>
        <p:spPr>
          <a:xfrm>
            <a:off x="8259148" y="3090466"/>
            <a:ext cx="1530652" cy="2918111"/>
          </a:xfrm>
          <a:prstGeom prst="rect">
            <a:avLst/>
          </a:prstGeom>
          <a:noFill/>
          <a:ln w="15875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128" name="Graphic 8">
            <a:extLst>
              <a:ext uri="{FF2B5EF4-FFF2-40B4-BE49-F238E27FC236}">
                <a16:creationId xmlns:a16="http://schemas.microsoft.com/office/drawing/2014/main" id="{5F767C88-3EE3-4011-9362-61D5809A9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2022070" y="1470069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" name="TextBox 26">
            <a:extLst>
              <a:ext uri="{FF2B5EF4-FFF2-40B4-BE49-F238E27FC236}">
                <a16:creationId xmlns:a16="http://schemas.microsoft.com/office/drawing/2014/main" id="{16684D28-528D-4CA7-A4B7-31A706FED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494" y="1744389"/>
            <a:ext cx="86504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GB" sz="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external compliance, KYC, and payment processor</a:t>
            </a:r>
            <a:endParaRPr lang="en-US" altLang="en-US" sz="800" dirty="0">
              <a:solidFill>
                <a:srgbClr val="000000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130" name="Graphic 10">
            <a:extLst>
              <a:ext uri="{FF2B5EF4-FFF2-40B4-BE49-F238E27FC236}">
                <a16:creationId xmlns:a16="http://schemas.microsoft.com/office/drawing/2014/main" id="{7D16123B-F5FF-49D6-8CB4-BDD8272A2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077" y="2692064"/>
            <a:ext cx="283645" cy="28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" name="TextBox 26">
            <a:extLst>
              <a:ext uri="{FF2B5EF4-FFF2-40B4-BE49-F238E27FC236}">
                <a16:creationId xmlns:a16="http://schemas.microsoft.com/office/drawing/2014/main" id="{2290F34F-6288-462F-AF98-A77ED3767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348" y="2959176"/>
            <a:ext cx="8579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GB" sz="800" dirty="0">
                <a:solidFill>
                  <a:srgbClr val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</a:t>
            </a:r>
            <a:r>
              <a:rPr lang="en-GB" sz="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xternal </a:t>
            </a:r>
          </a:p>
          <a:p>
            <a:pPr algn="ctr" eaLnBrk="1" hangingPunct="1"/>
            <a:r>
              <a:rPr lang="en-GB" sz="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feeds</a:t>
            </a:r>
            <a:endParaRPr lang="en-US" altLang="en-US" sz="800" dirty="0">
              <a:solidFill>
                <a:srgbClr val="000000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6315DAA-616F-4473-BB2C-363FB6DC6DD5}"/>
              </a:ext>
            </a:extLst>
          </p:cNvPr>
          <p:cNvSpPr/>
          <p:nvPr/>
        </p:nvSpPr>
        <p:spPr>
          <a:xfrm>
            <a:off x="3785096" y="1905138"/>
            <a:ext cx="5319935" cy="4264501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ln w="0"/>
              <a:solidFill>
                <a:srgbClr val="1E8900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0EACB7FB-6754-46C4-9FD2-3F1C1F12141C}"/>
              </a:ext>
            </a:extLst>
          </p:cNvPr>
          <p:cNvSpPr/>
          <p:nvPr/>
        </p:nvSpPr>
        <p:spPr>
          <a:xfrm>
            <a:off x="4076453" y="2203097"/>
            <a:ext cx="4933387" cy="2199665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600" dirty="0">
              <a:solidFill>
                <a:srgbClr val="5B9CD5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1">
            <a:extLst>
              <a:ext uri="{FF2B5EF4-FFF2-40B4-BE49-F238E27FC236}">
                <a16:creationId xmlns:a16="http://schemas.microsoft.com/office/drawing/2014/main" id="{1086B975-2605-4DAA-8ED9-62683D6AB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2821" y="4456936"/>
            <a:ext cx="82870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CloudFront</a:t>
            </a:r>
          </a:p>
        </p:txBody>
      </p:sp>
      <p:sp>
        <p:nvSpPr>
          <p:cNvPr id="135" name="TextBox 9">
            <a:extLst>
              <a:ext uri="{FF2B5EF4-FFF2-40B4-BE49-F238E27FC236}">
                <a16:creationId xmlns:a16="http://schemas.microsoft.com/office/drawing/2014/main" id="{32C07957-4C47-44BE-9BBB-8475735C7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9101" y="5332323"/>
            <a:ext cx="8007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RDS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31DF8B9-5260-4090-9E8C-A65F3F557331}"/>
              </a:ext>
            </a:extLst>
          </p:cNvPr>
          <p:cNvSpPr/>
          <p:nvPr/>
        </p:nvSpPr>
        <p:spPr>
          <a:xfrm>
            <a:off x="2913905" y="1673682"/>
            <a:ext cx="6940134" cy="4582374"/>
          </a:xfrm>
          <a:prstGeom prst="rect">
            <a:avLst/>
          </a:prstGeom>
          <a:noFill/>
          <a:ln w="15875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solidFill>
                <a:srgbClr val="CD2264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0D7D355-43E1-444C-923C-DB8C45DC16EE}"/>
              </a:ext>
            </a:extLst>
          </p:cNvPr>
          <p:cNvSpPr/>
          <p:nvPr/>
        </p:nvSpPr>
        <p:spPr>
          <a:xfrm>
            <a:off x="7119481" y="2508571"/>
            <a:ext cx="1060068" cy="3231867"/>
          </a:xfrm>
          <a:prstGeom prst="rect">
            <a:avLst/>
          </a:prstGeom>
          <a:noFill/>
          <a:ln w="15875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tIns="36000" r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ln w="0"/>
              <a:solidFill>
                <a:srgbClr val="ED7100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138" name="Elbow Connector 507">
            <a:extLst>
              <a:ext uri="{FF2B5EF4-FFF2-40B4-BE49-F238E27FC236}">
                <a16:creationId xmlns:a16="http://schemas.microsoft.com/office/drawing/2014/main" id="{521C618E-2066-4278-9F79-C90B7968642A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47087" y="2651559"/>
            <a:ext cx="2334609" cy="0"/>
          </a:xfrm>
          <a:prstGeom prst="bentConnector3">
            <a:avLst>
              <a:gd name="adj1" fmla="val 50000"/>
            </a:avLst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Elbow Connector 508">
            <a:extLst>
              <a:ext uri="{FF2B5EF4-FFF2-40B4-BE49-F238E27FC236}">
                <a16:creationId xmlns:a16="http://schemas.microsoft.com/office/drawing/2014/main" id="{B1B35CC3-F78F-4D38-91DD-34E4A4BBDEC5}"/>
              </a:ext>
            </a:extLst>
          </p:cNvPr>
          <p:cNvCxnSpPr>
            <a:cxnSpLocks/>
            <a:stCxn id="335" idx="3"/>
            <a:endCxn id="277" idx="1"/>
          </p:cNvCxnSpPr>
          <p:nvPr/>
        </p:nvCxnSpPr>
        <p:spPr>
          <a:xfrm>
            <a:off x="7862466" y="3596953"/>
            <a:ext cx="1389754" cy="2024109"/>
          </a:xfrm>
          <a:prstGeom prst="bentConnector3">
            <a:avLst>
              <a:gd name="adj1" fmla="val 10793"/>
            </a:avLst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Elbow Connector 509">
            <a:extLst>
              <a:ext uri="{FF2B5EF4-FFF2-40B4-BE49-F238E27FC236}">
                <a16:creationId xmlns:a16="http://schemas.microsoft.com/office/drawing/2014/main" id="{03A60D48-6C82-43DB-8979-99475954419E}"/>
              </a:ext>
            </a:extLst>
          </p:cNvPr>
          <p:cNvCxnSpPr>
            <a:cxnSpLocks/>
            <a:stCxn id="277" idx="2"/>
            <a:endCxn id="357" idx="2"/>
          </p:cNvCxnSpPr>
          <p:nvPr/>
        </p:nvCxnSpPr>
        <p:spPr>
          <a:xfrm rot="5400000" flipH="1">
            <a:off x="8432102" y="4800945"/>
            <a:ext cx="249149" cy="1756846"/>
          </a:xfrm>
          <a:prstGeom prst="bentConnector3">
            <a:avLst>
              <a:gd name="adj1" fmla="val -91752"/>
            </a:avLst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lbow Connector 514">
            <a:extLst>
              <a:ext uri="{FF2B5EF4-FFF2-40B4-BE49-F238E27FC236}">
                <a16:creationId xmlns:a16="http://schemas.microsoft.com/office/drawing/2014/main" id="{A4C102E3-E2CB-4F38-BA00-D8C85E75CCE8}"/>
              </a:ext>
            </a:extLst>
          </p:cNvPr>
          <p:cNvCxnSpPr>
            <a:cxnSpLocks/>
            <a:stCxn id="328" idx="1"/>
          </p:cNvCxnSpPr>
          <p:nvPr/>
        </p:nvCxnSpPr>
        <p:spPr>
          <a:xfrm rot="10800000">
            <a:off x="4750731" y="2782069"/>
            <a:ext cx="2747148" cy="274320"/>
          </a:xfrm>
          <a:prstGeom prst="bentConnector3">
            <a:avLst>
              <a:gd name="adj1" fmla="val 17854"/>
            </a:avLst>
          </a:prstGeom>
          <a:ln w="15875" cap="flat">
            <a:solidFill>
              <a:schemeClr val="tx2"/>
            </a:solidFill>
            <a:prstDash val="sysDash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9F5CA14-B96F-4EAC-99AB-81B97723B2CB}"/>
              </a:ext>
            </a:extLst>
          </p:cNvPr>
          <p:cNvCxnSpPr>
            <a:cxnSpLocks/>
          </p:cNvCxnSpPr>
          <p:nvPr/>
        </p:nvCxnSpPr>
        <p:spPr>
          <a:xfrm flipH="1">
            <a:off x="6825822" y="4756476"/>
            <a:ext cx="274320" cy="1"/>
          </a:xfrm>
          <a:prstGeom prst="straightConnector1">
            <a:avLst/>
          </a:prstGeom>
          <a:ln w="15875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FD193C65-9080-41D0-833C-DEC3065DFBD1}"/>
              </a:ext>
            </a:extLst>
          </p:cNvPr>
          <p:cNvCxnSpPr>
            <a:cxnSpLocks/>
          </p:cNvCxnSpPr>
          <p:nvPr/>
        </p:nvCxnSpPr>
        <p:spPr>
          <a:xfrm flipH="1" flipV="1">
            <a:off x="8604202" y="4392344"/>
            <a:ext cx="1739" cy="549814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AE387701-084D-4EF6-B481-7B3B254B8C98}"/>
              </a:ext>
            </a:extLst>
          </p:cNvPr>
          <p:cNvCxnSpPr>
            <a:cxnSpLocks/>
          </p:cNvCxnSpPr>
          <p:nvPr/>
        </p:nvCxnSpPr>
        <p:spPr>
          <a:xfrm flipV="1">
            <a:off x="8182590" y="5156198"/>
            <a:ext cx="204355" cy="2433"/>
          </a:xfrm>
          <a:prstGeom prst="straightConnector1">
            <a:avLst/>
          </a:prstGeom>
          <a:ln w="15875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929B0C4-36CD-44FB-8B05-CB41BB3C185A}"/>
              </a:ext>
            </a:extLst>
          </p:cNvPr>
          <p:cNvSpPr/>
          <p:nvPr/>
        </p:nvSpPr>
        <p:spPr>
          <a:xfrm>
            <a:off x="10055868" y="1963321"/>
            <a:ext cx="638869" cy="1163278"/>
          </a:xfrm>
          <a:prstGeom prst="rect">
            <a:avLst/>
          </a:prstGeom>
          <a:noFill/>
          <a:ln w="15875">
            <a:solidFill>
              <a:srgbClr val="7D89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TextBox 17">
            <a:extLst>
              <a:ext uri="{FF2B5EF4-FFF2-40B4-BE49-F238E27FC236}">
                <a16:creationId xmlns:a16="http://schemas.microsoft.com/office/drawing/2014/main" id="{724CF04C-755C-4B83-B3B4-CDEEF0E1E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2461" y="1938052"/>
            <a:ext cx="5981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local data center</a:t>
            </a:r>
          </a:p>
        </p:txBody>
      </p:sp>
      <p:sp>
        <p:nvSpPr>
          <p:cNvPr id="149" name="TextBox 17">
            <a:extLst>
              <a:ext uri="{FF2B5EF4-FFF2-40B4-BE49-F238E27FC236}">
                <a16:creationId xmlns:a16="http://schemas.microsoft.com/office/drawing/2014/main" id="{BB7FE55A-BC3C-4832-81A0-811C081E6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0995" y="2887100"/>
            <a:ext cx="101361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cxnSp>
        <p:nvCxnSpPr>
          <p:cNvPr id="150" name="Elbow Connector 48">
            <a:extLst>
              <a:ext uri="{FF2B5EF4-FFF2-40B4-BE49-F238E27FC236}">
                <a16:creationId xmlns:a16="http://schemas.microsoft.com/office/drawing/2014/main" id="{DC3DD210-2105-44B5-A029-DF0B1CBBF0BF}"/>
              </a:ext>
            </a:extLst>
          </p:cNvPr>
          <p:cNvCxnSpPr>
            <a:cxnSpLocks/>
            <a:stCxn id="169" idx="0"/>
            <a:endCxn id="295" idx="1"/>
          </p:cNvCxnSpPr>
          <p:nvPr/>
        </p:nvCxnSpPr>
        <p:spPr>
          <a:xfrm rot="5400000" flipH="1" flipV="1">
            <a:off x="6548973" y="1324880"/>
            <a:ext cx="1975171" cy="2041520"/>
          </a:xfrm>
          <a:prstGeom prst="bentConnector2">
            <a:avLst/>
          </a:prstGeom>
          <a:ln w="12700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lbow Connector 54">
            <a:extLst>
              <a:ext uri="{FF2B5EF4-FFF2-40B4-BE49-F238E27FC236}">
                <a16:creationId xmlns:a16="http://schemas.microsoft.com/office/drawing/2014/main" id="{2AF76270-17F8-4243-9AFA-4EFB3B9AABCE}"/>
              </a:ext>
            </a:extLst>
          </p:cNvPr>
          <p:cNvCxnSpPr>
            <a:cxnSpLocks/>
          </p:cNvCxnSpPr>
          <p:nvPr/>
        </p:nvCxnSpPr>
        <p:spPr>
          <a:xfrm>
            <a:off x="2341869" y="2916910"/>
            <a:ext cx="2007693" cy="365760"/>
          </a:xfrm>
          <a:prstGeom prst="bentConnector3">
            <a:avLst>
              <a:gd name="adj1" fmla="val 12046"/>
            </a:avLst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Elbow Connector 61">
            <a:extLst>
              <a:ext uri="{FF2B5EF4-FFF2-40B4-BE49-F238E27FC236}">
                <a16:creationId xmlns:a16="http://schemas.microsoft.com/office/drawing/2014/main" id="{9AD2A44E-07DF-4EDF-8CF9-942F85543936}"/>
              </a:ext>
            </a:extLst>
          </p:cNvPr>
          <p:cNvCxnSpPr>
            <a:cxnSpLocks/>
            <a:stCxn id="260" idx="3"/>
            <a:endCxn id="337" idx="1"/>
          </p:cNvCxnSpPr>
          <p:nvPr/>
        </p:nvCxnSpPr>
        <p:spPr>
          <a:xfrm>
            <a:off x="4709329" y="3273346"/>
            <a:ext cx="2768692" cy="274779"/>
          </a:xfrm>
          <a:prstGeom prst="bentConnector3">
            <a:avLst>
              <a:gd name="adj1" fmla="val 84157"/>
            </a:avLst>
          </a:prstGeom>
          <a:ln w="15875" cap="flat">
            <a:solidFill>
              <a:schemeClr val="tx2"/>
            </a:solidFill>
            <a:prstDash val="sysDash"/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9">
            <a:extLst>
              <a:ext uri="{FF2B5EF4-FFF2-40B4-BE49-F238E27FC236}">
                <a16:creationId xmlns:a16="http://schemas.microsoft.com/office/drawing/2014/main" id="{729CEE29-41BA-4E57-B95E-3EAD30778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7007" y="3433012"/>
            <a:ext cx="13375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Gateway</a:t>
            </a:r>
          </a:p>
        </p:txBody>
      </p:sp>
      <p:sp>
        <p:nvSpPr>
          <p:cNvPr id="165" name="TextBox 34">
            <a:extLst>
              <a:ext uri="{FF2B5EF4-FFF2-40B4-BE49-F238E27FC236}">
                <a16:creationId xmlns:a16="http://schemas.microsoft.com/office/drawing/2014/main" id="{AA3AF267-309A-425A-9A76-CA3080CEC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3752" y="3998302"/>
            <a:ext cx="648424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MSK</a:t>
            </a:r>
          </a:p>
        </p:txBody>
      </p:sp>
      <p:sp>
        <p:nvSpPr>
          <p:cNvPr id="167" name="TextBox 34">
            <a:extLst>
              <a:ext uri="{FF2B5EF4-FFF2-40B4-BE49-F238E27FC236}">
                <a16:creationId xmlns:a16="http://schemas.microsoft.com/office/drawing/2014/main" id="{F29342FF-03BE-4AF3-9C05-6ACD79CB8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586" y="5081003"/>
            <a:ext cx="648424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MSK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68181828-999D-4BB2-88F5-8AEC60A12324}"/>
              </a:ext>
            </a:extLst>
          </p:cNvPr>
          <p:cNvSpPr/>
          <p:nvPr/>
        </p:nvSpPr>
        <p:spPr>
          <a:xfrm>
            <a:off x="5093993" y="2880206"/>
            <a:ext cx="946309" cy="2177580"/>
          </a:xfrm>
          <a:prstGeom prst="rect">
            <a:avLst/>
          </a:prstGeom>
          <a:noFill/>
          <a:ln w="15875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ln w="0"/>
              <a:solidFill>
                <a:srgbClr val="ED7100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BC8D1C9-AB3E-46A4-8EFE-935B7A8116C6}"/>
              </a:ext>
            </a:extLst>
          </p:cNvPr>
          <p:cNvSpPr/>
          <p:nvPr/>
        </p:nvSpPr>
        <p:spPr>
          <a:xfrm>
            <a:off x="6241610" y="3333225"/>
            <a:ext cx="548376" cy="2082070"/>
          </a:xfrm>
          <a:prstGeom prst="rect">
            <a:avLst/>
          </a:prstGeom>
          <a:noFill/>
          <a:ln w="15875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message bus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43E67AEE-E21D-4B67-9C14-BCD0A7160C80}"/>
              </a:ext>
            </a:extLst>
          </p:cNvPr>
          <p:cNvCxnSpPr>
            <a:cxnSpLocks/>
          </p:cNvCxnSpPr>
          <p:nvPr/>
        </p:nvCxnSpPr>
        <p:spPr>
          <a:xfrm flipH="1">
            <a:off x="6048057" y="4748473"/>
            <a:ext cx="182880" cy="1"/>
          </a:xfrm>
          <a:prstGeom prst="straightConnector1">
            <a:avLst/>
          </a:prstGeom>
          <a:ln w="15875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 171">
            <a:extLst>
              <a:ext uri="{FF2B5EF4-FFF2-40B4-BE49-F238E27FC236}">
                <a16:creationId xmlns:a16="http://schemas.microsoft.com/office/drawing/2014/main" id="{90CA950C-47D0-4924-8F7A-C2EBBF70CC10}"/>
              </a:ext>
            </a:extLst>
          </p:cNvPr>
          <p:cNvSpPr/>
          <p:nvPr/>
        </p:nvSpPr>
        <p:spPr>
          <a:xfrm>
            <a:off x="5301535" y="4161925"/>
            <a:ext cx="641420" cy="157525"/>
          </a:xfrm>
          <a:prstGeom prst="rect">
            <a:avLst/>
          </a:prstGeom>
          <a:noFill/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wallets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5BF78DF-B955-4353-B8C9-330A85FC7F67}"/>
              </a:ext>
            </a:extLst>
          </p:cNvPr>
          <p:cNvSpPr/>
          <p:nvPr/>
        </p:nvSpPr>
        <p:spPr>
          <a:xfrm>
            <a:off x="5203924" y="4828412"/>
            <a:ext cx="796336" cy="148691"/>
          </a:xfrm>
          <a:prstGeom prst="rect">
            <a:avLst/>
          </a:prstGeom>
          <a:noFill/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sportsbook</a:t>
            </a:r>
          </a:p>
        </p:txBody>
      </p:sp>
      <p:sp>
        <p:nvSpPr>
          <p:cNvPr id="174" name="TextBox 12">
            <a:extLst>
              <a:ext uri="{FF2B5EF4-FFF2-40B4-BE49-F238E27FC236}">
                <a16:creationId xmlns:a16="http://schemas.microsoft.com/office/drawing/2014/main" id="{7081C937-54F4-412A-8ADD-EFFDC6CE1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7050" y="4633954"/>
            <a:ext cx="7181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DynamoDB</a:t>
            </a:r>
          </a:p>
        </p:txBody>
      </p:sp>
      <p:cxnSp>
        <p:nvCxnSpPr>
          <p:cNvPr id="175" name="Elbow Connector 109">
            <a:extLst>
              <a:ext uri="{FF2B5EF4-FFF2-40B4-BE49-F238E27FC236}">
                <a16:creationId xmlns:a16="http://schemas.microsoft.com/office/drawing/2014/main" id="{29C1BE42-ADB1-4865-B20A-A437519ECD36}"/>
              </a:ext>
            </a:extLst>
          </p:cNvPr>
          <p:cNvCxnSpPr>
            <a:cxnSpLocks/>
            <a:stCxn id="357" idx="1"/>
            <a:endCxn id="122" idx="2"/>
          </p:cNvCxnSpPr>
          <p:nvPr/>
        </p:nvCxnSpPr>
        <p:spPr>
          <a:xfrm rot="10800000">
            <a:off x="4485475" y="4947101"/>
            <a:ext cx="2842111" cy="539098"/>
          </a:xfrm>
          <a:prstGeom prst="bentConnector2">
            <a:avLst/>
          </a:prstGeom>
          <a:ln w="15875" cap="flat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864A4FB5-39CB-4C1C-83CC-573E23F64F22}"/>
              </a:ext>
            </a:extLst>
          </p:cNvPr>
          <p:cNvSpPr txBox="1"/>
          <p:nvPr/>
        </p:nvSpPr>
        <p:spPr>
          <a:xfrm>
            <a:off x="2139816" y="5057792"/>
            <a:ext cx="54873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WebSocket l</a:t>
            </a:r>
            <a:r>
              <a:rPr lang="en-DE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ive feed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6DE02F5E-4A43-4ED8-95DE-5343E5DDFF80}"/>
              </a:ext>
            </a:extLst>
          </p:cNvPr>
          <p:cNvSpPr txBox="1"/>
          <p:nvPr/>
        </p:nvSpPr>
        <p:spPr>
          <a:xfrm>
            <a:off x="4988523" y="5520470"/>
            <a:ext cx="123114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DE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Web</a:t>
            </a: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</a:t>
            </a:r>
            <a:r>
              <a:rPr lang="en-DE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ocket</a:t>
            </a: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live feed</a:t>
            </a:r>
            <a:endParaRPr lang="en-DE" sz="8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199" name="Elbow Connector 587">
            <a:extLst>
              <a:ext uri="{FF2B5EF4-FFF2-40B4-BE49-F238E27FC236}">
                <a16:creationId xmlns:a16="http://schemas.microsoft.com/office/drawing/2014/main" id="{43AD57B4-C992-4D23-9040-CF992A903BB3}"/>
              </a:ext>
            </a:extLst>
          </p:cNvPr>
          <p:cNvCxnSpPr>
            <a:cxnSpLocks/>
          </p:cNvCxnSpPr>
          <p:nvPr/>
        </p:nvCxnSpPr>
        <p:spPr>
          <a:xfrm rot="10800000">
            <a:off x="2307041" y="2791369"/>
            <a:ext cx="2032509" cy="0"/>
          </a:xfrm>
          <a:prstGeom prst="bentConnector3">
            <a:avLst>
              <a:gd name="adj1" fmla="val 50000"/>
            </a:avLst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Elbow Connector 593">
            <a:extLst>
              <a:ext uri="{FF2B5EF4-FFF2-40B4-BE49-F238E27FC236}">
                <a16:creationId xmlns:a16="http://schemas.microsoft.com/office/drawing/2014/main" id="{01AC61B2-B778-4553-A4BD-47A638F6D55A}"/>
              </a:ext>
            </a:extLst>
          </p:cNvPr>
          <p:cNvCxnSpPr>
            <a:cxnSpLocks/>
          </p:cNvCxnSpPr>
          <p:nvPr/>
        </p:nvCxnSpPr>
        <p:spPr>
          <a:xfrm rot="10800000">
            <a:off x="2338078" y="1657744"/>
            <a:ext cx="2001472" cy="1005840"/>
          </a:xfrm>
          <a:prstGeom prst="bentConnector3">
            <a:avLst>
              <a:gd name="adj1" fmla="val 80040"/>
            </a:avLst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Elbow Connector 500">
            <a:extLst>
              <a:ext uri="{FF2B5EF4-FFF2-40B4-BE49-F238E27FC236}">
                <a16:creationId xmlns:a16="http://schemas.microsoft.com/office/drawing/2014/main" id="{CCDFFFBE-4DA5-42B5-B224-4575B3695FE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157398" y="5184318"/>
            <a:ext cx="538196" cy="0"/>
          </a:xfrm>
          <a:prstGeom prst="bentConnector3">
            <a:avLst>
              <a:gd name="adj1" fmla="val 50000"/>
            </a:avLst>
          </a:prstGeom>
          <a:ln w="15875" cap="flat">
            <a:solidFill>
              <a:schemeClr val="tx2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Elbow Connector 543">
            <a:extLst>
              <a:ext uri="{FF2B5EF4-FFF2-40B4-BE49-F238E27FC236}">
                <a16:creationId xmlns:a16="http://schemas.microsoft.com/office/drawing/2014/main" id="{4142727C-02C5-4891-803B-1B8E0F2563BB}"/>
              </a:ext>
            </a:extLst>
          </p:cNvPr>
          <p:cNvCxnSpPr>
            <a:cxnSpLocks/>
            <a:endCxn id="384" idx="2"/>
          </p:cNvCxnSpPr>
          <p:nvPr/>
        </p:nvCxnSpPr>
        <p:spPr>
          <a:xfrm flipV="1">
            <a:off x="8899317" y="3733268"/>
            <a:ext cx="1520659" cy="248255"/>
          </a:xfrm>
          <a:prstGeom prst="bentConnector2">
            <a:avLst/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1" name="Graphic 230">
            <a:extLst>
              <a:ext uri="{FF2B5EF4-FFF2-40B4-BE49-F238E27FC236}">
                <a16:creationId xmlns:a16="http://schemas.microsoft.com/office/drawing/2014/main" id="{C6590BC2-AB86-486E-8F98-1B2AFA6220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2868641" y="914496"/>
            <a:ext cx="274320" cy="274320"/>
          </a:xfrm>
          <a:prstGeom prst="rect">
            <a:avLst/>
          </a:prstGeom>
        </p:spPr>
      </p:pic>
      <p:sp>
        <p:nvSpPr>
          <p:cNvPr id="232" name="TextBox 26">
            <a:extLst>
              <a:ext uri="{FF2B5EF4-FFF2-40B4-BE49-F238E27FC236}">
                <a16:creationId xmlns:a16="http://schemas.microsoft.com/office/drawing/2014/main" id="{7C1C0D01-FD36-4527-800D-A91F8801A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8175" y="911474"/>
            <a:ext cx="104382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233" name="TextBox 26">
            <a:extLst>
              <a:ext uri="{FF2B5EF4-FFF2-40B4-BE49-F238E27FC236}">
                <a16:creationId xmlns:a16="http://schemas.microsoft.com/office/drawing/2014/main" id="{578EDCBF-F5FB-41E0-9FCE-59057EE6A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498" y="1648724"/>
            <a:ext cx="104382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1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account</a:t>
            </a:r>
          </a:p>
        </p:txBody>
      </p:sp>
      <p:cxnSp>
        <p:nvCxnSpPr>
          <p:cNvPr id="234" name="Elbow Connector 2">
            <a:extLst>
              <a:ext uri="{FF2B5EF4-FFF2-40B4-BE49-F238E27FC236}">
                <a16:creationId xmlns:a16="http://schemas.microsoft.com/office/drawing/2014/main" id="{BB8A1718-42AF-4727-9B98-88FF598548F0}"/>
              </a:ext>
            </a:extLst>
          </p:cNvPr>
          <p:cNvCxnSpPr>
            <a:cxnSpLocks/>
          </p:cNvCxnSpPr>
          <p:nvPr/>
        </p:nvCxnSpPr>
        <p:spPr>
          <a:xfrm>
            <a:off x="2333658" y="3690700"/>
            <a:ext cx="1005840" cy="548640"/>
          </a:xfrm>
          <a:prstGeom prst="bentConnector3">
            <a:avLst>
              <a:gd name="adj1" fmla="val 19289"/>
            </a:avLst>
          </a:prstGeom>
          <a:ln w="15875" cap="flat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Elbow Connector 2">
            <a:extLst>
              <a:ext uri="{FF2B5EF4-FFF2-40B4-BE49-F238E27FC236}">
                <a16:creationId xmlns:a16="http://schemas.microsoft.com/office/drawing/2014/main" id="{08F62099-18C8-4127-9C7B-29366C2706ED}"/>
              </a:ext>
            </a:extLst>
          </p:cNvPr>
          <p:cNvCxnSpPr>
            <a:cxnSpLocks/>
          </p:cNvCxnSpPr>
          <p:nvPr/>
        </p:nvCxnSpPr>
        <p:spPr>
          <a:xfrm>
            <a:off x="2326513" y="4419904"/>
            <a:ext cx="1005840" cy="0"/>
          </a:xfrm>
          <a:prstGeom prst="bentConnector3">
            <a:avLst>
              <a:gd name="adj1" fmla="val 50000"/>
            </a:avLst>
          </a:prstGeom>
          <a:ln w="12700" cap="flat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TextBox 26">
            <a:extLst>
              <a:ext uri="{FF2B5EF4-FFF2-40B4-BE49-F238E27FC236}">
                <a16:creationId xmlns:a16="http://schemas.microsoft.com/office/drawing/2014/main" id="{F2922781-F3A6-4AEE-B79B-1C3A1AD27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3729" y="1894945"/>
            <a:ext cx="123167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1000" dirty="0">
                <a:ln w="0"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VPC</a:t>
            </a:r>
          </a:p>
        </p:txBody>
      </p:sp>
      <p:sp>
        <p:nvSpPr>
          <p:cNvPr id="237" name="TextBox 26">
            <a:extLst>
              <a:ext uri="{FF2B5EF4-FFF2-40B4-BE49-F238E27FC236}">
                <a16:creationId xmlns:a16="http://schemas.microsoft.com/office/drawing/2014/main" id="{13D1199C-641C-4F89-819B-3BE9EF5F4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819" y="2219562"/>
            <a:ext cx="12316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defRPr/>
            </a:pP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sp>
        <p:nvSpPr>
          <p:cNvPr id="238" name="TextBox 11">
            <a:extLst>
              <a:ext uri="{FF2B5EF4-FFF2-40B4-BE49-F238E27FC236}">
                <a16:creationId xmlns:a16="http://schemas.microsoft.com/office/drawing/2014/main" id="{BCD4D124-147D-4B14-9364-503182FBD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2128" y="4430982"/>
            <a:ext cx="417881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WAF</a:t>
            </a:r>
          </a:p>
        </p:txBody>
      </p:sp>
      <p:cxnSp>
        <p:nvCxnSpPr>
          <p:cNvPr id="239" name="Connector: Elbow 238">
            <a:extLst>
              <a:ext uri="{FF2B5EF4-FFF2-40B4-BE49-F238E27FC236}">
                <a16:creationId xmlns:a16="http://schemas.microsoft.com/office/drawing/2014/main" id="{1BBE64BB-55C0-4A8B-8BCF-CEB75EBC43F1}"/>
              </a:ext>
            </a:extLst>
          </p:cNvPr>
          <p:cNvCxnSpPr>
            <a:cxnSpLocks/>
          </p:cNvCxnSpPr>
          <p:nvPr/>
        </p:nvCxnSpPr>
        <p:spPr>
          <a:xfrm>
            <a:off x="3679191" y="4318405"/>
            <a:ext cx="604676" cy="134596"/>
          </a:xfrm>
          <a:prstGeom prst="bentConnector3">
            <a:avLst>
              <a:gd name="adj1" fmla="val 25805"/>
            </a:avLst>
          </a:prstGeom>
          <a:ln w="12700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04304E23-584C-4122-A788-D1ACAA3203DA}"/>
              </a:ext>
            </a:extLst>
          </p:cNvPr>
          <p:cNvCxnSpPr>
            <a:cxnSpLocks/>
          </p:cNvCxnSpPr>
          <p:nvPr/>
        </p:nvCxnSpPr>
        <p:spPr>
          <a:xfrm flipV="1">
            <a:off x="4659393" y="4465158"/>
            <a:ext cx="443259" cy="0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7356BA99-7390-409C-866E-2A56A7C28574}"/>
              </a:ext>
            </a:extLst>
          </p:cNvPr>
          <p:cNvGrpSpPr/>
          <p:nvPr/>
        </p:nvGrpSpPr>
        <p:grpSpPr>
          <a:xfrm>
            <a:off x="7530516" y="942985"/>
            <a:ext cx="2315524" cy="672055"/>
            <a:chOff x="5748677" y="1199138"/>
            <a:chExt cx="2315524" cy="672055"/>
          </a:xfrm>
        </p:grpSpPr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590D5153-AA26-4863-9A6E-71DB0016B311}"/>
                </a:ext>
              </a:extLst>
            </p:cNvPr>
            <p:cNvSpPr/>
            <p:nvPr/>
          </p:nvSpPr>
          <p:spPr>
            <a:xfrm>
              <a:off x="5754711" y="1223186"/>
              <a:ext cx="2309490" cy="648007"/>
            </a:xfrm>
            <a:prstGeom prst="rect">
              <a:avLst/>
            </a:prstGeom>
            <a:noFill/>
            <a:ln w="15875">
              <a:solidFill>
                <a:srgbClr val="E715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1999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800" dirty="0">
                <a:solidFill>
                  <a:srgbClr val="CD2264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TextBox 26">
              <a:extLst>
                <a:ext uri="{FF2B5EF4-FFF2-40B4-BE49-F238E27FC236}">
                  <a16:creationId xmlns:a16="http://schemas.microsoft.com/office/drawing/2014/main" id="{A4DAB11F-AFCF-4A01-B074-5AEC5A03C8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9586" y="1199138"/>
              <a:ext cx="104382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defRPr/>
              </a:pPr>
              <a:r>
                <a:rPr lang="en-US" sz="10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AWS account</a:t>
              </a:r>
            </a:p>
          </p:txBody>
        </p:sp>
        <p:pic>
          <p:nvPicPr>
            <p:cNvPr id="248" name="Graphic 247">
              <a:extLst>
                <a:ext uri="{FF2B5EF4-FFF2-40B4-BE49-F238E27FC236}">
                  <a16:creationId xmlns:a16="http://schemas.microsoft.com/office/drawing/2014/main" id="{026E74C1-F222-4278-A552-A4276875D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5748677" y="1220370"/>
              <a:ext cx="274320" cy="274320"/>
            </a:xfrm>
            <a:prstGeom prst="rect">
              <a:avLst/>
            </a:prstGeom>
          </p:spPr>
        </p:pic>
      </p:grpSp>
      <p:pic>
        <p:nvPicPr>
          <p:cNvPr id="249" name="Graphic 248">
            <a:extLst>
              <a:ext uri="{FF2B5EF4-FFF2-40B4-BE49-F238E27FC236}">
                <a16:creationId xmlns:a16="http://schemas.microsoft.com/office/drawing/2014/main" id="{6A887F1F-C772-4A12-9CE0-2548AD4BCB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2916030" y="1667415"/>
            <a:ext cx="274320" cy="274320"/>
          </a:xfrm>
          <a:prstGeom prst="rect">
            <a:avLst/>
          </a:prstGeom>
        </p:spPr>
      </p:pic>
      <p:pic>
        <p:nvPicPr>
          <p:cNvPr id="250" name="Graphic 249">
            <a:extLst>
              <a:ext uri="{FF2B5EF4-FFF2-40B4-BE49-F238E27FC236}">
                <a16:creationId xmlns:a16="http://schemas.microsoft.com/office/drawing/2014/main" id="{118271A2-179A-468A-AFB0-5C8FED58DA0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3794105" y="1903117"/>
            <a:ext cx="274320" cy="274320"/>
          </a:xfrm>
          <a:prstGeom prst="rect">
            <a:avLst/>
          </a:prstGeom>
        </p:spPr>
      </p:pic>
      <p:pic>
        <p:nvPicPr>
          <p:cNvPr id="251" name="Graphic 250">
            <a:extLst>
              <a:ext uri="{FF2B5EF4-FFF2-40B4-BE49-F238E27FC236}">
                <a16:creationId xmlns:a16="http://schemas.microsoft.com/office/drawing/2014/main" id="{FB3303E3-8FB1-48B9-BB0D-8A72983B39F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4117705" y="2267359"/>
            <a:ext cx="182880" cy="182880"/>
          </a:xfrm>
          <a:prstGeom prst="rect">
            <a:avLst/>
          </a:prstGeom>
        </p:spPr>
      </p:pic>
      <p:pic>
        <p:nvPicPr>
          <p:cNvPr id="252" name="Graphic 251">
            <a:extLst>
              <a:ext uri="{FF2B5EF4-FFF2-40B4-BE49-F238E27FC236}">
                <a16:creationId xmlns:a16="http://schemas.microsoft.com/office/drawing/2014/main" id="{15D5F41E-2FDC-494C-AF86-98ADD92D95E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4983234" y="2390132"/>
            <a:ext cx="182880" cy="182880"/>
          </a:xfrm>
          <a:prstGeom prst="rect">
            <a:avLst/>
          </a:prstGeom>
        </p:spPr>
      </p:pic>
      <p:pic>
        <p:nvPicPr>
          <p:cNvPr id="256" name="Graphic 8">
            <a:extLst>
              <a:ext uri="{FF2B5EF4-FFF2-40B4-BE49-F238E27FC236}">
                <a16:creationId xmlns:a16="http://schemas.microsoft.com/office/drawing/2014/main" id="{A3E5734A-BF7E-4EC1-B7C8-F24E7FD2A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2950459" y="4196697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7" name="Graphic 19">
            <a:extLst>
              <a:ext uri="{FF2B5EF4-FFF2-40B4-BE49-F238E27FC236}">
                <a16:creationId xmlns:a16="http://schemas.microsoft.com/office/drawing/2014/main" id="{7738FAA5-4A06-4230-BFA7-7E6DA7B69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 bwMode="auto">
          <a:xfrm>
            <a:off x="3334904" y="4113494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Graphic 35">
            <a:extLst>
              <a:ext uri="{FF2B5EF4-FFF2-40B4-BE49-F238E27FC236}">
                <a16:creationId xmlns:a16="http://schemas.microsoft.com/office/drawing/2014/main" id="{A83C57F6-C2FF-4B11-9340-AAC74AE8D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 bwMode="auto">
          <a:xfrm>
            <a:off x="4339550" y="2554426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0" name="Graphic 17">
            <a:extLst>
              <a:ext uri="{FF2B5EF4-FFF2-40B4-BE49-F238E27FC236}">
                <a16:creationId xmlns:a16="http://schemas.microsoft.com/office/drawing/2014/main" id="{3596B868-9247-4784-9E9B-929CA5B58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 bwMode="auto">
          <a:xfrm>
            <a:off x="4343569" y="3090466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" name="Graphic 265">
            <a:extLst>
              <a:ext uri="{FF2B5EF4-FFF2-40B4-BE49-F238E27FC236}">
                <a16:creationId xmlns:a16="http://schemas.microsoft.com/office/drawing/2014/main" id="{43B3A691-2061-4B5D-9882-9D70DDAB3D8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10049792" y="1964082"/>
            <a:ext cx="274320" cy="274320"/>
          </a:xfrm>
          <a:prstGeom prst="rect">
            <a:avLst/>
          </a:prstGeom>
        </p:spPr>
      </p:pic>
      <p:pic>
        <p:nvPicPr>
          <p:cNvPr id="268" name="Graphic 6">
            <a:extLst>
              <a:ext uri="{FF2B5EF4-FFF2-40B4-BE49-F238E27FC236}">
                <a16:creationId xmlns:a16="http://schemas.microsoft.com/office/drawing/2014/main" id="{B75EF37C-8199-4C71-9A87-A570A8F18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 bwMode="auto">
          <a:xfrm>
            <a:off x="8425492" y="4966563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9" name="Graphic 23">
            <a:extLst>
              <a:ext uri="{FF2B5EF4-FFF2-40B4-BE49-F238E27FC236}">
                <a16:creationId xmlns:a16="http://schemas.microsoft.com/office/drawing/2014/main" id="{6C3DFBFA-4231-4A02-B934-BA5C4822B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 bwMode="auto">
          <a:xfrm>
            <a:off x="9237848" y="4274588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0" name="Graphic 18">
            <a:extLst>
              <a:ext uri="{FF2B5EF4-FFF2-40B4-BE49-F238E27FC236}">
                <a16:creationId xmlns:a16="http://schemas.microsoft.com/office/drawing/2014/main" id="{52F31AF6-671F-4298-AA77-E282A35CC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 bwMode="auto">
          <a:xfrm>
            <a:off x="5099831" y="2888158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4" name="Graphic 18">
            <a:extLst>
              <a:ext uri="{FF2B5EF4-FFF2-40B4-BE49-F238E27FC236}">
                <a16:creationId xmlns:a16="http://schemas.microsoft.com/office/drawing/2014/main" id="{460DEB56-13C9-480C-A76B-F17D590DF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 bwMode="auto">
          <a:xfrm>
            <a:off x="7118823" y="2519008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5" name="Graphic 274">
            <a:extLst>
              <a:ext uri="{FF2B5EF4-FFF2-40B4-BE49-F238E27FC236}">
                <a16:creationId xmlns:a16="http://schemas.microsoft.com/office/drawing/2014/main" id="{2F5277A2-78DE-4838-93D9-8DA962E93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 bwMode="auto">
          <a:xfrm>
            <a:off x="6315666" y="4734555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" name="Graphic 275">
            <a:extLst>
              <a:ext uri="{FF2B5EF4-FFF2-40B4-BE49-F238E27FC236}">
                <a16:creationId xmlns:a16="http://schemas.microsoft.com/office/drawing/2014/main" id="{9D364949-8975-4E51-B3CC-6303E8011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 bwMode="auto">
          <a:xfrm>
            <a:off x="6316037" y="3644329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7" name="Graphic 276">
            <a:extLst>
              <a:ext uri="{FF2B5EF4-FFF2-40B4-BE49-F238E27FC236}">
                <a16:creationId xmlns:a16="http://schemas.microsoft.com/office/drawing/2014/main" id="{29421C4F-4F63-4240-8325-1CA67B364742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252220" y="5438182"/>
            <a:ext cx="365760" cy="365760"/>
          </a:xfrm>
          <a:prstGeom prst="rect">
            <a:avLst/>
          </a:prstGeom>
        </p:spPr>
      </p:pic>
      <p:grpSp>
        <p:nvGrpSpPr>
          <p:cNvPr id="281" name="Group 280">
            <a:extLst>
              <a:ext uri="{FF2B5EF4-FFF2-40B4-BE49-F238E27FC236}">
                <a16:creationId xmlns:a16="http://schemas.microsoft.com/office/drawing/2014/main" id="{C6C21598-8267-4D6C-A83C-59D45CC5F8DE}"/>
              </a:ext>
            </a:extLst>
          </p:cNvPr>
          <p:cNvGrpSpPr/>
          <p:nvPr/>
        </p:nvGrpSpPr>
        <p:grpSpPr>
          <a:xfrm>
            <a:off x="8699990" y="1013037"/>
            <a:ext cx="1172910" cy="492443"/>
            <a:chOff x="6960151" y="1308357"/>
            <a:chExt cx="1172910" cy="492443"/>
          </a:xfrm>
        </p:grpSpPr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BC71EF5C-577D-4035-87ED-2D75FC5B9649}"/>
                </a:ext>
              </a:extLst>
            </p:cNvPr>
            <p:cNvSpPr/>
            <p:nvPr/>
          </p:nvSpPr>
          <p:spPr>
            <a:xfrm>
              <a:off x="6962900" y="1330112"/>
              <a:ext cx="1064093" cy="469043"/>
            </a:xfrm>
            <a:prstGeom prst="rect">
              <a:avLst/>
            </a:prstGeom>
            <a:noFill/>
            <a:ln w="12700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1999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800" dirty="0">
                <a:ln w="0"/>
                <a:solidFill>
                  <a:srgbClr val="8C4FF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85" name="Graphic 284">
              <a:extLst>
                <a:ext uri="{FF2B5EF4-FFF2-40B4-BE49-F238E27FC236}">
                  <a16:creationId xmlns:a16="http://schemas.microsoft.com/office/drawing/2014/main" id="{96AB05C6-5412-4AE1-8E2B-392448F9C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>
              <a:off x="6960151" y="1324760"/>
              <a:ext cx="182880" cy="182880"/>
            </a:xfrm>
            <a:prstGeom prst="rect">
              <a:avLst/>
            </a:prstGeom>
          </p:spPr>
        </p:pic>
        <p:sp>
          <p:nvSpPr>
            <p:cNvPr id="286" name="TextBox 26">
              <a:extLst>
                <a:ext uri="{FF2B5EF4-FFF2-40B4-BE49-F238E27FC236}">
                  <a16:creationId xmlns:a16="http://schemas.microsoft.com/office/drawing/2014/main" id="{45CA1C39-FADB-486F-A530-A764F8442D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2673" y="1308357"/>
              <a:ext cx="1050388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defRPr/>
              </a:pPr>
              <a:r>
                <a:rPr lang="en-US" sz="800" dirty="0">
                  <a:ln w="0"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VPC</a:t>
              </a:r>
              <a:br>
                <a:rPr lang="en-US" sz="800" dirty="0">
                  <a:ln w="0"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sz="800" i="1" dirty="0">
                  <a:ln w="0"/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</a:t>
              </a:r>
              <a:r>
                <a:rPr lang="en-US" altLang="en-US" sz="800" i="1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nalytics platform</a:t>
              </a:r>
            </a:p>
            <a:p>
              <a:pPr>
                <a:defRPr/>
              </a:pPr>
              <a:endParaRPr lang="en-US" sz="1000" dirty="0">
                <a:ln w="0"/>
                <a:solidFill>
                  <a:srgbClr val="8C4FF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30BF1DCA-5F93-4C7F-8000-218B8A58385B}"/>
              </a:ext>
            </a:extLst>
          </p:cNvPr>
          <p:cNvGrpSpPr/>
          <p:nvPr/>
        </p:nvGrpSpPr>
        <p:grpSpPr>
          <a:xfrm>
            <a:off x="9474164" y="1316122"/>
            <a:ext cx="274320" cy="274320"/>
            <a:chOff x="9280567" y="1794094"/>
            <a:chExt cx="274320" cy="274320"/>
          </a:xfrm>
        </p:grpSpPr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F6A5BC10-270D-46C7-A303-4806FBCC902F}"/>
                </a:ext>
              </a:extLst>
            </p:cNvPr>
            <p:cNvSpPr/>
            <p:nvPr/>
          </p:nvSpPr>
          <p:spPr>
            <a:xfrm>
              <a:off x="9296401" y="1803372"/>
              <a:ext cx="234790" cy="2534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92" name="Graphic 291">
              <a:extLst>
                <a:ext uri="{FF2B5EF4-FFF2-40B4-BE49-F238E27FC236}">
                  <a16:creationId xmlns:a16="http://schemas.microsoft.com/office/drawing/2014/main" id="{D75FAE29-3532-4CAB-BD9C-30D2C43AC1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9280567" y="1794094"/>
              <a:ext cx="274320" cy="274320"/>
            </a:xfrm>
            <a:prstGeom prst="rect">
              <a:avLst/>
            </a:prstGeom>
          </p:spPr>
        </p:pic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EE9477A8-6A4B-49BC-99B1-70743E8D6A09}"/>
              </a:ext>
            </a:extLst>
          </p:cNvPr>
          <p:cNvGrpSpPr/>
          <p:nvPr/>
        </p:nvGrpSpPr>
        <p:grpSpPr>
          <a:xfrm>
            <a:off x="8557318" y="1220894"/>
            <a:ext cx="274320" cy="274320"/>
            <a:chOff x="9280567" y="1794094"/>
            <a:chExt cx="274320" cy="274320"/>
          </a:xfrm>
        </p:grpSpPr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B3DDBE25-13E8-49E3-964B-205F59F5C475}"/>
                </a:ext>
              </a:extLst>
            </p:cNvPr>
            <p:cNvSpPr/>
            <p:nvPr/>
          </p:nvSpPr>
          <p:spPr>
            <a:xfrm>
              <a:off x="9296401" y="1803372"/>
              <a:ext cx="234790" cy="2534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95" name="Graphic 294">
              <a:extLst>
                <a:ext uri="{FF2B5EF4-FFF2-40B4-BE49-F238E27FC236}">
                  <a16:creationId xmlns:a16="http://schemas.microsoft.com/office/drawing/2014/main" id="{3C5ABB29-BCCD-4737-95B1-2E00C0EE3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9280567" y="1794094"/>
              <a:ext cx="274320" cy="274320"/>
            </a:xfrm>
            <a:prstGeom prst="rect">
              <a:avLst/>
            </a:prstGeom>
          </p:spPr>
        </p:pic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2379F294-33A1-4128-BD1A-CEDB1D7385B8}"/>
              </a:ext>
            </a:extLst>
          </p:cNvPr>
          <p:cNvGrpSpPr/>
          <p:nvPr/>
        </p:nvGrpSpPr>
        <p:grpSpPr>
          <a:xfrm>
            <a:off x="5148038" y="3315716"/>
            <a:ext cx="887705" cy="610020"/>
            <a:chOff x="3375103" y="3875181"/>
            <a:chExt cx="887705" cy="610020"/>
          </a:xfrm>
        </p:grpSpPr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FBCAA6DE-3C05-480E-BD59-8A9C99E7C7F7}"/>
                </a:ext>
              </a:extLst>
            </p:cNvPr>
            <p:cNvSpPr/>
            <p:nvPr/>
          </p:nvSpPr>
          <p:spPr>
            <a:xfrm>
              <a:off x="3375103" y="4132477"/>
              <a:ext cx="887705" cy="352724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player account management</a:t>
              </a:r>
            </a:p>
          </p:txBody>
        </p: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88278EC1-38F6-4D0E-A172-9FBCEB313436}"/>
                </a:ext>
              </a:extLst>
            </p:cNvPr>
            <p:cNvGrpSpPr/>
            <p:nvPr/>
          </p:nvGrpSpPr>
          <p:grpSpPr>
            <a:xfrm>
              <a:off x="3603930" y="3875181"/>
              <a:ext cx="384445" cy="323148"/>
              <a:chOff x="3543296" y="3794345"/>
              <a:chExt cx="384445" cy="323148"/>
            </a:xfrm>
          </p:grpSpPr>
          <p:grpSp>
            <p:nvGrpSpPr>
              <p:cNvPr id="299" name="Group 298">
                <a:extLst>
                  <a:ext uri="{FF2B5EF4-FFF2-40B4-BE49-F238E27FC236}">
                    <a16:creationId xmlns:a16="http://schemas.microsoft.com/office/drawing/2014/main" id="{EF517EF7-BFAF-4A57-9033-350F61560BC6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303" name="Rectangle 302">
                  <a:extLst>
                    <a:ext uri="{FF2B5EF4-FFF2-40B4-BE49-F238E27FC236}">
                      <a16:creationId xmlns:a16="http://schemas.microsoft.com/office/drawing/2014/main" id="{440930E9-06FB-46D3-86C9-AC52C31E4159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04" name="Graphic 303">
                  <a:extLst>
                    <a:ext uri="{FF2B5EF4-FFF2-40B4-BE49-F238E27FC236}">
                      <a16:creationId xmlns:a16="http://schemas.microsoft.com/office/drawing/2014/main" id="{61E6C91D-2F00-4AE6-B53E-0AD0D49518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1">
                  <a:extLst>
                    <a:ext uri="{96DAC541-7B7A-43D3-8B79-37D633B846F1}">
                      <asvg:svgBlip xmlns:asvg="http://schemas.microsoft.com/office/drawing/2016/SVG/main" r:embed="rId4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300" name="Group 299">
                <a:extLst>
                  <a:ext uri="{FF2B5EF4-FFF2-40B4-BE49-F238E27FC236}">
                    <a16:creationId xmlns:a16="http://schemas.microsoft.com/office/drawing/2014/main" id="{54B94EA6-756E-4902-A3EA-364AC61DDB67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301" name="Rectangle 300">
                  <a:extLst>
                    <a:ext uri="{FF2B5EF4-FFF2-40B4-BE49-F238E27FC236}">
                      <a16:creationId xmlns:a16="http://schemas.microsoft.com/office/drawing/2014/main" id="{FAB1773E-4D1E-4E89-85B6-54A56B0694F1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02" name="Graphic 301">
                  <a:extLst>
                    <a:ext uri="{FF2B5EF4-FFF2-40B4-BE49-F238E27FC236}">
                      <a16:creationId xmlns:a16="http://schemas.microsoft.com/office/drawing/2014/main" id="{601E5951-217B-46D1-B7CD-1E6E34F098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1">
                  <a:extLst>
                    <a:ext uri="{96DAC541-7B7A-43D3-8B79-37D633B846F1}">
                      <asvg:svgBlip xmlns:asvg="http://schemas.microsoft.com/office/drawing/2016/SVG/main" r:embed="rId4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B3EC823F-426F-4571-9D25-0FA447D76955}"/>
              </a:ext>
            </a:extLst>
          </p:cNvPr>
          <p:cNvGrpSpPr/>
          <p:nvPr/>
        </p:nvGrpSpPr>
        <p:grpSpPr>
          <a:xfrm>
            <a:off x="5413278" y="3869715"/>
            <a:ext cx="384445" cy="323148"/>
            <a:chOff x="3543296" y="3794345"/>
            <a:chExt cx="384445" cy="323148"/>
          </a:xfrm>
        </p:grpSpPr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2C269BAB-0980-4040-975E-DE6CC39E2131}"/>
                </a:ext>
              </a:extLst>
            </p:cNvPr>
            <p:cNvGrpSpPr/>
            <p:nvPr/>
          </p:nvGrpSpPr>
          <p:grpSpPr>
            <a:xfrm>
              <a:off x="3543296" y="3794345"/>
              <a:ext cx="274320" cy="274320"/>
              <a:chOff x="3561263" y="3922172"/>
              <a:chExt cx="274320" cy="274320"/>
            </a:xfrm>
          </p:grpSpPr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447528B8-A5B6-4BF9-90E6-0B36DFB49D33}"/>
                  </a:ext>
                </a:extLst>
              </p:cNvPr>
              <p:cNvSpPr/>
              <p:nvPr/>
            </p:nvSpPr>
            <p:spPr>
              <a:xfrm>
                <a:off x="3584768" y="3994547"/>
                <a:ext cx="245164" cy="153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1" name="Graphic 310">
                <a:extLst>
                  <a:ext uri="{FF2B5EF4-FFF2-40B4-BE49-F238E27FC236}">
                    <a16:creationId xmlns:a16="http://schemas.microsoft.com/office/drawing/2014/main" id="{5831DCA6-67E7-4520-8533-2ECA2EC85E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1">
                <a:extLst>
                  <a:ext uri="{96DAC541-7B7A-43D3-8B79-37D633B846F1}">
                    <asvg:svgBlip xmlns:asvg="http://schemas.microsoft.com/office/drawing/2016/SVG/main" r:embed="rId42"/>
                  </a:ext>
                </a:extLst>
              </a:blip>
              <a:stretch>
                <a:fillRect/>
              </a:stretch>
            </p:blipFill>
            <p:spPr>
              <a:xfrm>
                <a:off x="3561263" y="3922172"/>
                <a:ext cx="274320" cy="274320"/>
              </a:xfrm>
              <a:prstGeom prst="rect">
                <a:avLst/>
              </a:prstGeom>
            </p:spPr>
          </p:pic>
        </p:grpSp>
        <p:grpSp>
          <p:nvGrpSpPr>
            <p:cNvPr id="307" name="Group 306">
              <a:extLst>
                <a:ext uri="{FF2B5EF4-FFF2-40B4-BE49-F238E27FC236}">
                  <a16:creationId xmlns:a16="http://schemas.microsoft.com/office/drawing/2014/main" id="{99A6CFCB-352B-40E5-AE61-D55882FC3751}"/>
                </a:ext>
              </a:extLst>
            </p:cNvPr>
            <p:cNvGrpSpPr/>
            <p:nvPr/>
          </p:nvGrpSpPr>
          <p:grpSpPr>
            <a:xfrm>
              <a:off x="3653421" y="3843173"/>
              <a:ext cx="274320" cy="274320"/>
              <a:chOff x="3561263" y="3922172"/>
              <a:chExt cx="274320" cy="274320"/>
            </a:xfrm>
          </p:grpSpPr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D66164F5-1BF9-4B9B-9377-1912069990C9}"/>
                  </a:ext>
                </a:extLst>
              </p:cNvPr>
              <p:cNvSpPr/>
              <p:nvPr/>
            </p:nvSpPr>
            <p:spPr>
              <a:xfrm>
                <a:off x="3584768" y="3994547"/>
                <a:ext cx="245164" cy="153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09" name="Graphic 308">
                <a:extLst>
                  <a:ext uri="{FF2B5EF4-FFF2-40B4-BE49-F238E27FC236}">
                    <a16:creationId xmlns:a16="http://schemas.microsoft.com/office/drawing/2014/main" id="{C0C86F7E-7CCC-4B22-B68E-55F3EE16C1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1">
                <a:extLst>
                  <a:ext uri="{96DAC541-7B7A-43D3-8B79-37D633B846F1}">
                    <asvg:svgBlip xmlns:asvg="http://schemas.microsoft.com/office/drawing/2016/SVG/main" r:embed="rId42"/>
                  </a:ext>
                </a:extLst>
              </a:blip>
              <a:stretch>
                <a:fillRect/>
              </a:stretch>
            </p:blipFill>
            <p:spPr>
              <a:xfrm>
                <a:off x="3561263" y="3922172"/>
                <a:ext cx="274320" cy="274320"/>
              </a:xfrm>
              <a:prstGeom prst="rect">
                <a:avLst/>
              </a:prstGeom>
            </p:spPr>
          </p:pic>
        </p:grp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2AE5E0E9-86D5-4893-86B2-4DA5B7F25707}"/>
              </a:ext>
            </a:extLst>
          </p:cNvPr>
          <p:cNvGrpSpPr/>
          <p:nvPr/>
        </p:nvGrpSpPr>
        <p:grpSpPr>
          <a:xfrm>
            <a:off x="5403479" y="4551112"/>
            <a:ext cx="384445" cy="323148"/>
            <a:chOff x="3543296" y="3794345"/>
            <a:chExt cx="384445" cy="323148"/>
          </a:xfrm>
        </p:grpSpPr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18F61387-4585-44D4-94A7-20B8D348E334}"/>
                </a:ext>
              </a:extLst>
            </p:cNvPr>
            <p:cNvGrpSpPr/>
            <p:nvPr/>
          </p:nvGrpSpPr>
          <p:grpSpPr>
            <a:xfrm>
              <a:off x="3543296" y="3794345"/>
              <a:ext cx="274320" cy="274320"/>
              <a:chOff x="3561263" y="3922172"/>
              <a:chExt cx="274320" cy="274320"/>
            </a:xfrm>
          </p:grpSpPr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492C5DE9-F365-4147-BE22-6E53F54591BD}"/>
                  </a:ext>
                </a:extLst>
              </p:cNvPr>
              <p:cNvSpPr/>
              <p:nvPr/>
            </p:nvSpPr>
            <p:spPr>
              <a:xfrm>
                <a:off x="3584768" y="3994547"/>
                <a:ext cx="245164" cy="153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8" name="Graphic 317">
                <a:extLst>
                  <a:ext uri="{FF2B5EF4-FFF2-40B4-BE49-F238E27FC236}">
                    <a16:creationId xmlns:a16="http://schemas.microsoft.com/office/drawing/2014/main" id="{708FA139-6468-4889-96D0-CCFBD9CF01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1">
                <a:extLst>
                  <a:ext uri="{96DAC541-7B7A-43D3-8B79-37D633B846F1}">
                    <asvg:svgBlip xmlns:asvg="http://schemas.microsoft.com/office/drawing/2016/SVG/main" r:embed="rId42"/>
                  </a:ext>
                </a:extLst>
              </a:blip>
              <a:stretch>
                <a:fillRect/>
              </a:stretch>
            </p:blipFill>
            <p:spPr>
              <a:xfrm>
                <a:off x="3561263" y="3922172"/>
                <a:ext cx="274320" cy="274320"/>
              </a:xfrm>
              <a:prstGeom prst="rect">
                <a:avLst/>
              </a:prstGeom>
            </p:spPr>
          </p:pic>
        </p:grp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C51D1E68-526D-4426-83C8-A4B4BDEF69BA}"/>
                </a:ext>
              </a:extLst>
            </p:cNvPr>
            <p:cNvGrpSpPr/>
            <p:nvPr/>
          </p:nvGrpSpPr>
          <p:grpSpPr>
            <a:xfrm>
              <a:off x="3653421" y="3843173"/>
              <a:ext cx="274320" cy="274320"/>
              <a:chOff x="3561263" y="3922172"/>
              <a:chExt cx="274320" cy="274320"/>
            </a:xfrm>
          </p:grpSpPr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93A6A32C-B7FB-4C44-A91E-68F4D4CE93A7}"/>
                  </a:ext>
                </a:extLst>
              </p:cNvPr>
              <p:cNvSpPr/>
              <p:nvPr/>
            </p:nvSpPr>
            <p:spPr>
              <a:xfrm>
                <a:off x="3584768" y="3994547"/>
                <a:ext cx="245164" cy="1535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6" name="Graphic 315">
                <a:extLst>
                  <a:ext uri="{FF2B5EF4-FFF2-40B4-BE49-F238E27FC236}">
                    <a16:creationId xmlns:a16="http://schemas.microsoft.com/office/drawing/2014/main" id="{EC4B41E8-B82F-4B21-9682-4BAC4B9B23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1">
                <a:extLst>
                  <a:ext uri="{96DAC541-7B7A-43D3-8B79-37D633B846F1}">
                    <asvg:svgBlip xmlns:asvg="http://schemas.microsoft.com/office/drawing/2016/SVG/main" r:embed="rId42"/>
                  </a:ext>
                </a:extLst>
              </a:blip>
              <a:stretch>
                <a:fillRect/>
              </a:stretch>
            </p:blipFill>
            <p:spPr>
              <a:xfrm>
                <a:off x="3561263" y="3922172"/>
                <a:ext cx="274320" cy="274320"/>
              </a:xfrm>
              <a:prstGeom prst="rect">
                <a:avLst/>
              </a:prstGeom>
            </p:spPr>
          </p:pic>
        </p:grpSp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F10AB111-F11B-4B0F-A4E7-0BDAC7B24DBB}"/>
              </a:ext>
            </a:extLst>
          </p:cNvPr>
          <p:cNvGrpSpPr/>
          <p:nvPr/>
        </p:nvGrpSpPr>
        <p:grpSpPr>
          <a:xfrm>
            <a:off x="7305919" y="2919229"/>
            <a:ext cx="814704" cy="467732"/>
            <a:chOff x="5491006" y="3466079"/>
            <a:chExt cx="814704" cy="467732"/>
          </a:xfrm>
        </p:grpSpPr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FEE8EA41-757A-4633-8AB3-C427194ED183}"/>
                </a:ext>
              </a:extLst>
            </p:cNvPr>
            <p:cNvSpPr/>
            <p:nvPr/>
          </p:nvSpPr>
          <p:spPr>
            <a:xfrm>
              <a:off x="5491006" y="3734132"/>
              <a:ext cx="814704" cy="199679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management tools</a:t>
              </a:r>
            </a:p>
          </p:txBody>
        </p: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0BBD6CCD-6E65-4E37-9932-4900297ABCB3}"/>
                </a:ext>
              </a:extLst>
            </p:cNvPr>
            <p:cNvGrpSpPr/>
            <p:nvPr/>
          </p:nvGrpSpPr>
          <p:grpSpPr>
            <a:xfrm>
              <a:off x="5682966" y="3466079"/>
              <a:ext cx="384445" cy="323148"/>
              <a:chOff x="3543296" y="3794345"/>
              <a:chExt cx="384445" cy="323148"/>
            </a:xfrm>
          </p:grpSpPr>
          <p:grpSp>
            <p:nvGrpSpPr>
              <p:cNvPr id="323" name="Group 322">
                <a:extLst>
                  <a:ext uri="{FF2B5EF4-FFF2-40B4-BE49-F238E27FC236}">
                    <a16:creationId xmlns:a16="http://schemas.microsoft.com/office/drawing/2014/main" id="{EC860906-BCC1-4A5D-B2E3-F339A2052198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327" name="Rectangle 326">
                  <a:extLst>
                    <a:ext uri="{FF2B5EF4-FFF2-40B4-BE49-F238E27FC236}">
                      <a16:creationId xmlns:a16="http://schemas.microsoft.com/office/drawing/2014/main" id="{241FFD75-B6EC-4D85-A0A0-BC56C7151A5F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28" name="Graphic 327">
                  <a:extLst>
                    <a:ext uri="{FF2B5EF4-FFF2-40B4-BE49-F238E27FC236}">
                      <a16:creationId xmlns:a16="http://schemas.microsoft.com/office/drawing/2014/main" id="{757F925C-51FF-4F83-BDBC-B60EEBA5B6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1">
                  <a:extLst>
                    <a:ext uri="{96DAC541-7B7A-43D3-8B79-37D633B846F1}">
                      <asvg:svgBlip xmlns:asvg="http://schemas.microsoft.com/office/drawing/2016/SVG/main" r:embed="rId4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324" name="Group 323">
                <a:extLst>
                  <a:ext uri="{FF2B5EF4-FFF2-40B4-BE49-F238E27FC236}">
                    <a16:creationId xmlns:a16="http://schemas.microsoft.com/office/drawing/2014/main" id="{2E661195-E91D-4110-8E1C-A506AE059265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325" name="Rectangle 324">
                  <a:extLst>
                    <a:ext uri="{FF2B5EF4-FFF2-40B4-BE49-F238E27FC236}">
                      <a16:creationId xmlns:a16="http://schemas.microsoft.com/office/drawing/2014/main" id="{CDB1870C-D5E3-4681-BA58-C20FBD4E2DE8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26" name="Graphic 325">
                  <a:extLst>
                    <a:ext uri="{FF2B5EF4-FFF2-40B4-BE49-F238E27FC236}">
                      <a16:creationId xmlns:a16="http://schemas.microsoft.com/office/drawing/2014/main" id="{43EB6695-8191-4B4C-A619-F4EC4B6262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1">
                  <a:extLst>
                    <a:ext uri="{96DAC541-7B7A-43D3-8B79-37D633B846F1}">
                      <asvg:svgBlip xmlns:asvg="http://schemas.microsoft.com/office/drawing/2016/SVG/main" r:embed="rId4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23D53BE3-F637-499B-A3F2-2FD2B6893B5B}"/>
              </a:ext>
            </a:extLst>
          </p:cNvPr>
          <p:cNvGrpSpPr/>
          <p:nvPr/>
        </p:nvGrpSpPr>
        <p:grpSpPr>
          <a:xfrm>
            <a:off x="7266250" y="3410965"/>
            <a:ext cx="785299" cy="482257"/>
            <a:chOff x="5459146" y="3869275"/>
            <a:chExt cx="785299" cy="482257"/>
          </a:xfrm>
        </p:grpSpPr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F14400A2-3EFB-4DE0-9F81-B6E874F53902}"/>
                </a:ext>
              </a:extLst>
            </p:cNvPr>
            <p:cNvSpPr/>
            <p:nvPr/>
          </p:nvSpPr>
          <p:spPr>
            <a:xfrm>
              <a:off x="5459146" y="4174393"/>
              <a:ext cx="785299" cy="177139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odds engine</a:t>
              </a:r>
            </a:p>
          </p:txBody>
        </p:sp>
        <p:grpSp>
          <p:nvGrpSpPr>
            <p:cNvPr id="331" name="Group 330">
              <a:extLst>
                <a:ext uri="{FF2B5EF4-FFF2-40B4-BE49-F238E27FC236}">
                  <a16:creationId xmlns:a16="http://schemas.microsoft.com/office/drawing/2014/main" id="{C8B2B1C7-489B-44AF-A2DB-BD470673A9AE}"/>
                </a:ext>
              </a:extLst>
            </p:cNvPr>
            <p:cNvGrpSpPr/>
            <p:nvPr/>
          </p:nvGrpSpPr>
          <p:grpSpPr>
            <a:xfrm>
              <a:off x="5670917" y="3869275"/>
              <a:ext cx="384445" cy="323148"/>
              <a:chOff x="3543296" y="3794345"/>
              <a:chExt cx="384445" cy="323148"/>
            </a:xfrm>
          </p:grpSpPr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366E6EAA-38F3-4AD9-8EE7-B841767F6543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336" name="Rectangle 335">
                  <a:extLst>
                    <a:ext uri="{FF2B5EF4-FFF2-40B4-BE49-F238E27FC236}">
                      <a16:creationId xmlns:a16="http://schemas.microsoft.com/office/drawing/2014/main" id="{C2942493-232A-4992-B012-78EB57532A6A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37" name="Graphic 336">
                  <a:extLst>
                    <a:ext uri="{FF2B5EF4-FFF2-40B4-BE49-F238E27FC236}">
                      <a16:creationId xmlns:a16="http://schemas.microsoft.com/office/drawing/2014/main" id="{582AB842-E629-4D2F-9499-5D31B2BBC0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1">
                  <a:extLst>
                    <a:ext uri="{96DAC541-7B7A-43D3-8B79-37D633B846F1}">
                      <asvg:svgBlip xmlns:asvg="http://schemas.microsoft.com/office/drawing/2016/SVG/main" r:embed="rId4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333" name="Group 332">
                <a:extLst>
                  <a:ext uri="{FF2B5EF4-FFF2-40B4-BE49-F238E27FC236}">
                    <a16:creationId xmlns:a16="http://schemas.microsoft.com/office/drawing/2014/main" id="{2C9754A1-8220-48CD-B6E5-9AC3C67C73FD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334" name="Rectangle 333">
                  <a:extLst>
                    <a:ext uri="{FF2B5EF4-FFF2-40B4-BE49-F238E27FC236}">
                      <a16:creationId xmlns:a16="http://schemas.microsoft.com/office/drawing/2014/main" id="{730F6FF7-7584-4C47-A046-CE87194CB35F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35" name="Graphic 334">
                  <a:extLst>
                    <a:ext uri="{FF2B5EF4-FFF2-40B4-BE49-F238E27FC236}">
                      <a16:creationId xmlns:a16="http://schemas.microsoft.com/office/drawing/2014/main" id="{6D682D8F-C4EB-4EE8-9E09-7F40374EF4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1">
                  <a:extLst>
                    <a:ext uri="{96DAC541-7B7A-43D3-8B79-37D633B846F1}">
                      <asvg:svgBlip xmlns:asvg="http://schemas.microsoft.com/office/drawing/2016/SVG/main" r:embed="rId4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0BE41AF1-E949-4909-9664-592B70655A07}"/>
              </a:ext>
            </a:extLst>
          </p:cNvPr>
          <p:cNvGrpSpPr/>
          <p:nvPr/>
        </p:nvGrpSpPr>
        <p:grpSpPr>
          <a:xfrm>
            <a:off x="7310376" y="3927554"/>
            <a:ext cx="686243" cy="423118"/>
            <a:chOff x="5495449" y="4377704"/>
            <a:chExt cx="686243" cy="423118"/>
          </a:xfrm>
        </p:grpSpPr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3DDBFCDF-9AD4-4983-B018-C2A07C5E848A}"/>
                </a:ext>
              </a:extLst>
            </p:cNvPr>
            <p:cNvSpPr/>
            <p:nvPr/>
          </p:nvSpPr>
          <p:spPr>
            <a:xfrm>
              <a:off x="5495449" y="4635456"/>
              <a:ext cx="686243" cy="165366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risk/fraud</a:t>
              </a:r>
            </a:p>
          </p:txBody>
        </p:sp>
        <p:grpSp>
          <p:nvGrpSpPr>
            <p:cNvPr id="340" name="Group 339">
              <a:extLst>
                <a:ext uri="{FF2B5EF4-FFF2-40B4-BE49-F238E27FC236}">
                  <a16:creationId xmlns:a16="http://schemas.microsoft.com/office/drawing/2014/main" id="{AD3CC35D-2AE1-4029-8BF2-856FE918A740}"/>
                </a:ext>
              </a:extLst>
            </p:cNvPr>
            <p:cNvGrpSpPr/>
            <p:nvPr/>
          </p:nvGrpSpPr>
          <p:grpSpPr>
            <a:xfrm>
              <a:off x="5650369" y="4377704"/>
              <a:ext cx="384445" cy="323148"/>
              <a:chOff x="3543296" y="3794345"/>
              <a:chExt cx="384445" cy="323148"/>
            </a:xfrm>
          </p:grpSpPr>
          <p:grpSp>
            <p:nvGrpSpPr>
              <p:cNvPr id="341" name="Group 340">
                <a:extLst>
                  <a:ext uri="{FF2B5EF4-FFF2-40B4-BE49-F238E27FC236}">
                    <a16:creationId xmlns:a16="http://schemas.microsoft.com/office/drawing/2014/main" id="{4B6CA62E-5EB7-4AF5-807D-7F4011EC8F40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345" name="Rectangle 344">
                  <a:extLst>
                    <a:ext uri="{FF2B5EF4-FFF2-40B4-BE49-F238E27FC236}">
                      <a16:creationId xmlns:a16="http://schemas.microsoft.com/office/drawing/2014/main" id="{20BAEDE7-2DCF-4970-81F5-847E659C71E9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46" name="Graphic 345">
                  <a:extLst>
                    <a:ext uri="{FF2B5EF4-FFF2-40B4-BE49-F238E27FC236}">
                      <a16:creationId xmlns:a16="http://schemas.microsoft.com/office/drawing/2014/main" id="{4364337B-DBF4-46CD-BB00-6F94922634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1">
                  <a:extLst>
                    <a:ext uri="{96DAC541-7B7A-43D3-8B79-37D633B846F1}">
                      <asvg:svgBlip xmlns:asvg="http://schemas.microsoft.com/office/drawing/2016/SVG/main" r:embed="rId4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342" name="Group 341">
                <a:extLst>
                  <a:ext uri="{FF2B5EF4-FFF2-40B4-BE49-F238E27FC236}">
                    <a16:creationId xmlns:a16="http://schemas.microsoft.com/office/drawing/2014/main" id="{5192F836-9948-439D-AA2C-5DA96FA37DFB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343" name="Rectangle 342">
                  <a:extLst>
                    <a:ext uri="{FF2B5EF4-FFF2-40B4-BE49-F238E27FC236}">
                      <a16:creationId xmlns:a16="http://schemas.microsoft.com/office/drawing/2014/main" id="{47FA7035-3D65-4D85-868D-E61A959197F6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44" name="Graphic 343">
                  <a:extLst>
                    <a:ext uri="{FF2B5EF4-FFF2-40B4-BE49-F238E27FC236}">
                      <a16:creationId xmlns:a16="http://schemas.microsoft.com/office/drawing/2014/main" id="{56A08E25-4125-4ED3-B434-1854502BF3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1">
                  <a:extLst>
                    <a:ext uri="{96DAC541-7B7A-43D3-8B79-37D633B846F1}">
                      <asvg:svgBlip xmlns:asvg="http://schemas.microsoft.com/office/drawing/2016/SVG/main" r:embed="rId4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AF419826-E152-4DA8-B01B-9F194B2ACB89}"/>
              </a:ext>
            </a:extLst>
          </p:cNvPr>
          <p:cNvGrpSpPr/>
          <p:nvPr/>
        </p:nvGrpSpPr>
        <p:grpSpPr>
          <a:xfrm>
            <a:off x="7385907" y="4596353"/>
            <a:ext cx="544991" cy="452825"/>
            <a:chOff x="5571128" y="4780575"/>
            <a:chExt cx="544991" cy="452825"/>
          </a:xfrm>
        </p:grpSpPr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B2002621-94A1-46C7-8E01-AA5909A95487}"/>
                </a:ext>
              </a:extLst>
            </p:cNvPr>
            <p:cNvSpPr/>
            <p:nvPr/>
          </p:nvSpPr>
          <p:spPr>
            <a:xfrm>
              <a:off x="5571128" y="5066388"/>
              <a:ext cx="544991" cy="167012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promo</a:t>
              </a:r>
            </a:p>
          </p:txBody>
        </p:sp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id="{28A52858-EA78-43E0-9035-8D88AE91BC9D}"/>
                </a:ext>
              </a:extLst>
            </p:cNvPr>
            <p:cNvGrpSpPr/>
            <p:nvPr/>
          </p:nvGrpSpPr>
          <p:grpSpPr>
            <a:xfrm>
              <a:off x="5639521" y="4780575"/>
              <a:ext cx="384445" cy="323148"/>
              <a:chOff x="3543296" y="3794345"/>
              <a:chExt cx="384445" cy="323148"/>
            </a:xfrm>
          </p:grpSpPr>
          <p:grpSp>
            <p:nvGrpSpPr>
              <p:cNvPr id="350" name="Group 349">
                <a:extLst>
                  <a:ext uri="{FF2B5EF4-FFF2-40B4-BE49-F238E27FC236}">
                    <a16:creationId xmlns:a16="http://schemas.microsoft.com/office/drawing/2014/main" id="{8CB18833-29C5-4A75-B61E-7DD08DC4842E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354" name="Rectangle 353">
                  <a:extLst>
                    <a:ext uri="{FF2B5EF4-FFF2-40B4-BE49-F238E27FC236}">
                      <a16:creationId xmlns:a16="http://schemas.microsoft.com/office/drawing/2014/main" id="{FC197D19-E03A-4E86-82BA-A800E5443F69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55" name="Graphic 354">
                  <a:extLst>
                    <a:ext uri="{FF2B5EF4-FFF2-40B4-BE49-F238E27FC236}">
                      <a16:creationId xmlns:a16="http://schemas.microsoft.com/office/drawing/2014/main" id="{C93DB040-AF9D-48F8-93C6-F88F037C20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1">
                  <a:extLst>
                    <a:ext uri="{96DAC541-7B7A-43D3-8B79-37D633B846F1}">
                      <asvg:svgBlip xmlns:asvg="http://schemas.microsoft.com/office/drawing/2016/SVG/main" r:embed="rId4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03FF053E-22BD-45F0-96A9-F19609ED35A0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352" name="Rectangle 351">
                  <a:extLst>
                    <a:ext uri="{FF2B5EF4-FFF2-40B4-BE49-F238E27FC236}">
                      <a16:creationId xmlns:a16="http://schemas.microsoft.com/office/drawing/2014/main" id="{7EAABE51-EEB7-4ECF-AD6E-31D64A13BACF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53" name="Graphic 352">
                  <a:extLst>
                    <a:ext uri="{FF2B5EF4-FFF2-40B4-BE49-F238E27FC236}">
                      <a16:creationId xmlns:a16="http://schemas.microsoft.com/office/drawing/2014/main" id="{6034A08B-A443-477A-B781-21D7E0338F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1">
                  <a:extLst>
                    <a:ext uri="{96DAC541-7B7A-43D3-8B79-37D633B846F1}">
                      <asvg:svgBlip xmlns:asvg="http://schemas.microsoft.com/office/drawing/2016/SVG/main" r:embed="rId4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711684C2-7BE1-4EAE-B547-6DA680A698DD}"/>
              </a:ext>
            </a:extLst>
          </p:cNvPr>
          <p:cNvGrpSpPr/>
          <p:nvPr/>
        </p:nvGrpSpPr>
        <p:grpSpPr>
          <a:xfrm>
            <a:off x="7327585" y="5148305"/>
            <a:ext cx="701337" cy="406488"/>
            <a:chOff x="5534609" y="5228933"/>
            <a:chExt cx="701337" cy="406488"/>
          </a:xfrm>
        </p:grpSpPr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086D604B-6E56-4900-BB13-610DD52D4FE1}"/>
                </a:ext>
              </a:extLst>
            </p:cNvPr>
            <p:cNvSpPr/>
            <p:nvPr/>
          </p:nvSpPr>
          <p:spPr>
            <a:xfrm>
              <a:off x="5534609" y="5498232"/>
              <a:ext cx="701337" cy="137189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bet basket</a:t>
              </a:r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FC6E8649-19DD-41D0-A0D1-A23B8DA1E6B2}"/>
                </a:ext>
              </a:extLst>
            </p:cNvPr>
            <p:cNvGrpSpPr/>
            <p:nvPr/>
          </p:nvGrpSpPr>
          <p:grpSpPr>
            <a:xfrm>
              <a:off x="5693367" y="5228933"/>
              <a:ext cx="384445" cy="323148"/>
              <a:chOff x="3543296" y="3794345"/>
              <a:chExt cx="384445" cy="323148"/>
            </a:xfrm>
          </p:grpSpPr>
          <p:grpSp>
            <p:nvGrpSpPr>
              <p:cNvPr id="359" name="Group 358">
                <a:extLst>
                  <a:ext uri="{FF2B5EF4-FFF2-40B4-BE49-F238E27FC236}">
                    <a16:creationId xmlns:a16="http://schemas.microsoft.com/office/drawing/2014/main" id="{BB25102D-BA01-4392-919A-1829A591588A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363" name="Rectangle 362">
                  <a:extLst>
                    <a:ext uri="{FF2B5EF4-FFF2-40B4-BE49-F238E27FC236}">
                      <a16:creationId xmlns:a16="http://schemas.microsoft.com/office/drawing/2014/main" id="{BA5A8E58-6964-4E63-9DB2-B092521B15E4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64" name="Graphic 363">
                  <a:extLst>
                    <a:ext uri="{FF2B5EF4-FFF2-40B4-BE49-F238E27FC236}">
                      <a16:creationId xmlns:a16="http://schemas.microsoft.com/office/drawing/2014/main" id="{92A3E116-93E0-4614-A84D-515FCCF9A1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1">
                  <a:extLst>
                    <a:ext uri="{96DAC541-7B7A-43D3-8B79-37D633B846F1}">
                      <asvg:svgBlip xmlns:asvg="http://schemas.microsoft.com/office/drawing/2016/SVG/main" r:embed="rId4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DB599608-099B-4CFB-B130-5202C8E4ED97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D175A9BF-803D-431B-BEF4-9536E741D5CE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62" name="Graphic 361">
                  <a:extLst>
                    <a:ext uri="{FF2B5EF4-FFF2-40B4-BE49-F238E27FC236}">
                      <a16:creationId xmlns:a16="http://schemas.microsoft.com/office/drawing/2014/main" id="{367970F6-AF4E-4B1A-98C3-448C039451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1">
                  <a:extLst>
                    <a:ext uri="{96DAC541-7B7A-43D3-8B79-37D633B846F1}">
                      <asvg:svgBlip xmlns:asvg="http://schemas.microsoft.com/office/drawing/2016/SVG/main" r:embed="rId4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FD0E0720-415F-4EEC-BCCC-46F9FD52B1AD}"/>
              </a:ext>
            </a:extLst>
          </p:cNvPr>
          <p:cNvGrpSpPr/>
          <p:nvPr/>
        </p:nvGrpSpPr>
        <p:grpSpPr>
          <a:xfrm>
            <a:off x="4299616" y="4251935"/>
            <a:ext cx="365760" cy="365760"/>
            <a:chOff x="3742361" y="5229210"/>
            <a:chExt cx="365760" cy="365760"/>
          </a:xfrm>
        </p:grpSpPr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CF05E7BE-23F5-464F-99CE-04595CDFA5BA}"/>
                </a:ext>
              </a:extLst>
            </p:cNvPr>
            <p:cNvSpPr/>
            <p:nvPr/>
          </p:nvSpPr>
          <p:spPr>
            <a:xfrm>
              <a:off x="3756977" y="5245995"/>
              <a:ext cx="347472" cy="347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68" name="Graphic 367">
              <a:extLst>
                <a:ext uri="{FF2B5EF4-FFF2-40B4-BE49-F238E27FC236}">
                  <a16:creationId xmlns:a16="http://schemas.microsoft.com/office/drawing/2014/main" id="{FFF8343C-9605-45EC-9E1B-36E034A2C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3742361" y="5229210"/>
              <a:ext cx="365760" cy="365760"/>
            </a:xfrm>
            <a:prstGeom prst="rect">
              <a:avLst/>
            </a:prstGeom>
          </p:spPr>
        </p:pic>
      </p:grpSp>
      <p:sp>
        <p:nvSpPr>
          <p:cNvPr id="370" name="TextBox 34">
            <a:extLst>
              <a:ext uri="{FF2B5EF4-FFF2-40B4-BE49-F238E27FC236}">
                <a16:creationId xmlns:a16="http://schemas.microsoft.com/office/drawing/2014/main" id="{1482D982-DC77-4068-9000-F3A5055A1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783" y="2863988"/>
            <a:ext cx="797161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EKS</a:t>
            </a:r>
            <a:endParaRPr lang="en-US" sz="800" i="1" dirty="0">
              <a:ln w="0"/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372" name="TextBox 26">
            <a:extLst>
              <a:ext uri="{FF2B5EF4-FFF2-40B4-BE49-F238E27FC236}">
                <a16:creationId xmlns:a16="http://schemas.microsoft.com/office/drawing/2014/main" id="{BEE69CD4-4718-4290-B1A9-0C704DB31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4437" y="5903230"/>
            <a:ext cx="12316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defRPr/>
            </a:pP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cxnSp>
        <p:nvCxnSpPr>
          <p:cNvPr id="380" name="Elbow Connector 511">
            <a:extLst>
              <a:ext uri="{FF2B5EF4-FFF2-40B4-BE49-F238E27FC236}">
                <a16:creationId xmlns:a16="http://schemas.microsoft.com/office/drawing/2014/main" id="{187ACDFE-749F-484C-B114-998083BCAF60}"/>
              </a:ext>
            </a:extLst>
          </p:cNvPr>
          <p:cNvCxnSpPr>
            <a:cxnSpLocks/>
            <a:endCxn id="137" idx="3"/>
          </p:cNvCxnSpPr>
          <p:nvPr/>
        </p:nvCxnSpPr>
        <p:spPr>
          <a:xfrm rot="5400000">
            <a:off x="8085521" y="1598453"/>
            <a:ext cx="1188720" cy="1000664"/>
          </a:xfrm>
          <a:prstGeom prst="bentConnector2">
            <a:avLst/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1" name="TextBox 34">
            <a:extLst>
              <a:ext uri="{FF2B5EF4-FFF2-40B4-BE49-F238E27FC236}">
                <a16:creationId xmlns:a16="http://schemas.microsoft.com/office/drawing/2014/main" id="{F2EC507E-5275-4275-9C34-4C5FCFA63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2009" y="2519008"/>
            <a:ext cx="876372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EKS</a:t>
            </a:r>
            <a:endParaRPr lang="en-US" sz="800" i="1" dirty="0">
              <a:ln w="0"/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382" name="Elbow Connector 512">
            <a:extLst>
              <a:ext uri="{FF2B5EF4-FFF2-40B4-BE49-F238E27FC236}">
                <a16:creationId xmlns:a16="http://schemas.microsoft.com/office/drawing/2014/main" id="{6D21C395-A3F8-4F99-A3C1-FC2B15A6DCA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887831" y="2326447"/>
            <a:ext cx="1463040" cy="0"/>
          </a:xfrm>
          <a:prstGeom prst="bentConnector3">
            <a:avLst>
              <a:gd name="adj1" fmla="val 50000"/>
            </a:avLst>
          </a:prstGeom>
          <a:ln w="12700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3" name="Graphic 20">
            <a:extLst>
              <a:ext uri="{FF2B5EF4-FFF2-40B4-BE49-F238E27FC236}">
                <a16:creationId xmlns:a16="http://schemas.microsoft.com/office/drawing/2014/main" id="{04F5D58B-49B1-4A84-A8CE-63F126474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 bwMode="auto">
          <a:xfrm>
            <a:off x="10275803" y="3015981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4" name="TextBox 383">
            <a:extLst>
              <a:ext uri="{FF2B5EF4-FFF2-40B4-BE49-F238E27FC236}">
                <a16:creationId xmlns:a16="http://schemas.microsoft.com/office/drawing/2014/main" id="{E7667AA5-F1F5-4620-A8C8-0055F18A3AFD}"/>
              </a:ext>
            </a:extLst>
          </p:cNvPr>
          <p:cNvSpPr txBox="1"/>
          <p:nvPr/>
        </p:nvSpPr>
        <p:spPr>
          <a:xfrm>
            <a:off x="10035023" y="3271603"/>
            <a:ext cx="769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  <a:b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Site-to-Site VPN</a:t>
            </a:r>
          </a:p>
        </p:txBody>
      </p:sp>
      <p:pic>
        <p:nvPicPr>
          <p:cNvPr id="385" name="Graphic 6">
            <a:extLst>
              <a:ext uri="{FF2B5EF4-FFF2-40B4-BE49-F238E27FC236}">
                <a16:creationId xmlns:a16="http://schemas.microsoft.com/office/drawing/2014/main" id="{2E85CAAD-CC66-4175-AD49-1609E6B5D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 bwMode="auto">
          <a:xfrm>
            <a:off x="8412598" y="3712900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" name="Oval 205">
            <a:extLst>
              <a:ext uri="{FF2B5EF4-FFF2-40B4-BE49-F238E27FC236}">
                <a16:creationId xmlns:a16="http://schemas.microsoft.com/office/drawing/2014/main" id="{CCC781E6-F245-45A4-B3E8-99B62C83E140}"/>
              </a:ext>
            </a:extLst>
          </p:cNvPr>
          <p:cNvSpPr>
            <a:spLocks noChangeAspect="1"/>
          </p:cNvSpPr>
          <p:nvPr/>
        </p:nvSpPr>
        <p:spPr bwMode="auto">
          <a:xfrm>
            <a:off x="3341818" y="3751091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7C9CCAE6-1070-4B15-A82A-DFC4911A623D}"/>
              </a:ext>
            </a:extLst>
          </p:cNvPr>
          <p:cNvSpPr>
            <a:spLocks noChangeAspect="1"/>
          </p:cNvSpPr>
          <p:nvPr/>
        </p:nvSpPr>
        <p:spPr bwMode="auto">
          <a:xfrm>
            <a:off x="5109033" y="395213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FD125645-304E-4D8F-9569-DF074BEE8A07}"/>
              </a:ext>
            </a:extLst>
          </p:cNvPr>
          <p:cNvSpPr>
            <a:spLocks noChangeAspect="1"/>
          </p:cNvSpPr>
          <p:nvPr/>
        </p:nvSpPr>
        <p:spPr bwMode="auto">
          <a:xfrm>
            <a:off x="6384795" y="4327998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2F3B9E41-B815-41E1-A85D-99CA2250D824}"/>
              </a:ext>
            </a:extLst>
          </p:cNvPr>
          <p:cNvSpPr>
            <a:spLocks noChangeAspect="1"/>
          </p:cNvSpPr>
          <p:nvPr/>
        </p:nvSpPr>
        <p:spPr bwMode="auto">
          <a:xfrm>
            <a:off x="7140136" y="3213976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AC00227A-0C53-4E32-9438-ACD3C833D891}"/>
              </a:ext>
            </a:extLst>
          </p:cNvPr>
          <p:cNvSpPr>
            <a:spLocks noChangeAspect="1"/>
          </p:cNvSpPr>
          <p:nvPr/>
        </p:nvSpPr>
        <p:spPr bwMode="auto">
          <a:xfrm>
            <a:off x="2958318" y="2352801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4D295B64-7CC3-4B4F-83E8-83B9A2AF5F8F}"/>
              </a:ext>
            </a:extLst>
          </p:cNvPr>
          <p:cNvSpPr>
            <a:spLocks noChangeAspect="1"/>
          </p:cNvSpPr>
          <p:nvPr/>
        </p:nvSpPr>
        <p:spPr bwMode="auto">
          <a:xfrm>
            <a:off x="7208802" y="1041357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40DEA72B-D22F-4701-B217-9F0A13165907}"/>
              </a:ext>
            </a:extLst>
          </p:cNvPr>
          <p:cNvSpPr>
            <a:spLocks noChangeAspect="1"/>
          </p:cNvSpPr>
          <p:nvPr/>
        </p:nvSpPr>
        <p:spPr bwMode="auto">
          <a:xfrm>
            <a:off x="9201375" y="233232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2DA7A0BD-E3D8-4DEF-9467-4BBCFBB901B4}"/>
              </a:ext>
            </a:extLst>
          </p:cNvPr>
          <p:cNvSpPr>
            <a:spLocks noChangeAspect="1"/>
          </p:cNvSpPr>
          <p:nvPr/>
        </p:nvSpPr>
        <p:spPr bwMode="auto">
          <a:xfrm>
            <a:off x="4163733" y="4950031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714C89D7-6BC8-40ED-9EEA-D5380B94E37A}"/>
              </a:ext>
            </a:extLst>
          </p:cNvPr>
          <p:cNvSpPr>
            <a:spLocks noChangeAspect="1"/>
          </p:cNvSpPr>
          <p:nvPr/>
        </p:nvSpPr>
        <p:spPr bwMode="auto">
          <a:xfrm>
            <a:off x="10153991" y="2501438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CDA0B175-4DFD-4B04-B86C-04DB8D483DDC}"/>
              </a:ext>
            </a:extLst>
          </p:cNvPr>
          <p:cNvSpPr txBox="1"/>
          <p:nvPr/>
        </p:nvSpPr>
        <p:spPr>
          <a:xfrm>
            <a:off x="8542491" y="3106275"/>
            <a:ext cx="102911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internal database group</a:t>
            </a: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32919E66-C129-4224-9E6C-6DD3F9696A48}"/>
              </a:ext>
            </a:extLst>
          </p:cNvPr>
          <p:cNvSpPr>
            <a:spLocks noChangeAspect="1"/>
          </p:cNvSpPr>
          <p:nvPr/>
        </p:nvSpPr>
        <p:spPr bwMode="auto">
          <a:xfrm>
            <a:off x="8419516" y="332768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31013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raphic 102">
            <a:extLst>
              <a:ext uri="{FF2B5EF4-FFF2-40B4-BE49-F238E27FC236}">
                <a16:creationId xmlns:a16="http://schemas.microsoft.com/office/drawing/2014/main" id="{1DD42CEA-08C0-B743-AC84-1AA6A123B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92" y="6406198"/>
            <a:ext cx="585391" cy="348070"/>
          </a:xfrm>
          <a:prstGeom prst="rect">
            <a:avLst/>
          </a:prstGeom>
        </p:spPr>
      </p:pic>
      <p:sp>
        <p:nvSpPr>
          <p:cNvPr id="104" name="AWS copyright text">
            <a:extLst>
              <a:ext uri="{FF2B5EF4-FFF2-40B4-BE49-F238E27FC236}">
                <a16:creationId xmlns:a16="http://schemas.microsoft.com/office/drawing/2014/main" id="{E926D9DC-0FDF-1C44-85C5-53E31AA8B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619133"/>
            <a:ext cx="4036484" cy="14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x-none" sz="933" b="0" i="0" dirty="0">
                <a:solidFill>
                  <a:srgbClr val="7F7F7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© 2023, Amazon Web Services, Inc. or its affiliates. All rights reserved.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C66A8E-F283-4763-B096-ACFA9F5EC61A}"/>
              </a:ext>
            </a:extLst>
          </p:cNvPr>
          <p:cNvSpPr txBox="1"/>
          <p:nvPr/>
        </p:nvSpPr>
        <p:spPr>
          <a:xfrm>
            <a:off x="95668" y="134489"/>
            <a:ext cx="120963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Sports Betting Architecture - Deployment of Player-Related Components Outside of AWS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8F7425-C01F-4322-A5E8-4271654E0F7E}"/>
              </a:ext>
            </a:extLst>
          </p:cNvPr>
          <p:cNvSpPr txBox="1"/>
          <p:nvPr/>
        </p:nvSpPr>
        <p:spPr>
          <a:xfrm>
            <a:off x="101092" y="458980"/>
            <a:ext cx="4862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For the architecture description, refer to the </a:t>
            </a:r>
            <a:r>
              <a:rPr lang="en-US" sz="14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  <a:hlinkClick r:id="rId5"/>
              </a:rPr>
              <a:t>full diagram</a:t>
            </a:r>
            <a:r>
              <a:rPr lang="en-US" sz="14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. </a:t>
            </a:r>
          </a:p>
        </p:txBody>
      </p:sp>
      <p:cxnSp>
        <p:nvCxnSpPr>
          <p:cNvPr id="7" name="Elbow Connector 548">
            <a:extLst>
              <a:ext uri="{FF2B5EF4-FFF2-40B4-BE49-F238E27FC236}">
                <a16:creationId xmlns:a16="http://schemas.microsoft.com/office/drawing/2014/main" id="{7379E349-14FF-4A44-AB20-88AC17C4C0D0}"/>
              </a:ext>
            </a:extLst>
          </p:cNvPr>
          <p:cNvCxnSpPr>
            <a:cxnSpLocks/>
            <a:stCxn id="56" idx="0"/>
            <a:endCxn id="129" idx="3"/>
          </p:cNvCxnSpPr>
          <p:nvPr/>
        </p:nvCxnSpPr>
        <p:spPr>
          <a:xfrm rot="16200000" flipV="1">
            <a:off x="2040414" y="3058896"/>
            <a:ext cx="554487" cy="1152512"/>
          </a:xfrm>
          <a:prstGeom prst="bentConnector2">
            <a:avLst/>
          </a:prstGeom>
          <a:ln w="15875" cap="flat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17C4746-933D-4F74-B03D-5D519FD7CC13}"/>
              </a:ext>
            </a:extLst>
          </p:cNvPr>
          <p:cNvSpPr/>
          <p:nvPr/>
        </p:nvSpPr>
        <p:spPr>
          <a:xfrm>
            <a:off x="3154404" y="1448055"/>
            <a:ext cx="6874720" cy="4619762"/>
          </a:xfrm>
          <a:prstGeom prst="rect">
            <a:avLst/>
          </a:prstGeom>
          <a:noFill/>
          <a:ln w="15875">
            <a:solidFill>
              <a:srgbClr val="141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24000" tIns="3600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9" name="TextBox 34">
            <a:extLst>
              <a:ext uri="{FF2B5EF4-FFF2-40B4-BE49-F238E27FC236}">
                <a16:creationId xmlns:a16="http://schemas.microsoft.com/office/drawing/2014/main" id="{86EE5ECD-D479-4E19-8F71-BB5EE743C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5525" y="3825280"/>
            <a:ext cx="648424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MSK</a:t>
            </a: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DC76078D-2428-4766-A3D9-4FA07B431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2075" y="3201928"/>
            <a:ext cx="101361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Gateway</a:t>
            </a:r>
          </a:p>
        </p:txBody>
      </p:sp>
      <p:pic>
        <p:nvPicPr>
          <p:cNvPr id="11" name="Graphic 8">
            <a:extLst>
              <a:ext uri="{FF2B5EF4-FFF2-40B4-BE49-F238E27FC236}">
                <a16:creationId xmlns:a16="http://schemas.microsoft.com/office/drawing/2014/main" id="{D8EA197A-A5CC-4895-90A5-B99803960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6790285" y="905128"/>
            <a:ext cx="252705" cy="252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26">
            <a:extLst>
              <a:ext uri="{FF2B5EF4-FFF2-40B4-BE49-F238E27FC236}">
                <a16:creationId xmlns:a16="http://schemas.microsoft.com/office/drawing/2014/main" id="{9C972F50-71D0-4E0D-B89A-CE9E6720D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148" y="1138463"/>
            <a:ext cx="173426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GB" sz="800" dirty="0">
                <a:solidFill>
                  <a:srgbClr val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</a:t>
            </a:r>
            <a:r>
              <a:rPr lang="en-GB" sz="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xternal </a:t>
            </a:r>
            <a:r>
              <a:rPr lang="en-GB" sz="800" dirty="0">
                <a:solidFill>
                  <a:srgbClr val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</a:t>
            </a:r>
            <a:r>
              <a:rPr lang="en-GB" sz="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ompliance</a:t>
            </a:r>
            <a:r>
              <a:rPr lang="en-GB" sz="800" dirty="0">
                <a:solidFill>
                  <a:srgbClr val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and </a:t>
            </a:r>
            <a:r>
              <a:rPr lang="en-GB" sz="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KYC</a:t>
            </a:r>
            <a:endParaRPr lang="en-US" altLang="en-US" sz="800" dirty="0">
              <a:solidFill>
                <a:srgbClr val="000000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aphic 10">
            <a:extLst>
              <a:ext uri="{FF2B5EF4-FFF2-40B4-BE49-F238E27FC236}">
                <a16:creationId xmlns:a16="http://schemas.microsoft.com/office/drawing/2014/main" id="{DDCD9A40-342F-4486-9D83-2D25004B7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527" y="908756"/>
            <a:ext cx="283645" cy="28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26">
            <a:extLst>
              <a:ext uri="{FF2B5EF4-FFF2-40B4-BE49-F238E27FC236}">
                <a16:creationId xmlns:a16="http://schemas.microsoft.com/office/drawing/2014/main" id="{28F017CB-DFF1-4B4D-B0A4-6036F80E1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6286" y="1133581"/>
            <a:ext cx="152978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GB" sz="800" dirty="0">
                <a:solidFill>
                  <a:srgbClr val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</a:t>
            </a:r>
            <a:r>
              <a:rPr lang="en-GB" sz="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xternal sport event feeds</a:t>
            </a:r>
            <a:endParaRPr lang="en-US" altLang="en-US" sz="800" dirty="0">
              <a:solidFill>
                <a:srgbClr val="000000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319D2A-2031-4A01-822E-2B1B198B021B}"/>
              </a:ext>
            </a:extLst>
          </p:cNvPr>
          <p:cNvSpPr/>
          <p:nvPr/>
        </p:nvSpPr>
        <p:spPr>
          <a:xfrm>
            <a:off x="4023270" y="1957772"/>
            <a:ext cx="4530793" cy="4016692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ln w="0"/>
              <a:solidFill>
                <a:srgbClr val="1E8900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52385B-B358-40B1-B375-5DBF4AF97F05}"/>
              </a:ext>
            </a:extLst>
          </p:cNvPr>
          <p:cNvSpPr/>
          <p:nvPr/>
        </p:nvSpPr>
        <p:spPr>
          <a:xfrm>
            <a:off x="4241244" y="2275954"/>
            <a:ext cx="4266813" cy="193258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0"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F02DF075-D400-4C67-85B6-281D9442D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7362" y="4241777"/>
            <a:ext cx="82870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CloudFront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E07F8F-91FE-40D7-B878-956B7D25A2E4}"/>
              </a:ext>
            </a:extLst>
          </p:cNvPr>
          <p:cNvSpPr/>
          <p:nvPr/>
        </p:nvSpPr>
        <p:spPr>
          <a:xfrm>
            <a:off x="4238920" y="4319444"/>
            <a:ext cx="4113213" cy="1590671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600" dirty="0">
              <a:solidFill>
                <a:srgbClr val="5B9CD5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34">
            <a:extLst>
              <a:ext uri="{FF2B5EF4-FFF2-40B4-BE49-F238E27FC236}">
                <a16:creationId xmlns:a16="http://schemas.microsoft.com/office/drawing/2014/main" id="{74F68D7F-32DA-4CBB-87F1-F2454CF00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43" y="4937631"/>
            <a:ext cx="648424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MSK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3816D8-33D5-4493-81FA-393FCFA49567}"/>
              </a:ext>
            </a:extLst>
          </p:cNvPr>
          <p:cNvSpPr/>
          <p:nvPr/>
        </p:nvSpPr>
        <p:spPr>
          <a:xfrm>
            <a:off x="3260285" y="1746501"/>
            <a:ext cx="5878655" cy="4289580"/>
          </a:xfrm>
          <a:prstGeom prst="rect">
            <a:avLst/>
          </a:prstGeom>
          <a:noFill/>
          <a:ln w="15875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solidFill>
                <a:srgbClr val="CD2264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3687A0-A35B-4017-BC5B-F7182EA94AC7}"/>
              </a:ext>
            </a:extLst>
          </p:cNvPr>
          <p:cNvSpPr/>
          <p:nvPr/>
        </p:nvSpPr>
        <p:spPr>
          <a:xfrm>
            <a:off x="5768288" y="2688090"/>
            <a:ext cx="1063853" cy="2982822"/>
          </a:xfrm>
          <a:prstGeom prst="rect">
            <a:avLst/>
          </a:prstGeom>
          <a:noFill/>
          <a:ln w="15875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ln w="0"/>
              <a:solidFill>
                <a:srgbClr val="D86613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6C9ED8-9BE5-41F8-81FC-183BF251F7E6}"/>
              </a:ext>
            </a:extLst>
          </p:cNvPr>
          <p:cNvSpPr/>
          <p:nvPr/>
        </p:nvSpPr>
        <p:spPr>
          <a:xfrm>
            <a:off x="7066932" y="3152286"/>
            <a:ext cx="550341" cy="2091880"/>
          </a:xfrm>
          <a:prstGeom prst="rect">
            <a:avLst/>
          </a:prstGeom>
          <a:noFill/>
          <a:ln w="15875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message bus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D69A94-E135-4D05-9953-9A0DE3A9CCED}"/>
              </a:ext>
            </a:extLst>
          </p:cNvPr>
          <p:cNvSpPr/>
          <p:nvPr/>
        </p:nvSpPr>
        <p:spPr>
          <a:xfrm>
            <a:off x="9193297" y="2222707"/>
            <a:ext cx="788167" cy="2070750"/>
          </a:xfrm>
          <a:prstGeom prst="rect">
            <a:avLst/>
          </a:prstGeom>
          <a:noFill/>
          <a:ln w="15875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150604-7E74-443E-9A07-49764DF7CB03}"/>
              </a:ext>
            </a:extLst>
          </p:cNvPr>
          <p:cNvSpPr/>
          <p:nvPr/>
        </p:nvSpPr>
        <p:spPr>
          <a:xfrm>
            <a:off x="9233077" y="2798038"/>
            <a:ext cx="727746" cy="1273696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ln w="0"/>
              <a:solidFill>
                <a:srgbClr val="1E8900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id="{6E5FA3A4-F38F-4ECA-BD8F-9782B5553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3496" y="3310646"/>
            <a:ext cx="6428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analytics platform</a:t>
            </a:r>
          </a:p>
        </p:txBody>
      </p:sp>
      <p:cxnSp>
        <p:nvCxnSpPr>
          <p:cNvPr id="29" name="Elbow Connector 332">
            <a:extLst>
              <a:ext uri="{FF2B5EF4-FFF2-40B4-BE49-F238E27FC236}">
                <a16:creationId xmlns:a16="http://schemas.microsoft.com/office/drawing/2014/main" id="{6204B92F-74BE-4117-A1E9-1930EF79724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225317" y="1174479"/>
            <a:ext cx="1533001" cy="1863968"/>
          </a:xfrm>
          <a:prstGeom prst="bentConnector3">
            <a:avLst>
              <a:gd name="adj1" fmla="val 65238"/>
            </a:avLst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340">
            <a:extLst>
              <a:ext uri="{FF2B5EF4-FFF2-40B4-BE49-F238E27FC236}">
                <a16:creationId xmlns:a16="http://schemas.microsoft.com/office/drawing/2014/main" id="{7B11AF7B-4766-4B11-90D3-06DC1E529A70}"/>
              </a:ext>
            </a:extLst>
          </p:cNvPr>
          <p:cNvCxnSpPr>
            <a:cxnSpLocks/>
            <a:stCxn id="181" idx="3"/>
          </p:cNvCxnSpPr>
          <p:nvPr/>
        </p:nvCxnSpPr>
        <p:spPr>
          <a:xfrm>
            <a:off x="6499092" y="3753380"/>
            <a:ext cx="2195185" cy="1706688"/>
          </a:xfrm>
          <a:prstGeom prst="bentConnector3">
            <a:avLst>
              <a:gd name="adj1" fmla="val 7345"/>
            </a:avLst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51">
            <a:extLst>
              <a:ext uri="{FF2B5EF4-FFF2-40B4-BE49-F238E27FC236}">
                <a16:creationId xmlns:a16="http://schemas.microsoft.com/office/drawing/2014/main" id="{109BA9AA-365A-41C2-8E68-E407ACB15FAC}"/>
              </a:ext>
            </a:extLst>
          </p:cNvPr>
          <p:cNvCxnSpPr>
            <a:cxnSpLocks/>
          </p:cNvCxnSpPr>
          <p:nvPr/>
        </p:nvCxnSpPr>
        <p:spPr>
          <a:xfrm rot="10800000" flipV="1">
            <a:off x="6325029" y="5521041"/>
            <a:ext cx="2361037" cy="19679"/>
          </a:xfrm>
          <a:prstGeom prst="bentConnector4">
            <a:avLst>
              <a:gd name="adj1" fmla="val 42574"/>
              <a:gd name="adj2" fmla="val 619544"/>
            </a:avLst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93">
            <a:extLst>
              <a:ext uri="{FF2B5EF4-FFF2-40B4-BE49-F238E27FC236}">
                <a16:creationId xmlns:a16="http://schemas.microsoft.com/office/drawing/2014/main" id="{572FC47D-18D1-4F71-A5A9-CAD17A978775}"/>
              </a:ext>
            </a:extLst>
          </p:cNvPr>
          <p:cNvCxnSpPr>
            <a:cxnSpLocks/>
            <a:stCxn id="27" idx="0"/>
          </p:cNvCxnSpPr>
          <p:nvPr/>
        </p:nvCxnSpPr>
        <p:spPr>
          <a:xfrm rot="16200000" flipH="1" flipV="1">
            <a:off x="8110360" y="1537478"/>
            <a:ext cx="226030" cy="2747150"/>
          </a:xfrm>
          <a:prstGeom prst="bentConnector4">
            <a:avLst>
              <a:gd name="adj1" fmla="val -101137"/>
              <a:gd name="adj2" fmla="val 49473"/>
            </a:avLst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499">
            <a:extLst>
              <a:ext uri="{FF2B5EF4-FFF2-40B4-BE49-F238E27FC236}">
                <a16:creationId xmlns:a16="http://schemas.microsoft.com/office/drawing/2014/main" id="{B8827A8F-B72B-4DF1-9FA6-32BACEC5A04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314417" y="2005783"/>
            <a:ext cx="1537883" cy="194868"/>
          </a:xfrm>
          <a:prstGeom prst="bentConnector3">
            <a:avLst>
              <a:gd name="adj1" fmla="val 84354"/>
            </a:avLst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5B1F446-0483-4664-8F32-1AB5CB6613D5}"/>
              </a:ext>
            </a:extLst>
          </p:cNvPr>
          <p:cNvCxnSpPr>
            <a:cxnSpLocks/>
          </p:cNvCxnSpPr>
          <p:nvPr/>
        </p:nvCxnSpPr>
        <p:spPr>
          <a:xfrm flipH="1" flipV="1">
            <a:off x="6845176" y="4260280"/>
            <a:ext cx="227410" cy="209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Graphic 8">
            <a:extLst>
              <a:ext uri="{FF2B5EF4-FFF2-40B4-BE49-F238E27FC236}">
                <a16:creationId xmlns:a16="http://schemas.microsoft.com/office/drawing/2014/main" id="{26507085-AA0D-437F-B5E7-3805080C6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2308308" y="1166986"/>
            <a:ext cx="252705" cy="252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80F87448-347F-49EC-9FF4-958691485D6E}"/>
              </a:ext>
            </a:extLst>
          </p:cNvPr>
          <p:cNvSpPr/>
          <p:nvPr/>
        </p:nvSpPr>
        <p:spPr>
          <a:xfrm>
            <a:off x="833078" y="2148285"/>
            <a:ext cx="1345918" cy="1433128"/>
          </a:xfrm>
          <a:prstGeom prst="rect">
            <a:avLst/>
          </a:prstGeom>
          <a:noFill/>
          <a:ln w="15875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r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ln w="0"/>
              <a:solidFill>
                <a:srgbClr val="D86613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27931C-AA27-4993-A5A0-64E7D2B70564}"/>
              </a:ext>
            </a:extLst>
          </p:cNvPr>
          <p:cNvSpPr/>
          <p:nvPr/>
        </p:nvSpPr>
        <p:spPr>
          <a:xfrm>
            <a:off x="823265" y="3702719"/>
            <a:ext cx="1467881" cy="2002095"/>
          </a:xfrm>
          <a:prstGeom prst="rect">
            <a:avLst/>
          </a:prstGeom>
          <a:noFill/>
          <a:ln w="15875">
            <a:solidFill>
              <a:srgbClr val="7D89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3375FC5-6FC3-40C6-8F19-460EB2B85C53}"/>
              </a:ext>
            </a:extLst>
          </p:cNvPr>
          <p:cNvSpPr/>
          <p:nvPr/>
        </p:nvSpPr>
        <p:spPr>
          <a:xfrm>
            <a:off x="924547" y="4070236"/>
            <a:ext cx="1322039" cy="1557181"/>
          </a:xfrm>
          <a:prstGeom prst="rect">
            <a:avLst/>
          </a:prstGeom>
          <a:noFill/>
          <a:ln w="15875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r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ln w="0"/>
              <a:solidFill>
                <a:srgbClr val="D86613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Elbow Connector 223">
            <a:extLst>
              <a:ext uri="{FF2B5EF4-FFF2-40B4-BE49-F238E27FC236}">
                <a16:creationId xmlns:a16="http://schemas.microsoft.com/office/drawing/2014/main" id="{CF4D0BDD-4405-4BCC-857F-E7E7E639D111}"/>
              </a:ext>
            </a:extLst>
          </p:cNvPr>
          <p:cNvCxnSpPr>
            <a:cxnSpLocks/>
            <a:stCxn id="56" idx="3"/>
            <a:endCxn id="98" idx="1"/>
          </p:cNvCxnSpPr>
          <p:nvPr/>
        </p:nvCxnSpPr>
        <p:spPr>
          <a:xfrm flipV="1">
            <a:off x="3083027" y="4093082"/>
            <a:ext cx="490673" cy="8428"/>
          </a:xfrm>
          <a:prstGeom prst="bentConnector3">
            <a:avLst>
              <a:gd name="adj1" fmla="val 50000"/>
            </a:avLst>
          </a:prstGeom>
          <a:ln w="15875" cap="flat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9">
            <a:extLst>
              <a:ext uri="{FF2B5EF4-FFF2-40B4-BE49-F238E27FC236}">
                <a16:creationId xmlns:a16="http://schemas.microsoft.com/office/drawing/2014/main" id="{8E76C76B-7AA5-43E5-9E65-F55AE7772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973" y="4406502"/>
            <a:ext cx="9360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Load Balancer</a:t>
            </a:r>
          </a:p>
        </p:txBody>
      </p:sp>
      <p:cxnSp>
        <p:nvCxnSpPr>
          <p:cNvPr id="42" name="Elbow Connector 255">
            <a:extLst>
              <a:ext uri="{FF2B5EF4-FFF2-40B4-BE49-F238E27FC236}">
                <a16:creationId xmlns:a16="http://schemas.microsoft.com/office/drawing/2014/main" id="{E6B35291-97AC-4C74-9075-323490F4FFCE}"/>
              </a:ext>
            </a:extLst>
          </p:cNvPr>
          <p:cNvCxnSpPr>
            <a:cxnSpLocks/>
            <a:stCxn id="20" idx="2"/>
            <a:endCxn id="58" idx="2"/>
          </p:cNvCxnSpPr>
          <p:nvPr/>
        </p:nvCxnSpPr>
        <p:spPr>
          <a:xfrm rot="5400000" flipH="1">
            <a:off x="3201388" y="4040003"/>
            <a:ext cx="73524" cy="1007132"/>
          </a:xfrm>
          <a:prstGeom prst="bentConnector3">
            <a:avLst>
              <a:gd name="adj1" fmla="val -310919"/>
            </a:avLst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17">
            <a:extLst>
              <a:ext uri="{FF2B5EF4-FFF2-40B4-BE49-F238E27FC236}">
                <a16:creationId xmlns:a16="http://schemas.microsoft.com/office/drawing/2014/main" id="{B15BB898-DFCE-4078-AB36-F9A1D2130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53" y="1393917"/>
            <a:ext cx="619713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payment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platform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providers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59B86AD-D249-4532-A3CF-3ADB7A24A513}"/>
              </a:ext>
            </a:extLst>
          </p:cNvPr>
          <p:cNvCxnSpPr>
            <a:cxnSpLocks/>
          </p:cNvCxnSpPr>
          <p:nvPr/>
        </p:nvCxnSpPr>
        <p:spPr>
          <a:xfrm flipH="1">
            <a:off x="5192504" y="4273286"/>
            <a:ext cx="570901" cy="0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9">
            <a:extLst>
              <a:ext uri="{FF2B5EF4-FFF2-40B4-BE49-F238E27FC236}">
                <a16:creationId xmlns:a16="http://schemas.microsoft.com/office/drawing/2014/main" id="{25657AC7-9A5D-4DC5-B481-E1C6670CB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0134" y="3771359"/>
            <a:ext cx="81178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Multi-AZ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replica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327FAE4-AEE7-4868-9D72-8A3DA3C47851}"/>
              </a:ext>
            </a:extLst>
          </p:cNvPr>
          <p:cNvSpPr/>
          <p:nvPr/>
        </p:nvSpPr>
        <p:spPr>
          <a:xfrm>
            <a:off x="7733442" y="3142174"/>
            <a:ext cx="1374110" cy="2509715"/>
          </a:xfrm>
          <a:prstGeom prst="rect">
            <a:avLst/>
          </a:prstGeom>
          <a:noFill/>
          <a:ln w="15875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9">
            <a:extLst>
              <a:ext uri="{FF2B5EF4-FFF2-40B4-BE49-F238E27FC236}">
                <a16:creationId xmlns:a16="http://schemas.microsoft.com/office/drawing/2014/main" id="{D839A912-D324-4047-B405-D4BB70455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3947" y="4915269"/>
            <a:ext cx="8007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RDS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603EDB7-E205-46DF-9D63-30FA57555414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8136026" y="4109913"/>
            <a:ext cx="0" cy="395291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228">
            <a:extLst>
              <a:ext uri="{FF2B5EF4-FFF2-40B4-BE49-F238E27FC236}">
                <a16:creationId xmlns:a16="http://schemas.microsoft.com/office/drawing/2014/main" id="{726417EB-CF25-44EF-8360-1500E83C3E93}"/>
              </a:ext>
            </a:extLst>
          </p:cNvPr>
          <p:cNvCxnSpPr>
            <a:cxnSpLocks/>
          </p:cNvCxnSpPr>
          <p:nvPr/>
        </p:nvCxnSpPr>
        <p:spPr>
          <a:xfrm flipV="1">
            <a:off x="6825789" y="5212755"/>
            <a:ext cx="1298527" cy="185484"/>
          </a:xfrm>
          <a:prstGeom prst="bentConnector2">
            <a:avLst/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BE21BA4-ADA3-416D-8325-81DFD6A9AED9}"/>
              </a:ext>
            </a:extLst>
          </p:cNvPr>
          <p:cNvGrpSpPr/>
          <p:nvPr/>
        </p:nvGrpSpPr>
        <p:grpSpPr>
          <a:xfrm>
            <a:off x="2452735" y="3912395"/>
            <a:ext cx="630292" cy="594412"/>
            <a:chOff x="1789209" y="4169080"/>
            <a:chExt cx="630292" cy="594412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886FA627-9F47-488B-9728-A0A2A2AB4F3B}"/>
                </a:ext>
              </a:extLst>
            </p:cNvPr>
            <p:cNvGrpSpPr/>
            <p:nvPr/>
          </p:nvGrpSpPr>
          <p:grpSpPr>
            <a:xfrm>
              <a:off x="1789209" y="4185083"/>
              <a:ext cx="476597" cy="578409"/>
              <a:chOff x="485780" y="2570907"/>
              <a:chExt cx="476597" cy="578409"/>
            </a:xfrm>
          </p:grpSpPr>
          <p:pic>
            <p:nvPicPr>
              <p:cNvPr id="57" name="Graphic 24">
                <a:extLst>
                  <a:ext uri="{FF2B5EF4-FFF2-40B4-BE49-F238E27FC236}">
                    <a16:creationId xmlns:a16="http://schemas.microsoft.com/office/drawing/2014/main" id="{99B49DCE-CE6B-40F4-A7D4-286EC702C7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5780" y="2570907"/>
                <a:ext cx="317490" cy="3174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8" name="TextBox 25">
                <a:extLst>
                  <a:ext uri="{FF2B5EF4-FFF2-40B4-BE49-F238E27FC236}">
                    <a16:creationId xmlns:a16="http://schemas.microsoft.com/office/drawing/2014/main" id="{5467FA95-9D2E-4C5F-A132-FB2C2AC4E1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2881" y="2933872"/>
                <a:ext cx="389496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r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800" dirty="0">
                    <a:solidFill>
                      <a:srgbClr val="000000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clients</a:t>
                </a:r>
              </a:p>
            </p:txBody>
          </p:sp>
        </p:grpSp>
        <p:pic>
          <p:nvPicPr>
            <p:cNvPr id="56" name="Graphic 15">
              <a:extLst>
                <a:ext uri="{FF2B5EF4-FFF2-40B4-BE49-F238E27FC236}">
                  <a16:creationId xmlns:a16="http://schemas.microsoft.com/office/drawing/2014/main" id="{F7CBB505-4C41-4870-BCD6-F4A945F9E2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1272" y="4169080"/>
              <a:ext cx="378229" cy="378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59" name="Elbow Connector 10">
            <a:extLst>
              <a:ext uri="{FF2B5EF4-FFF2-40B4-BE49-F238E27FC236}">
                <a16:creationId xmlns:a16="http://schemas.microsoft.com/office/drawing/2014/main" id="{ABA3F7C0-D937-4ECC-B5BE-B1D3509114D9}"/>
              </a:ext>
            </a:extLst>
          </p:cNvPr>
          <p:cNvCxnSpPr>
            <a:cxnSpLocks/>
          </p:cNvCxnSpPr>
          <p:nvPr/>
        </p:nvCxnSpPr>
        <p:spPr>
          <a:xfrm rot="5400000">
            <a:off x="1792496" y="4526151"/>
            <a:ext cx="873836" cy="822960"/>
          </a:xfrm>
          <a:prstGeom prst="bentConnector2">
            <a:avLst/>
          </a:prstGeom>
          <a:ln w="15875" cap="flat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9BFA48C-A076-4388-A344-3FEA903E8E4C}"/>
              </a:ext>
            </a:extLst>
          </p:cNvPr>
          <p:cNvSpPr txBox="1"/>
          <p:nvPr/>
        </p:nvSpPr>
        <p:spPr>
          <a:xfrm>
            <a:off x="2361675" y="5420546"/>
            <a:ext cx="273079" cy="123111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</a:t>
            </a:r>
            <a:r>
              <a:rPr lang="en-DE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ets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87C9F95-BED3-4C12-A2C6-694100414223}"/>
              </a:ext>
            </a:extLst>
          </p:cNvPr>
          <p:cNvSpPr txBox="1"/>
          <p:nvPr/>
        </p:nvSpPr>
        <p:spPr>
          <a:xfrm>
            <a:off x="2463865" y="3389860"/>
            <a:ext cx="20037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</a:t>
            </a:r>
            <a:r>
              <a:rPr lang="en-DE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ets</a:t>
            </a:r>
          </a:p>
        </p:txBody>
      </p:sp>
      <p:cxnSp>
        <p:nvCxnSpPr>
          <p:cNvPr id="64" name="Elbow Connector 22">
            <a:extLst>
              <a:ext uri="{FF2B5EF4-FFF2-40B4-BE49-F238E27FC236}">
                <a16:creationId xmlns:a16="http://schemas.microsoft.com/office/drawing/2014/main" id="{1C0B4F4E-DEF6-4950-A7F4-71B72AFC80D1}"/>
              </a:ext>
            </a:extLst>
          </p:cNvPr>
          <p:cNvCxnSpPr>
            <a:cxnSpLocks/>
            <a:stCxn id="150" idx="1"/>
            <a:endCxn id="36" idx="1"/>
          </p:cNvCxnSpPr>
          <p:nvPr/>
        </p:nvCxnSpPr>
        <p:spPr>
          <a:xfrm rot="10800000" flipH="1">
            <a:off x="1402416" y="1293339"/>
            <a:ext cx="905891" cy="3649396"/>
          </a:xfrm>
          <a:prstGeom prst="bentConnector3">
            <a:avLst>
              <a:gd name="adj1" fmla="val -99903"/>
            </a:avLst>
          </a:prstGeom>
          <a:ln w="15875" cap="flat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27">
            <a:extLst>
              <a:ext uri="{FF2B5EF4-FFF2-40B4-BE49-F238E27FC236}">
                <a16:creationId xmlns:a16="http://schemas.microsoft.com/office/drawing/2014/main" id="{953BCABE-16EE-437A-B80D-A7BEC9B5935F}"/>
              </a:ext>
            </a:extLst>
          </p:cNvPr>
          <p:cNvCxnSpPr>
            <a:cxnSpLocks/>
            <a:stCxn id="120" idx="3"/>
            <a:endCxn id="43" idx="2"/>
          </p:cNvCxnSpPr>
          <p:nvPr/>
        </p:nvCxnSpPr>
        <p:spPr>
          <a:xfrm flipV="1">
            <a:off x="1730334" y="1855582"/>
            <a:ext cx="717876" cy="1113246"/>
          </a:xfrm>
          <a:prstGeom prst="bentConnector2">
            <a:avLst/>
          </a:prstGeom>
          <a:ln w="15875" cap="flat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5">
            <a:extLst>
              <a:ext uri="{FF2B5EF4-FFF2-40B4-BE49-F238E27FC236}">
                <a16:creationId xmlns:a16="http://schemas.microsoft.com/office/drawing/2014/main" id="{7301E224-7368-471A-9FA4-8CDA37CB067A}"/>
              </a:ext>
            </a:extLst>
          </p:cNvPr>
          <p:cNvCxnSpPr>
            <a:cxnSpLocks/>
            <a:stCxn id="47" idx="3"/>
            <a:endCxn id="218" idx="2"/>
          </p:cNvCxnSpPr>
          <p:nvPr/>
        </p:nvCxnSpPr>
        <p:spPr>
          <a:xfrm flipV="1">
            <a:off x="9107552" y="4165558"/>
            <a:ext cx="494448" cy="231474"/>
          </a:xfrm>
          <a:prstGeom prst="bentConnector2">
            <a:avLst/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12">
            <a:extLst>
              <a:ext uri="{FF2B5EF4-FFF2-40B4-BE49-F238E27FC236}">
                <a16:creationId xmlns:a16="http://schemas.microsoft.com/office/drawing/2014/main" id="{5E66685A-EFF0-4727-89E5-67A17C880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5983" y="4432914"/>
            <a:ext cx="73061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DynamoDB</a:t>
            </a:r>
          </a:p>
        </p:txBody>
      </p:sp>
      <p:cxnSp>
        <p:nvCxnSpPr>
          <p:cNvPr id="68" name="Elbow Connector 23">
            <a:extLst>
              <a:ext uri="{FF2B5EF4-FFF2-40B4-BE49-F238E27FC236}">
                <a16:creationId xmlns:a16="http://schemas.microsoft.com/office/drawing/2014/main" id="{49E8A862-15D5-415D-ACC2-1093E03E3D7D}"/>
              </a:ext>
            </a:extLst>
          </p:cNvPr>
          <p:cNvCxnSpPr>
            <a:cxnSpLocks/>
            <a:stCxn id="41" idx="2"/>
            <a:endCxn id="210" idx="1"/>
          </p:cNvCxnSpPr>
          <p:nvPr/>
        </p:nvCxnSpPr>
        <p:spPr>
          <a:xfrm rot="16200000" flipH="1">
            <a:off x="5326189" y="4441851"/>
            <a:ext cx="505378" cy="1111788"/>
          </a:xfrm>
          <a:prstGeom prst="bentConnector2">
            <a:avLst/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47C59F0-5C7A-496F-A80C-1252B8657A77}"/>
              </a:ext>
            </a:extLst>
          </p:cNvPr>
          <p:cNvSpPr txBox="1"/>
          <p:nvPr/>
        </p:nvSpPr>
        <p:spPr>
          <a:xfrm>
            <a:off x="3306397" y="4862517"/>
            <a:ext cx="54873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WebSocket live feed</a:t>
            </a:r>
            <a:endParaRPr lang="en-DE" sz="8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9">
            <a:extLst>
              <a:ext uri="{FF2B5EF4-FFF2-40B4-BE49-F238E27FC236}">
                <a16:creationId xmlns:a16="http://schemas.microsoft.com/office/drawing/2014/main" id="{A8BF097B-A956-4A60-9F19-BA0B7D731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3389" y="3059005"/>
            <a:ext cx="6770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Gateway</a:t>
            </a:r>
          </a:p>
        </p:txBody>
      </p:sp>
      <p:cxnSp>
        <p:nvCxnSpPr>
          <p:cNvPr id="71" name="Elbow Connector 448">
            <a:extLst>
              <a:ext uri="{FF2B5EF4-FFF2-40B4-BE49-F238E27FC236}">
                <a16:creationId xmlns:a16="http://schemas.microsoft.com/office/drawing/2014/main" id="{6E3E9F4D-B56B-4F4E-BC62-51D941FC8CB4}"/>
              </a:ext>
            </a:extLst>
          </p:cNvPr>
          <p:cNvCxnSpPr>
            <a:cxnSpLocks/>
            <a:stCxn id="13" idx="1"/>
            <a:endCxn id="99" idx="1"/>
          </p:cNvCxnSpPr>
          <p:nvPr/>
        </p:nvCxnSpPr>
        <p:spPr>
          <a:xfrm rot="10800000" flipV="1">
            <a:off x="3403239" y="1050578"/>
            <a:ext cx="1658288" cy="1861793"/>
          </a:xfrm>
          <a:prstGeom prst="bentConnector3">
            <a:avLst>
              <a:gd name="adj1" fmla="val 127004"/>
            </a:avLst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452">
            <a:extLst>
              <a:ext uri="{FF2B5EF4-FFF2-40B4-BE49-F238E27FC236}">
                <a16:creationId xmlns:a16="http://schemas.microsoft.com/office/drawing/2014/main" id="{0D9FA8C5-EE8B-4845-81DC-C12E9DC22BCD}"/>
              </a:ext>
            </a:extLst>
          </p:cNvPr>
          <p:cNvCxnSpPr>
            <a:cxnSpLocks/>
            <a:stCxn id="99" idx="3"/>
          </p:cNvCxnSpPr>
          <p:nvPr/>
        </p:nvCxnSpPr>
        <p:spPr>
          <a:xfrm>
            <a:off x="3768999" y="2912372"/>
            <a:ext cx="2326873" cy="914400"/>
          </a:xfrm>
          <a:prstGeom prst="bentConnector3">
            <a:avLst>
              <a:gd name="adj1" fmla="val 8549"/>
            </a:avLst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465">
            <a:extLst>
              <a:ext uri="{FF2B5EF4-FFF2-40B4-BE49-F238E27FC236}">
                <a16:creationId xmlns:a16="http://schemas.microsoft.com/office/drawing/2014/main" id="{31BFB114-3D6D-4652-98C4-04E618B2C760}"/>
              </a:ext>
            </a:extLst>
          </p:cNvPr>
          <p:cNvCxnSpPr>
            <a:cxnSpLocks/>
            <a:stCxn id="174" idx="1"/>
            <a:endCxn id="100" idx="3"/>
          </p:cNvCxnSpPr>
          <p:nvPr/>
        </p:nvCxnSpPr>
        <p:spPr>
          <a:xfrm rot="10800000">
            <a:off x="5209194" y="3069789"/>
            <a:ext cx="902717" cy="43215"/>
          </a:xfrm>
          <a:prstGeom prst="bentConnector3">
            <a:avLst>
              <a:gd name="adj1" fmla="val 50000"/>
            </a:avLst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470">
            <a:extLst>
              <a:ext uri="{FF2B5EF4-FFF2-40B4-BE49-F238E27FC236}">
                <a16:creationId xmlns:a16="http://schemas.microsoft.com/office/drawing/2014/main" id="{79E6BBC2-5DEB-4B35-8D64-15EFD34E176C}"/>
              </a:ext>
            </a:extLst>
          </p:cNvPr>
          <p:cNvCxnSpPr>
            <a:cxnSpLocks/>
          </p:cNvCxnSpPr>
          <p:nvPr/>
        </p:nvCxnSpPr>
        <p:spPr>
          <a:xfrm rot="10800000">
            <a:off x="5024637" y="3398121"/>
            <a:ext cx="1031567" cy="274320"/>
          </a:xfrm>
          <a:prstGeom prst="bentConnector2">
            <a:avLst/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091E6FAC-021C-4527-A530-D710E1EE49B7}"/>
              </a:ext>
            </a:extLst>
          </p:cNvPr>
          <p:cNvSpPr/>
          <p:nvPr/>
        </p:nvSpPr>
        <p:spPr>
          <a:xfrm>
            <a:off x="4544471" y="2563537"/>
            <a:ext cx="921790" cy="3297751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600" dirty="0">
              <a:solidFill>
                <a:srgbClr val="1E8900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78" name="Elbow Connector 59">
            <a:extLst>
              <a:ext uri="{FF2B5EF4-FFF2-40B4-BE49-F238E27FC236}">
                <a16:creationId xmlns:a16="http://schemas.microsoft.com/office/drawing/2014/main" id="{588C58E0-D930-4E74-9FD0-5195AD8B992F}"/>
              </a:ext>
            </a:extLst>
          </p:cNvPr>
          <p:cNvCxnSpPr>
            <a:cxnSpLocks/>
            <a:stCxn id="221" idx="0"/>
            <a:endCxn id="67" idx="2"/>
          </p:cNvCxnSpPr>
          <p:nvPr/>
        </p:nvCxnSpPr>
        <p:spPr>
          <a:xfrm rot="16200000" flipV="1">
            <a:off x="8525565" y="5067196"/>
            <a:ext cx="591455" cy="0"/>
          </a:xfrm>
          <a:prstGeom prst="bentConnector3">
            <a:avLst>
              <a:gd name="adj1" fmla="val 50000"/>
            </a:avLst>
          </a:prstGeom>
          <a:ln w="12700" cap="flat">
            <a:solidFill>
              <a:schemeClr val="tx2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5346B69-48C8-4E7B-8FE7-CA9B5D9795B3}"/>
              </a:ext>
            </a:extLst>
          </p:cNvPr>
          <p:cNvSpPr/>
          <p:nvPr/>
        </p:nvSpPr>
        <p:spPr>
          <a:xfrm>
            <a:off x="5599549" y="2466788"/>
            <a:ext cx="2861020" cy="3239089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600" dirty="0">
              <a:solidFill>
                <a:srgbClr val="5B9CD5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81" name="Graphic 80">
            <a:extLst>
              <a:ext uri="{FF2B5EF4-FFF2-40B4-BE49-F238E27FC236}">
                <a16:creationId xmlns:a16="http://schemas.microsoft.com/office/drawing/2014/main" id="{B1EFDBA8-E2C9-4567-8F5D-30E34A853E1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30203" y="3707436"/>
            <a:ext cx="274320" cy="274320"/>
          </a:xfrm>
          <a:prstGeom prst="rect">
            <a:avLst/>
          </a:prstGeom>
        </p:spPr>
      </p:pic>
      <p:pic>
        <p:nvPicPr>
          <p:cNvPr id="82" name="Graphic 9">
            <a:extLst>
              <a:ext uri="{FF2B5EF4-FFF2-40B4-BE49-F238E27FC236}">
                <a16:creationId xmlns:a16="http://schemas.microsoft.com/office/drawing/2014/main" id="{9E187960-FD60-4841-902D-2B032533C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916457" y="4076013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TextBox 25">
            <a:extLst>
              <a:ext uri="{FF2B5EF4-FFF2-40B4-BE49-F238E27FC236}">
                <a16:creationId xmlns:a16="http://schemas.microsoft.com/office/drawing/2014/main" id="{1EFFFD41-748D-4CC2-A920-DE799236B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294" y="4072983"/>
            <a:ext cx="11353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rgbClr val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Outposts rack</a:t>
            </a:r>
            <a:br>
              <a:rPr lang="en-US" altLang="en-US" sz="800" dirty="0">
                <a:solidFill>
                  <a:srgbClr val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800" i="1" dirty="0">
                <a:solidFill>
                  <a:srgbClr val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regulated components</a:t>
            </a:r>
            <a:endParaRPr lang="en-US" altLang="en-US" sz="800" dirty="0">
              <a:solidFill>
                <a:srgbClr val="000000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84" name="Graphic 8">
            <a:extLst>
              <a:ext uri="{FF2B5EF4-FFF2-40B4-BE49-F238E27FC236}">
                <a16:creationId xmlns:a16="http://schemas.microsoft.com/office/drawing/2014/main" id="{22FBFAB0-254A-48F5-8479-F2DB83B43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 bwMode="auto">
          <a:xfrm>
            <a:off x="828847" y="2153140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B0DE94CF-7956-4A05-A014-C05F0A49AF13}"/>
              </a:ext>
            </a:extLst>
          </p:cNvPr>
          <p:cNvSpPr txBox="1"/>
          <p:nvPr/>
        </p:nvSpPr>
        <p:spPr>
          <a:xfrm>
            <a:off x="1125786" y="2165134"/>
            <a:ext cx="1016304" cy="24622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Local Zones</a:t>
            </a:r>
            <a:b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sz="8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regulated components</a:t>
            </a:r>
          </a:p>
        </p:txBody>
      </p:sp>
      <p:pic>
        <p:nvPicPr>
          <p:cNvPr id="86" name="Graphic 18">
            <a:extLst>
              <a:ext uri="{FF2B5EF4-FFF2-40B4-BE49-F238E27FC236}">
                <a16:creationId xmlns:a16="http://schemas.microsoft.com/office/drawing/2014/main" id="{5C6B3885-5E88-4D94-A921-F9C09781C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5763405" y="2681951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TextBox 9">
            <a:extLst>
              <a:ext uri="{FF2B5EF4-FFF2-40B4-BE49-F238E27FC236}">
                <a16:creationId xmlns:a16="http://schemas.microsoft.com/office/drawing/2014/main" id="{8065D5D3-D899-4E70-8FDD-98534CAF0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3604" y="2668804"/>
            <a:ext cx="124806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EKS</a:t>
            </a:r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C24C3D19-6E7E-491D-BA2E-1A5C5502265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9185948" y="2228156"/>
            <a:ext cx="274320" cy="274320"/>
          </a:xfrm>
          <a:prstGeom prst="rect">
            <a:avLst/>
          </a:prstGeom>
        </p:spPr>
      </p:pic>
      <p:sp>
        <p:nvSpPr>
          <p:cNvPr id="90" name="TextBox 17">
            <a:extLst>
              <a:ext uri="{FF2B5EF4-FFF2-40B4-BE49-F238E27FC236}">
                <a16:creationId xmlns:a16="http://schemas.microsoft.com/office/drawing/2014/main" id="{7F2FB21C-E2D8-4CEC-B284-BB0C0018A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6729" y="2204667"/>
            <a:ext cx="6428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account</a:t>
            </a:r>
          </a:p>
        </p:txBody>
      </p:sp>
      <p:pic>
        <p:nvPicPr>
          <p:cNvPr id="91" name="Graphic 6">
            <a:extLst>
              <a:ext uri="{FF2B5EF4-FFF2-40B4-BE49-F238E27FC236}">
                <a16:creationId xmlns:a16="http://schemas.microsoft.com/office/drawing/2014/main" id="{B5B9FFF1-0F1D-4571-816A-A8634114C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9233967" y="2797946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" name="TextBox 17">
            <a:extLst>
              <a:ext uri="{FF2B5EF4-FFF2-40B4-BE49-F238E27FC236}">
                <a16:creationId xmlns:a16="http://schemas.microsoft.com/office/drawing/2014/main" id="{910CE10F-A1F4-431F-8B50-80846B712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7568" y="2763804"/>
            <a:ext cx="6428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VPC</a:t>
            </a:r>
          </a:p>
        </p:txBody>
      </p:sp>
      <p:pic>
        <p:nvPicPr>
          <p:cNvPr id="93" name="Graphic 6">
            <a:extLst>
              <a:ext uri="{FF2B5EF4-FFF2-40B4-BE49-F238E27FC236}">
                <a16:creationId xmlns:a16="http://schemas.microsoft.com/office/drawing/2014/main" id="{3C7CA5D4-0303-40E7-87F5-34D408462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 bwMode="auto">
          <a:xfrm>
            <a:off x="7933941" y="4550523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" name="Graphic 93">
            <a:extLst>
              <a:ext uri="{FF2B5EF4-FFF2-40B4-BE49-F238E27FC236}">
                <a16:creationId xmlns:a16="http://schemas.microsoft.com/office/drawing/2014/main" id="{D898378B-00CC-4174-8705-57E110907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 bwMode="auto">
          <a:xfrm>
            <a:off x="7160029" y="4607875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" name="Graphic 94">
            <a:extLst>
              <a:ext uri="{FF2B5EF4-FFF2-40B4-BE49-F238E27FC236}">
                <a16:creationId xmlns:a16="http://schemas.microsoft.com/office/drawing/2014/main" id="{E10EF1C7-3CC8-4F32-98F9-22A77C23B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 bwMode="auto">
          <a:xfrm>
            <a:off x="7157408" y="3480851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" name="Graphic 6">
            <a:extLst>
              <a:ext uri="{FF2B5EF4-FFF2-40B4-BE49-F238E27FC236}">
                <a16:creationId xmlns:a16="http://schemas.microsoft.com/office/drawing/2014/main" id="{16D32209-1093-44ED-B89F-52691752D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4027563" y="1971709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" name="TextBox 17">
            <a:extLst>
              <a:ext uri="{FF2B5EF4-FFF2-40B4-BE49-F238E27FC236}">
                <a16:creationId xmlns:a16="http://schemas.microsoft.com/office/drawing/2014/main" id="{C7B572B4-4099-4521-B1F7-0C863A852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1244" y="1954485"/>
            <a:ext cx="77604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VPC</a:t>
            </a:r>
          </a:p>
        </p:txBody>
      </p:sp>
      <p:pic>
        <p:nvPicPr>
          <p:cNvPr id="98" name="Graphic 19">
            <a:extLst>
              <a:ext uri="{FF2B5EF4-FFF2-40B4-BE49-F238E27FC236}">
                <a16:creationId xmlns:a16="http://schemas.microsoft.com/office/drawing/2014/main" id="{BF511F64-65CF-4B2D-83A0-E7E891FFA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 bwMode="auto">
          <a:xfrm>
            <a:off x="3573700" y="3910202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" name="Graphic 17">
            <a:extLst>
              <a:ext uri="{FF2B5EF4-FFF2-40B4-BE49-F238E27FC236}">
                <a16:creationId xmlns:a16="http://schemas.microsoft.com/office/drawing/2014/main" id="{67CC003A-0D83-4197-BD4B-8BE3C80DB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 bwMode="auto">
          <a:xfrm>
            <a:off x="3403239" y="2729492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" name="Graphic 99">
            <a:extLst>
              <a:ext uri="{FF2B5EF4-FFF2-40B4-BE49-F238E27FC236}">
                <a16:creationId xmlns:a16="http://schemas.microsoft.com/office/drawing/2014/main" id="{EA5FD295-8A1C-4400-8B6C-9D8360B5730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843433" y="2886908"/>
            <a:ext cx="365760" cy="365760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6FE00B5C-F3D4-4B63-8C16-0620A45854E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3260285" y="1752890"/>
            <a:ext cx="274320" cy="274320"/>
          </a:xfrm>
          <a:prstGeom prst="rect">
            <a:avLst/>
          </a:prstGeom>
        </p:spPr>
      </p:pic>
      <p:sp>
        <p:nvSpPr>
          <p:cNvPr id="102" name="TextBox 17">
            <a:extLst>
              <a:ext uri="{FF2B5EF4-FFF2-40B4-BE49-F238E27FC236}">
                <a16:creationId xmlns:a16="http://schemas.microsoft.com/office/drawing/2014/main" id="{4B236258-A884-4395-A8E1-E05EE7B8D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0588" y="1759704"/>
            <a:ext cx="110489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account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7E51E94-3AD0-478D-B214-0C1482F25584}"/>
              </a:ext>
            </a:extLst>
          </p:cNvPr>
          <p:cNvGrpSpPr/>
          <p:nvPr/>
        </p:nvGrpSpPr>
        <p:grpSpPr>
          <a:xfrm>
            <a:off x="1245565" y="2427429"/>
            <a:ext cx="613399" cy="398781"/>
            <a:chOff x="3529178" y="3875181"/>
            <a:chExt cx="613399" cy="398781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2A1BC32-1233-45FF-ADC4-1DA3FD3C58CD}"/>
                </a:ext>
              </a:extLst>
            </p:cNvPr>
            <p:cNvSpPr/>
            <p:nvPr/>
          </p:nvSpPr>
          <p:spPr>
            <a:xfrm>
              <a:off x="3529178" y="4138002"/>
              <a:ext cx="613399" cy="135960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PAM</a:t>
              </a:r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59E13F7C-A4DD-4E57-A8A2-65B9314678C4}"/>
                </a:ext>
              </a:extLst>
            </p:cNvPr>
            <p:cNvGrpSpPr/>
            <p:nvPr/>
          </p:nvGrpSpPr>
          <p:grpSpPr>
            <a:xfrm>
              <a:off x="3603930" y="3875181"/>
              <a:ext cx="384445" cy="323148"/>
              <a:chOff x="3543296" y="3794345"/>
              <a:chExt cx="384445" cy="323148"/>
            </a:xfrm>
          </p:grpSpPr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231A139C-FE39-4344-9932-542D6E3B03F4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7CF36DEE-027C-41CB-96ED-851E42BE08CF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13" name="Graphic 112">
                  <a:extLst>
                    <a:ext uri="{FF2B5EF4-FFF2-40B4-BE49-F238E27FC236}">
                      <a16:creationId xmlns:a16="http://schemas.microsoft.com/office/drawing/2014/main" id="{D18F8B0F-9639-464C-9288-E6A9E26C8F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9265FDD6-27BA-4FD9-A755-62FBD8FA50C3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FFF6CED1-1A72-4151-B6E9-9AC885478FF7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11" name="Graphic 110">
                  <a:extLst>
                    <a:ext uri="{FF2B5EF4-FFF2-40B4-BE49-F238E27FC236}">
                      <a16:creationId xmlns:a16="http://schemas.microsoft.com/office/drawing/2014/main" id="{25877464-F530-4BBF-A907-817AA52B0C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A0AA8F4-A865-4B5B-9D2A-20C0DEB32737}"/>
              </a:ext>
            </a:extLst>
          </p:cNvPr>
          <p:cNvGrpSpPr/>
          <p:nvPr/>
        </p:nvGrpSpPr>
        <p:grpSpPr>
          <a:xfrm>
            <a:off x="1271137" y="2782840"/>
            <a:ext cx="613399" cy="398781"/>
            <a:chOff x="3529178" y="3875181"/>
            <a:chExt cx="613399" cy="398781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3E98B03B-AF60-4DBD-B510-CB357562E790}"/>
                </a:ext>
              </a:extLst>
            </p:cNvPr>
            <p:cNvSpPr/>
            <p:nvPr/>
          </p:nvSpPr>
          <p:spPr>
            <a:xfrm>
              <a:off x="3529178" y="4138002"/>
              <a:ext cx="613399" cy="135960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wallets</a:t>
              </a: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30909F17-AE2B-451F-9E04-FB1C63971CE3}"/>
                </a:ext>
              </a:extLst>
            </p:cNvPr>
            <p:cNvGrpSpPr/>
            <p:nvPr/>
          </p:nvGrpSpPr>
          <p:grpSpPr>
            <a:xfrm>
              <a:off x="3603930" y="3875181"/>
              <a:ext cx="384445" cy="323148"/>
              <a:chOff x="3543296" y="3794345"/>
              <a:chExt cx="384445" cy="323148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6E018B08-F7CD-4E42-8237-CDBFBCB7DE72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5BCDB043-54E8-41F0-A8D2-A7524C37EDA9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22" name="Graphic 121">
                  <a:extLst>
                    <a:ext uri="{FF2B5EF4-FFF2-40B4-BE49-F238E27FC236}">
                      <a16:creationId xmlns:a16="http://schemas.microsoft.com/office/drawing/2014/main" id="{98DFDB20-B60F-45D0-8F16-51230FB51D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CB7282E5-C912-4FFD-9E99-2F9D1ED7FC5C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3043CAD6-7A31-47A8-B765-0EA7C43885E6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20" name="Graphic 119">
                  <a:extLst>
                    <a:ext uri="{FF2B5EF4-FFF2-40B4-BE49-F238E27FC236}">
                      <a16:creationId xmlns:a16="http://schemas.microsoft.com/office/drawing/2014/main" id="{364A1873-9BBC-4971-8420-7779952EAC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3ECC0225-0BCE-4740-AC80-9DCEB15DCC2A}"/>
              </a:ext>
            </a:extLst>
          </p:cNvPr>
          <p:cNvGrpSpPr/>
          <p:nvPr/>
        </p:nvGrpSpPr>
        <p:grpSpPr>
          <a:xfrm>
            <a:off x="1214271" y="3171920"/>
            <a:ext cx="724108" cy="386327"/>
            <a:chOff x="3461245" y="3875181"/>
            <a:chExt cx="724108" cy="386327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255C5D69-B0CB-4ADD-8F1A-E6560FB6789B}"/>
                </a:ext>
              </a:extLst>
            </p:cNvPr>
            <p:cNvSpPr/>
            <p:nvPr/>
          </p:nvSpPr>
          <p:spPr>
            <a:xfrm>
              <a:off x="3461245" y="4137690"/>
              <a:ext cx="724108" cy="123818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sportsbook</a:t>
              </a:r>
            </a:p>
          </p:txBody>
        </p: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F7F0E886-3ED1-4798-987D-DD2164256520}"/>
                </a:ext>
              </a:extLst>
            </p:cNvPr>
            <p:cNvGrpSpPr/>
            <p:nvPr/>
          </p:nvGrpSpPr>
          <p:grpSpPr>
            <a:xfrm>
              <a:off x="3603930" y="3875181"/>
              <a:ext cx="384445" cy="323148"/>
              <a:chOff x="3543296" y="3794345"/>
              <a:chExt cx="384445" cy="323148"/>
            </a:xfrm>
          </p:grpSpPr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D3255015-3605-41D9-B1A2-43E1131DF515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76D302BB-3F35-4B62-B0B0-6B6835EB7A79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31" name="Graphic 130">
                  <a:extLst>
                    <a:ext uri="{FF2B5EF4-FFF2-40B4-BE49-F238E27FC236}">
                      <a16:creationId xmlns:a16="http://schemas.microsoft.com/office/drawing/2014/main" id="{A9849E2B-1E04-480D-B218-5777DF81C0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4129A255-0B69-47DE-8F3E-AE3988755E4D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D90F7A52-253A-45E5-8E01-D396AF3C7524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29" name="Graphic 128">
                  <a:extLst>
                    <a:ext uri="{FF2B5EF4-FFF2-40B4-BE49-F238E27FC236}">
                      <a16:creationId xmlns:a16="http://schemas.microsoft.com/office/drawing/2014/main" id="{A4F587E5-A688-47DC-8F81-0C32CC8AFD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C469B046-8355-4E33-8D75-2B389B793B51}"/>
              </a:ext>
            </a:extLst>
          </p:cNvPr>
          <p:cNvGrpSpPr/>
          <p:nvPr/>
        </p:nvGrpSpPr>
        <p:grpSpPr>
          <a:xfrm>
            <a:off x="1302093" y="4450164"/>
            <a:ext cx="613399" cy="398781"/>
            <a:chOff x="3529178" y="3875181"/>
            <a:chExt cx="613399" cy="398781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6AF7FBFF-2E49-4AE9-855B-EAA8F9A155AF}"/>
                </a:ext>
              </a:extLst>
            </p:cNvPr>
            <p:cNvSpPr/>
            <p:nvPr/>
          </p:nvSpPr>
          <p:spPr>
            <a:xfrm>
              <a:off x="3529178" y="4138002"/>
              <a:ext cx="613399" cy="135960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PAM</a:t>
              </a:r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C8A276EC-3FF2-4EC2-A0A3-087D8C213FBE}"/>
                </a:ext>
              </a:extLst>
            </p:cNvPr>
            <p:cNvGrpSpPr/>
            <p:nvPr/>
          </p:nvGrpSpPr>
          <p:grpSpPr>
            <a:xfrm>
              <a:off x="3603930" y="3875181"/>
              <a:ext cx="384445" cy="323148"/>
              <a:chOff x="3543296" y="3794345"/>
              <a:chExt cx="384445" cy="323148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DD89CCD7-C574-4926-812E-60A08CE7A955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2F9D438C-FB99-46DD-8EC2-001012B93F72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40" name="Graphic 139">
                  <a:extLst>
                    <a:ext uri="{FF2B5EF4-FFF2-40B4-BE49-F238E27FC236}">
                      <a16:creationId xmlns:a16="http://schemas.microsoft.com/office/drawing/2014/main" id="{4F7A45B8-C287-4F81-A246-C0222BAD88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3032ACE7-1CE4-4D26-91CC-B58A0730F9FD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151CD230-37BA-4F56-9019-26AA711FD129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38" name="Graphic 137">
                  <a:extLst>
                    <a:ext uri="{FF2B5EF4-FFF2-40B4-BE49-F238E27FC236}">
                      <a16:creationId xmlns:a16="http://schemas.microsoft.com/office/drawing/2014/main" id="{F2C1C38C-7BE8-44B0-86D4-F42D9100E5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2163E05E-5E3A-4F8D-A93B-9337041E95BB}"/>
              </a:ext>
            </a:extLst>
          </p:cNvPr>
          <p:cNvGrpSpPr/>
          <p:nvPr/>
        </p:nvGrpSpPr>
        <p:grpSpPr>
          <a:xfrm>
            <a:off x="1327665" y="4805575"/>
            <a:ext cx="613399" cy="398781"/>
            <a:chOff x="3529178" y="3875181"/>
            <a:chExt cx="613399" cy="398781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5FC7454-86D7-4A65-8BE5-E02C4E1660A2}"/>
                </a:ext>
              </a:extLst>
            </p:cNvPr>
            <p:cNvSpPr/>
            <p:nvPr/>
          </p:nvSpPr>
          <p:spPr>
            <a:xfrm>
              <a:off x="3529178" y="4138002"/>
              <a:ext cx="613399" cy="135960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wallets</a:t>
              </a:r>
            </a:p>
          </p:txBody>
        </p: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B5317CF1-0CB3-4CDC-A6CA-548033B62AE4}"/>
                </a:ext>
              </a:extLst>
            </p:cNvPr>
            <p:cNvGrpSpPr/>
            <p:nvPr/>
          </p:nvGrpSpPr>
          <p:grpSpPr>
            <a:xfrm>
              <a:off x="3603930" y="3875181"/>
              <a:ext cx="384445" cy="323148"/>
              <a:chOff x="3543296" y="3794345"/>
              <a:chExt cx="384445" cy="323148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0B797C87-C3AE-478B-97BA-E7E6E98B9579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C2D3323E-E7C7-43FA-9870-4B2FD45F0894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50" name="Graphic 149">
                  <a:extLst>
                    <a:ext uri="{FF2B5EF4-FFF2-40B4-BE49-F238E27FC236}">
                      <a16:creationId xmlns:a16="http://schemas.microsoft.com/office/drawing/2014/main" id="{8CB4280B-3D8D-4647-8451-1BA159B901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6515412D-2C94-4784-B831-BCE563765518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55A1D69D-23A4-4238-9404-C91610821ACD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47" name="Graphic 146">
                  <a:extLst>
                    <a:ext uri="{FF2B5EF4-FFF2-40B4-BE49-F238E27FC236}">
                      <a16:creationId xmlns:a16="http://schemas.microsoft.com/office/drawing/2014/main" id="{6B66F072-C5D6-4F6E-810C-26E4AA9973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3F63373-3BCB-41B2-8B48-A9D86AB677FF}"/>
              </a:ext>
            </a:extLst>
          </p:cNvPr>
          <p:cNvGrpSpPr/>
          <p:nvPr/>
        </p:nvGrpSpPr>
        <p:grpSpPr>
          <a:xfrm>
            <a:off x="1270799" y="5194655"/>
            <a:ext cx="724108" cy="386327"/>
            <a:chOff x="3461245" y="3875181"/>
            <a:chExt cx="724108" cy="386327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5883BF77-DB55-4DE5-A603-FEAD7C76BFA5}"/>
                </a:ext>
              </a:extLst>
            </p:cNvPr>
            <p:cNvSpPr/>
            <p:nvPr/>
          </p:nvSpPr>
          <p:spPr>
            <a:xfrm>
              <a:off x="3461245" y="4137690"/>
              <a:ext cx="724108" cy="123818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sportsbook</a:t>
              </a: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61747C19-FF2D-4B59-88B6-5A7BAFFD44AA}"/>
                </a:ext>
              </a:extLst>
            </p:cNvPr>
            <p:cNvGrpSpPr/>
            <p:nvPr/>
          </p:nvGrpSpPr>
          <p:grpSpPr>
            <a:xfrm>
              <a:off x="3603930" y="3875181"/>
              <a:ext cx="384445" cy="323148"/>
              <a:chOff x="3543296" y="3794345"/>
              <a:chExt cx="384445" cy="323148"/>
            </a:xfrm>
          </p:grpSpPr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62C01D4F-74DF-40DE-9C42-EBFEE7805F55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E38C2AEA-CE1E-4CBC-8D44-873A45F79EEF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59" name="Graphic 158">
                  <a:extLst>
                    <a:ext uri="{FF2B5EF4-FFF2-40B4-BE49-F238E27FC236}">
                      <a16:creationId xmlns:a16="http://schemas.microsoft.com/office/drawing/2014/main" id="{05A7E817-CBBF-4FED-A1B5-AB86AE6F45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F19D0AB0-396A-48AD-9F37-B0CF035FB512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017C1F7F-E5D1-4454-B5A5-0A2447985E02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57" name="Graphic 156">
                  <a:extLst>
                    <a:ext uri="{FF2B5EF4-FFF2-40B4-BE49-F238E27FC236}">
                      <a16:creationId xmlns:a16="http://schemas.microsoft.com/office/drawing/2014/main" id="{0E42B5B8-C7F5-43BE-A707-5F3FE9B20B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160" name="TextBox 25">
            <a:extLst>
              <a:ext uri="{FF2B5EF4-FFF2-40B4-BE49-F238E27FC236}">
                <a16:creationId xmlns:a16="http://schemas.microsoft.com/office/drawing/2014/main" id="{48C03D70-6A92-4CCE-AFC4-9DB8F3F44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1559" y="3712302"/>
            <a:ext cx="113535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rgbClr val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Corporate data center</a:t>
            </a:r>
          </a:p>
        </p:txBody>
      </p:sp>
      <p:pic>
        <p:nvPicPr>
          <p:cNvPr id="161" name="Graphic 160">
            <a:extLst>
              <a:ext uri="{FF2B5EF4-FFF2-40B4-BE49-F238E27FC236}">
                <a16:creationId xmlns:a16="http://schemas.microsoft.com/office/drawing/2014/main" id="{457128AF-A88E-43A2-AECB-3AC9A088FEF8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5597627" y="2461525"/>
            <a:ext cx="182880" cy="182880"/>
          </a:xfrm>
          <a:prstGeom prst="rect">
            <a:avLst/>
          </a:prstGeom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C5A22601-3C2D-4311-BD33-5B8DF6F3EC24}"/>
              </a:ext>
            </a:extLst>
          </p:cNvPr>
          <p:cNvSpPr txBox="1"/>
          <p:nvPr/>
        </p:nvSpPr>
        <p:spPr>
          <a:xfrm>
            <a:off x="5726523" y="2440910"/>
            <a:ext cx="9004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63" name="Graphic 162">
            <a:extLst>
              <a:ext uri="{FF2B5EF4-FFF2-40B4-BE49-F238E27FC236}">
                <a16:creationId xmlns:a16="http://schemas.microsoft.com/office/drawing/2014/main" id="{B8F84B29-B3DD-43F5-A1AE-F343567E1259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4542782" y="2561596"/>
            <a:ext cx="182880" cy="182880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5C0B5AD5-81C6-4C1A-8540-A13A310F85B8}"/>
              </a:ext>
            </a:extLst>
          </p:cNvPr>
          <p:cNvSpPr txBox="1"/>
          <p:nvPr/>
        </p:nvSpPr>
        <p:spPr>
          <a:xfrm>
            <a:off x="4651435" y="2546402"/>
            <a:ext cx="1670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9CA0709D-CB05-4DFD-9EE5-76BB6CD218A4}"/>
              </a:ext>
            </a:extLst>
          </p:cNvPr>
          <p:cNvSpPr txBox="1"/>
          <p:nvPr/>
        </p:nvSpPr>
        <p:spPr>
          <a:xfrm>
            <a:off x="5364138" y="2243734"/>
            <a:ext cx="1670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C8FE6B08-5216-4BFE-BBB8-EFFB53A77793}"/>
              </a:ext>
            </a:extLst>
          </p:cNvPr>
          <p:cNvGrpSpPr/>
          <p:nvPr/>
        </p:nvGrpSpPr>
        <p:grpSpPr>
          <a:xfrm>
            <a:off x="5957239" y="2975843"/>
            <a:ext cx="809228" cy="472634"/>
            <a:chOff x="5528295" y="3466079"/>
            <a:chExt cx="809228" cy="472634"/>
          </a:xfrm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03451853-F27C-4272-8C60-E223DA13A069}"/>
                </a:ext>
              </a:extLst>
            </p:cNvPr>
            <p:cNvSpPr/>
            <p:nvPr/>
          </p:nvSpPr>
          <p:spPr>
            <a:xfrm>
              <a:off x="5528295" y="3739034"/>
              <a:ext cx="809228" cy="199679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management tools</a:t>
              </a: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21C9DC22-1DAA-43D0-BD74-5FF4903BF96A}"/>
                </a:ext>
              </a:extLst>
            </p:cNvPr>
            <p:cNvGrpSpPr/>
            <p:nvPr/>
          </p:nvGrpSpPr>
          <p:grpSpPr>
            <a:xfrm>
              <a:off x="5682966" y="3466079"/>
              <a:ext cx="384445" cy="323148"/>
              <a:chOff x="3543296" y="3794345"/>
              <a:chExt cx="384445" cy="323148"/>
            </a:xfrm>
          </p:grpSpPr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EA69B9CD-9244-45C8-9799-5451F5C7A07B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173" name="Rectangle 172">
                  <a:extLst>
                    <a:ext uri="{FF2B5EF4-FFF2-40B4-BE49-F238E27FC236}">
                      <a16:creationId xmlns:a16="http://schemas.microsoft.com/office/drawing/2014/main" id="{29CF5F7F-BF3F-4A7B-8811-052362750245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74" name="Graphic 173">
                  <a:extLst>
                    <a:ext uri="{FF2B5EF4-FFF2-40B4-BE49-F238E27FC236}">
                      <a16:creationId xmlns:a16="http://schemas.microsoft.com/office/drawing/2014/main" id="{22BF1EB7-E5CC-45F2-9572-F30DA2C2AF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4050C708-34B4-4F86-92F6-D50B68E34D4C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E3F078EF-4292-401D-8222-14D9CE45C128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72" name="Graphic 171">
                  <a:extLst>
                    <a:ext uri="{FF2B5EF4-FFF2-40B4-BE49-F238E27FC236}">
                      <a16:creationId xmlns:a16="http://schemas.microsoft.com/office/drawing/2014/main" id="{086D6873-5639-482C-A46E-8FB72D660F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50A8128-8D55-40DF-BFC2-74BCC857CA6D}"/>
              </a:ext>
            </a:extLst>
          </p:cNvPr>
          <p:cNvGrpSpPr/>
          <p:nvPr/>
        </p:nvGrpSpPr>
        <p:grpSpPr>
          <a:xfrm>
            <a:off x="5902876" y="3567392"/>
            <a:ext cx="785299" cy="482257"/>
            <a:chOff x="5459146" y="3869275"/>
            <a:chExt cx="785299" cy="482257"/>
          </a:xfrm>
        </p:grpSpPr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F0C74EE4-D747-4CE2-8F7A-228A72D85FFA}"/>
                </a:ext>
              </a:extLst>
            </p:cNvPr>
            <p:cNvSpPr/>
            <p:nvPr/>
          </p:nvSpPr>
          <p:spPr>
            <a:xfrm>
              <a:off x="5459146" y="4174393"/>
              <a:ext cx="785299" cy="177139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odds engine</a:t>
              </a:r>
            </a:p>
          </p:txBody>
        </p: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79D7BEF6-0446-4361-8587-3DB061376E0C}"/>
                </a:ext>
              </a:extLst>
            </p:cNvPr>
            <p:cNvGrpSpPr/>
            <p:nvPr/>
          </p:nvGrpSpPr>
          <p:grpSpPr>
            <a:xfrm>
              <a:off x="5670917" y="3869275"/>
              <a:ext cx="384445" cy="323148"/>
              <a:chOff x="3543296" y="3794345"/>
              <a:chExt cx="384445" cy="323148"/>
            </a:xfrm>
          </p:grpSpPr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FC937E9E-B17B-499B-8766-20718618CFEA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182" name="Rectangle 181">
                  <a:extLst>
                    <a:ext uri="{FF2B5EF4-FFF2-40B4-BE49-F238E27FC236}">
                      <a16:creationId xmlns:a16="http://schemas.microsoft.com/office/drawing/2014/main" id="{E08993B1-4389-4D39-868D-AC068E9160DD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83" name="Graphic 182">
                  <a:extLst>
                    <a:ext uri="{FF2B5EF4-FFF2-40B4-BE49-F238E27FC236}">
                      <a16:creationId xmlns:a16="http://schemas.microsoft.com/office/drawing/2014/main" id="{0DDABDA3-C040-4451-91D4-56C5E8F730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79" name="Group 178">
                <a:extLst>
                  <a:ext uri="{FF2B5EF4-FFF2-40B4-BE49-F238E27FC236}">
                    <a16:creationId xmlns:a16="http://schemas.microsoft.com/office/drawing/2014/main" id="{FED0F848-3550-4C49-AF31-7EA8C999D0C4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CFA11C09-5D25-4AB7-A2CF-A19FE3D49E15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81" name="Graphic 180">
                  <a:extLst>
                    <a:ext uri="{FF2B5EF4-FFF2-40B4-BE49-F238E27FC236}">
                      <a16:creationId xmlns:a16="http://schemas.microsoft.com/office/drawing/2014/main" id="{419359AA-0C63-4E2D-B0A7-EF1EDE4830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7CCE9908-7BEC-4872-9D72-5AF2C5F8D31D}"/>
              </a:ext>
            </a:extLst>
          </p:cNvPr>
          <p:cNvGrpSpPr/>
          <p:nvPr/>
        </p:nvGrpSpPr>
        <p:grpSpPr>
          <a:xfrm>
            <a:off x="5943557" y="4300541"/>
            <a:ext cx="686243" cy="423118"/>
            <a:chOff x="5495449" y="4377704"/>
            <a:chExt cx="686243" cy="423118"/>
          </a:xfrm>
        </p:grpSpPr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68DC4709-55E0-4397-8CEE-8A28A6EE3D64}"/>
                </a:ext>
              </a:extLst>
            </p:cNvPr>
            <p:cNvSpPr/>
            <p:nvPr/>
          </p:nvSpPr>
          <p:spPr>
            <a:xfrm>
              <a:off x="5495449" y="4635456"/>
              <a:ext cx="686243" cy="165366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risk/fraud</a:t>
              </a:r>
            </a:p>
          </p:txBody>
        </p: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A34B117E-45EA-4C58-87BF-5139B9260760}"/>
                </a:ext>
              </a:extLst>
            </p:cNvPr>
            <p:cNvGrpSpPr/>
            <p:nvPr/>
          </p:nvGrpSpPr>
          <p:grpSpPr>
            <a:xfrm>
              <a:off x="5650369" y="4377704"/>
              <a:ext cx="384445" cy="323148"/>
              <a:chOff x="3543296" y="3794345"/>
              <a:chExt cx="384445" cy="323148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DBA701A0-58F5-4548-8926-3CFC8F9B647B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191" name="Rectangle 190">
                  <a:extLst>
                    <a:ext uri="{FF2B5EF4-FFF2-40B4-BE49-F238E27FC236}">
                      <a16:creationId xmlns:a16="http://schemas.microsoft.com/office/drawing/2014/main" id="{6043B37F-F3AD-48A0-979C-05D5646E93F9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92" name="Graphic 191">
                  <a:extLst>
                    <a:ext uri="{FF2B5EF4-FFF2-40B4-BE49-F238E27FC236}">
                      <a16:creationId xmlns:a16="http://schemas.microsoft.com/office/drawing/2014/main" id="{7F4692E7-BF45-4AE1-8AF2-EBD38CD221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AB12A0AD-6400-444F-A1F7-5B09920092A2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EE4327B2-24F2-486F-ABF0-3DFF9B0FA3FF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90" name="Graphic 189">
                  <a:extLst>
                    <a:ext uri="{FF2B5EF4-FFF2-40B4-BE49-F238E27FC236}">
                      <a16:creationId xmlns:a16="http://schemas.microsoft.com/office/drawing/2014/main" id="{B293E3F9-2D61-4977-A06A-5EE29E1020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A06D70E8-301C-4323-A763-8558172FD107}"/>
              </a:ext>
            </a:extLst>
          </p:cNvPr>
          <p:cNvGrpSpPr/>
          <p:nvPr/>
        </p:nvGrpSpPr>
        <p:grpSpPr>
          <a:xfrm>
            <a:off x="6067077" y="4701110"/>
            <a:ext cx="544991" cy="452825"/>
            <a:chOff x="5571128" y="4780575"/>
            <a:chExt cx="544991" cy="452825"/>
          </a:xfrm>
        </p:grpSpPr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339A51D9-C20E-4A3E-8452-AA2B363185CD}"/>
                </a:ext>
              </a:extLst>
            </p:cNvPr>
            <p:cNvSpPr/>
            <p:nvPr/>
          </p:nvSpPr>
          <p:spPr>
            <a:xfrm>
              <a:off x="5571128" y="5066388"/>
              <a:ext cx="544991" cy="167012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promo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A3D52D3A-55B8-4B84-B595-F8F0B9CEED60}"/>
                </a:ext>
              </a:extLst>
            </p:cNvPr>
            <p:cNvGrpSpPr/>
            <p:nvPr/>
          </p:nvGrpSpPr>
          <p:grpSpPr>
            <a:xfrm>
              <a:off x="5639521" y="4780575"/>
              <a:ext cx="384445" cy="323148"/>
              <a:chOff x="3543296" y="3794345"/>
              <a:chExt cx="384445" cy="323148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A2AD3A56-2EBF-41DC-A6DD-E2430AA7468A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200" name="Rectangle 199">
                  <a:extLst>
                    <a:ext uri="{FF2B5EF4-FFF2-40B4-BE49-F238E27FC236}">
                      <a16:creationId xmlns:a16="http://schemas.microsoft.com/office/drawing/2014/main" id="{C4FF895D-6643-429B-AA2E-504DD22485AC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201" name="Graphic 200">
                  <a:extLst>
                    <a:ext uri="{FF2B5EF4-FFF2-40B4-BE49-F238E27FC236}">
                      <a16:creationId xmlns:a16="http://schemas.microsoft.com/office/drawing/2014/main" id="{CDF4A63C-FB95-46E0-B0EA-4DC1239750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DED6AEF5-88A0-4B9D-B407-B505F259207B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5EAD32E6-C12A-4F3B-B85E-A5E60FCB67A8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99" name="Graphic 198">
                  <a:extLst>
                    <a:ext uri="{FF2B5EF4-FFF2-40B4-BE49-F238E27FC236}">
                      <a16:creationId xmlns:a16="http://schemas.microsoft.com/office/drawing/2014/main" id="{AECAC095-CF53-4F6F-99B8-1C81AA3D7D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E72D053E-D37B-4DA5-9A20-476863BB7224}"/>
              </a:ext>
            </a:extLst>
          </p:cNvPr>
          <p:cNvGrpSpPr/>
          <p:nvPr/>
        </p:nvGrpSpPr>
        <p:grpSpPr>
          <a:xfrm>
            <a:off x="5976014" y="5113274"/>
            <a:ext cx="701337" cy="406488"/>
            <a:chOff x="5534609" y="5228933"/>
            <a:chExt cx="701337" cy="406488"/>
          </a:xfrm>
        </p:grpSpPr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71A6B444-CD3D-42A0-AA9C-1FE4461C278F}"/>
                </a:ext>
              </a:extLst>
            </p:cNvPr>
            <p:cNvSpPr/>
            <p:nvPr/>
          </p:nvSpPr>
          <p:spPr>
            <a:xfrm>
              <a:off x="5534609" y="5498232"/>
              <a:ext cx="701337" cy="137189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bet basket</a:t>
              </a:r>
            </a:p>
          </p:txBody>
        </p: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3296A687-3F15-4C75-B67B-E93D7BA4B648}"/>
                </a:ext>
              </a:extLst>
            </p:cNvPr>
            <p:cNvGrpSpPr/>
            <p:nvPr/>
          </p:nvGrpSpPr>
          <p:grpSpPr>
            <a:xfrm>
              <a:off x="5693367" y="5228933"/>
              <a:ext cx="384445" cy="323148"/>
              <a:chOff x="3543296" y="3794345"/>
              <a:chExt cx="384445" cy="323148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B0329D67-2861-4A27-ADA6-17829A2EF9F0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209" name="Rectangle 208">
                  <a:extLst>
                    <a:ext uri="{FF2B5EF4-FFF2-40B4-BE49-F238E27FC236}">
                      <a16:creationId xmlns:a16="http://schemas.microsoft.com/office/drawing/2014/main" id="{10DEE5F6-42C2-4912-AAEA-866AC47ED267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210" name="Graphic 209">
                  <a:extLst>
                    <a:ext uri="{FF2B5EF4-FFF2-40B4-BE49-F238E27FC236}">
                      <a16:creationId xmlns:a16="http://schemas.microsoft.com/office/drawing/2014/main" id="{639C6FAF-63A9-4D90-B846-A110BB1C78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206" name="Group 205">
                <a:extLst>
                  <a:ext uri="{FF2B5EF4-FFF2-40B4-BE49-F238E27FC236}">
                    <a16:creationId xmlns:a16="http://schemas.microsoft.com/office/drawing/2014/main" id="{92B0B796-489B-4E35-8DBC-F2BF134E9E22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207" name="Rectangle 206">
                  <a:extLst>
                    <a:ext uri="{FF2B5EF4-FFF2-40B4-BE49-F238E27FC236}">
                      <a16:creationId xmlns:a16="http://schemas.microsoft.com/office/drawing/2014/main" id="{D5D09014-81EF-433B-A89C-8F9AC9BB8C25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208" name="Graphic 207">
                  <a:extLst>
                    <a:ext uri="{FF2B5EF4-FFF2-40B4-BE49-F238E27FC236}">
                      <a16:creationId xmlns:a16="http://schemas.microsoft.com/office/drawing/2014/main" id="{DE506932-96B3-4F19-98E0-4402DC120C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211" name="TextBox 210">
            <a:extLst>
              <a:ext uri="{FF2B5EF4-FFF2-40B4-BE49-F238E27FC236}">
                <a16:creationId xmlns:a16="http://schemas.microsoft.com/office/drawing/2014/main" id="{B356FF31-18C9-4760-8B06-5DF5E7703FDF}"/>
              </a:ext>
            </a:extLst>
          </p:cNvPr>
          <p:cNvSpPr txBox="1"/>
          <p:nvPr/>
        </p:nvSpPr>
        <p:spPr>
          <a:xfrm>
            <a:off x="4888079" y="5274892"/>
            <a:ext cx="54873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WebSocket live feed</a:t>
            </a:r>
            <a:endParaRPr lang="en-DE" sz="8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030D83B9-4946-4615-9B83-88770F2DAA3B}"/>
              </a:ext>
            </a:extLst>
          </p:cNvPr>
          <p:cNvGrpSpPr/>
          <p:nvPr/>
        </p:nvGrpSpPr>
        <p:grpSpPr>
          <a:xfrm>
            <a:off x="4831627" y="4090406"/>
            <a:ext cx="365760" cy="365760"/>
            <a:chOff x="3742361" y="5229210"/>
            <a:chExt cx="365760" cy="365760"/>
          </a:xfrm>
        </p:grpSpPr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32118171-A702-4D9B-A3D1-1B9F78085AD5}"/>
                </a:ext>
              </a:extLst>
            </p:cNvPr>
            <p:cNvSpPr/>
            <p:nvPr/>
          </p:nvSpPr>
          <p:spPr>
            <a:xfrm>
              <a:off x="3756977" y="5245995"/>
              <a:ext cx="347472" cy="347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14" name="Graphic 213">
              <a:extLst>
                <a:ext uri="{FF2B5EF4-FFF2-40B4-BE49-F238E27FC236}">
                  <a16:creationId xmlns:a16="http://schemas.microsoft.com/office/drawing/2014/main" id="{D19480A3-DA22-4CB9-9BE5-3FB2B42EB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3742361" y="5229210"/>
              <a:ext cx="365760" cy="365760"/>
            </a:xfrm>
            <a:prstGeom prst="rect">
              <a:avLst/>
            </a:prstGeom>
          </p:spPr>
        </p:pic>
      </p:grpSp>
      <p:cxnSp>
        <p:nvCxnSpPr>
          <p:cNvPr id="215" name="Elbow Connector 255">
            <a:extLst>
              <a:ext uri="{FF2B5EF4-FFF2-40B4-BE49-F238E27FC236}">
                <a16:creationId xmlns:a16="http://schemas.microsoft.com/office/drawing/2014/main" id="{2D62A128-6749-4719-8FD5-972FB7E4F528}"/>
              </a:ext>
            </a:extLst>
          </p:cNvPr>
          <p:cNvCxnSpPr>
            <a:cxnSpLocks/>
            <a:stCxn id="98" idx="3"/>
            <a:endCxn id="214" idx="1"/>
          </p:cNvCxnSpPr>
          <p:nvPr/>
        </p:nvCxnSpPr>
        <p:spPr>
          <a:xfrm>
            <a:off x="3939460" y="4093082"/>
            <a:ext cx="892167" cy="180204"/>
          </a:xfrm>
          <a:prstGeom prst="bentConnector3">
            <a:avLst>
              <a:gd name="adj1" fmla="val 50000"/>
            </a:avLst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892C606B-C5F4-4F44-9BF4-A72319D80026}"/>
              </a:ext>
            </a:extLst>
          </p:cNvPr>
          <p:cNvGrpSpPr/>
          <p:nvPr/>
        </p:nvGrpSpPr>
        <p:grpSpPr>
          <a:xfrm>
            <a:off x="9464840" y="3891238"/>
            <a:ext cx="274320" cy="274320"/>
            <a:chOff x="9280567" y="1794094"/>
            <a:chExt cx="274320" cy="274320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60F09D67-D5E3-4B2D-8DF4-86B39F1034AD}"/>
                </a:ext>
              </a:extLst>
            </p:cNvPr>
            <p:cNvSpPr/>
            <p:nvPr/>
          </p:nvSpPr>
          <p:spPr>
            <a:xfrm>
              <a:off x="9296401" y="1803372"/>
              <a:ext cx="234790" cy="2534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18" name="Graphic 217">
              <a:extLst>
                <a:ext uri="{FF2B5EF4-FFF2-40B4-BE49-F238E27FC236}">
                  <a16:creationId xmlns:a16="http://schemas.microsoft.com/office/drawing/2014/main" id="{3A209B43-A51F-4DBB-AFDC-F12231EA5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9280567" y="1794094"/>
              <a:ext cx="274320" cy="274320"/>
            </a:xfrm>
            <a:prstGeom prst="rect">
              <a:avLst/>
            </a:prstGeom>
          </p:spPr>
        </p:pic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35818C24-C2E4-4DB4-88E7-EAD3CF2B776D}"/>
              </a:ext>
            </a:extLst>
          </p:cNvPr>
          <p:cNvGrpSpPr/>
          <p:nvPr/>
        </p:nvGrpSpPr>
        <p:grpSpPr>
          <a:xfrm>
            <a:off x="8687720" y="5362923"/>
            <a:ext cx="274320" cy="274320"/>
            <a:chOff x="9280567" y="1794094"/>
            <a:chExt cx="274320" cy="274320"/>
          </a:xfrm>
        </p:grpSpPr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A2AF1C5F-4126-4ECF-B299-B3016D81A3B6}"/>
                </a:ext>
              </a:extLst>
            </p:cNvPr>
            <p:cNvSpPr/>
            <p:nvPr/>
          </p:nvSpPr>
          <p:spPr>
            <a:xfrm>
              <a:off x="9296401" y="1803372"/>
              <a:ext cx="234790" cy="2534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1" name="Graphic 220">
              <a:extLst>
                <a:ext uri="{FF2B5EF4-FFF2-40B4-BE49-F238E27FC236}">
                  <a16:creationId xmlns:a16="http://schemas.microsoft.com/office/drawing/2014/main" id="{731A5A59-A130-4F81-BC9D-C3D79220E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9280567" y="1794094"/>
              <a:ext cx="274320" cy="274320"/>
            </a:xfrm>
            <a:prstGeom prst="rect">
              <a:avLst/>
            </a:prstGeom>
          </p:spPr>
        </p:pic>
      </p:grpSp>
      <p:pic>
        <p:nvPicPr>
          <p:cNvPr id="222" name="Graphic 23">
            <a:extLst>
              <a:ext uri="{FF2B5EF4-FFF2-40B4-BE49-F238E27FC236}">
                <a16:creationId xmlns:a16="http://schemas.microsoft.com/office/drawing/2014/main" id="{5C259708-EC76-4DFA-935B-D4BC18BF6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 bwMode="auto">
          <a:xfrm>
            <a:off x="8630757" y="4078982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3" name="TextBox 222">
            <a:extLst>
              <a:ext uri="{FF2B5EF4-FFF2-40B4-BE49-F238E27FC236}">
                <a16:creationId xmlns:a16="http://schemas.microsoft.com/office/drawing/2014/main" id="{36A2B2BF-3CA0-4D5E-A5B5-81B6F19CDA93}"/>
              </a:ext>
            </a:extLst>
          </p:cNvPr>
          <p:cNvSpPr txBox="1"/>
          <p:nvPr/>
        </p:nvSpPr>
        <p:spPr>
          <a:xfrm>
            <a:off x="5678092" y="5707749"/>
            <a:ext cx="1670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sp>
        <p:nvSpPr>
          <p:cNvPr id="224" name="TextBox 9">
            <a:extLst>
              <a:ext uri="{FF2B5EF4-FFF2-40B4-BE49-F238E27FC236}">
                <a16:creationId xmlns:a16="http://schemas.microsoft.com/office/drawing/2014/main" id="{59207E0D-890D-411F-9CF7-F919E0D98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8971" y="3151184"/>
            <a:ext cx="1363064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defRPr/>
            </a:pP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internal database group</a:t>
            </a:r>
          </a:p>
        </p:txBody>
      </p:sp>
      <p:pic>
        <p:nvPicPr>
          <p:cNvPr id="225" name="Graphic 8">
            <a:extLst>
              <a:ext uri="{FF2B5EF4-FFF2-40B4-BE49-F238E27FC236}">
                <a16:creationId xmlns:a16="http://schemas.microsoft.com/office/drawing/2014/main" id="{C78F8D8B-1243-4113-9C68-6308F672E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 bwMode="auto">
          <a:xfrm>
            <a:off x="3117766" y="3956524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9" name="Graphic 6">
            <a:extLst>
              <a:ext uri="{FF2B5EF4-FFF2-40B4-BE49-F238E27FC236}">
                <a16:creationId xmlns:a16="http://schemas.microsoft.com/office/drawing/2014/main" id="{18CB2E62-466A-4242-9055-A6F9C826E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 bwMode="auto">
          <a:xfrm>
            <a:off x="7905577" y="3419333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8" name="Graphic 237">
            <a:extLst>
              <a:ext uri="{FF2B5EF4-FFF2-40B4-BE49-F238E27FC236}">
                <a16:creationId xmlns:a16="http://schemas.microsoft.com/office/drawing/2014/main" id="{862E30FF-97E9-4A46-BCAD-DBF2350ACA1D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3159344" y="1440445"/>
            <a:ext cx="274320" cy="274320"/>
          </a:xfrm>
          <a:prstGeom prst="rect">
            <a:avLst/>
          </a:prstGeom>
        </p:spPr>
      </p:pic>
      <p:sp>
        <p:nvSpPr>
          <p:cNvPr id="239" name="Oval 238">
            <a:extLst>
              <a:ext uri="{FF2B5EF4-FFF2-40B4-BE49-F238E27FC236}">
                <a16:creationId xmlns:a16="http://schemas.microsoft.com/office/drawing/2014/main" id="{CB759898-1E5C-4548-8933-4AC9F452607C}"/>
              </a:ext>
            </a:extLst>
          </p:cNvPr>
          <p:cNvSpPr>
            <a:spLocks noChangeAspect="1"/>
          </p:cNvSpPr>
          <p:nvPr/>
        </p:nvSpPr>
        <p:spPr bwMode="auto">
          <a:xfrm>
            <a:off x="3464744" y="359366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3A94166C-305A-46E1-9F6E-E5EA4C68F3C3}"/>
              </a:ext>
            </a:extLst>
          </p:cNvPr>
          <p:cNvSpPr>
            <a:spLocks noChangeAspect="1"/>
          </p:cNvSpPr>
          <p:nvPr/>
        </p:nvSpPr>
        <p:spPr bwMode="auto">
          <a:xfrm>
            <a:off x="5781884" y="3340865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193B03C1-6FA0-41E8-B972-5001670A0EC3}"/>
              </a:ext>
            </a:extLst>
          </p:cNvPr>
          <p:cNvSpPr>
            <a:spLocks noChangeAspect="1"/>
          </p:cNvSpPr>
          <p:nvPr/>
        </p:nvSpPr>
        <p:spPr bwMode="auto">
          <a:xfrm>
            <a:off x="7206969" y="4165558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62BE15DC-FCF2-4769-8106-6FB45A54B5DB}"/>
              </a:ext>
            </a:extLst>
          </p:cNvPr>
          <p:cNvSpPr>
            <a:spLocks noChangeAspect="1"/>
          </p:cNvSpPr>
          <p:nvPr/>
        </p:nvSpPr>
        <p:spPr bwMode="auto">
          <a:xfrm>
            <a:off x="4564862" y="2927608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C96E683E-361A-4050-9A4F-D1E2A43B7B2D}"/>
              </a:ext>
            </a:extLst>
          </p:cNvPr>
          <p:cNvSpPr>
            <a:spLocks noChangeAspect="1"/>
          </p:cNvSpPr>
          <p:nvPr/>
        </p:nvSpPr>
        <p:spPr bwMode="auto">
          <a:xfrm>
            <a:off x="1353589" y="139274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47B96CB0-8F49-4D8C-AAAA-319EA2B40A41}"/>
              </a:ext>
            </a:extLst>
          </p:cNvPr>
          <p:cNvSpPr>
            <a:spLocks noChangeAspect="1"/>
          </p:cNvSpPr>
          <p:nvPr/>
        </p:nvSpPr>
        <p:spPr bwMode="auto">
          <a:xfrm>
            <a:off x="9274629" y="448652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5640821B-DD51-4A30-B7CE-E3F10EA6813A}"/>
              </a:ext>
            </a:extLst>
          </p:cNvPr>
          <p:cNvSpPr>
            <a:spLocks noChangeAspect="1"/>
          </p:cNvSpPr>
          <p:nvPr/>
        </p:nvSpPr>
        <p:spPr bwMode="auto">
          <a:xfrm>
            <a:off x="8592258" y="3396097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DF85683C-3EE7-4DD4-929A-60FB37AB6357}"/>
              </a:ext>
            </a:extLst>
          </p:cNvPr>
          <p:cNvSpPr>
            <a:spLocks noChangeAspect="1"/>
          </p:cNvSpPr>
          <p:nvPr/>
        </p:nvSpPr>
        <p:spPr bwMode="auto">
          <a:xfrm>
            <a:off x="7859371" y="270129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5FB74DF0-6A64-44EF-BC33-78F1C6B8F2EF}"/>
              </a:ext>
            </a:extLst>
          </p:cNvPr>
          <p:cNvSpPr>
            <a:spLocks noChangeAspect="1"/>
          </p:cNvSpPr>
          <p:nvPr/>
        </p:nvSpPr>
        <p:spPr bwMode="auto">
          <a:xfrm>
            <a:off x="4664275" y="482816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972BCC82-02B3-4534-BFB1-D65612FEC5D0}"/>
              </a:ext>
            </a:extLst>
          </p:cNvPr>
          <p:cNvSpPr>
            <a:spLocks noChangeAspect="1"/>
          </p:cNvSpPr>
          <p:nvPr/>
        </p:nvSpPr>
        <p:spPr bwMode="auto">
          <a:xfrm>
            <a:off x="1915926" y="1822905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BF43948C-13FC-42BF-A91B-CEBE2FEE911E}"/>
              </a:ext>
            </a:extLst>
          </p:cNvPr>
          <p:cNvSpPr>
            <a:spLocks noChangeAspect="1"/>
          </p:cNvSpPr>
          <p:nvPr/>
        </p:nvSpPr>
        <p:spPr bwMode="auto">
          <a:xfrm>
            <a:off x="2553818" y="3582367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679694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raphic 102">
            <a:extLst>
              <a:ext uri="{FF2B5EF4-FFF2-40B4-BE49-F238E27FC236}">
                <a16:creationId xmlns:a16="http://schemas.microsoft.com/office/drawing/2014/main" id="{1DD42CEA-08C0-B743-AC84-1AA6A123B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92" y="6406198"/>
            <a:ext cx="585391" cy="348070"/>
          </a:xfrm>
          <a:prstGeom prst="rect">
            <a:avLst/>
          </a:prstGeom>
        </p:spPr>
      </p:pic>
      <p:sp>
        <p:nvSpPr>
          <p:cNvPr id="104" name="AWS copyright text">
            <a:extLst>
              <a:ext uri="{FF2B5EF4-FFF2-40B4-BE49-F238E27FC236}">
                <a16:creationId xmlns:a16="http://schemas.microsoft.com/office/drawing/2014/main" id="{E926D9DC-0FDF-1C44-85C5-53E31AA8B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619133"/>
            <a:ext cx="4036484" cy="14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x-none" sz="933" b="0" i="0" dirty="0">
                <a:solidFill>
                  <a:srgbClr val="7F7F7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© 2023, Amazon Web Services, Inc. or its affiliates. All rights reserved.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C66A8E-F283-4763-B096-ACFA9F5EC61A}"/>
              </a:ext>
            </a:extLst>
          </p:cNvPr>
          <p:cNvSpPr txBox="1"/>
          <p:nvPr/>
        </p:nvSpPr>
        <p:spPr>
          <a:xfrm>
            <a:off x="95668" y="134489"/>
            <a:ext cx="10964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Sports Betting Architecture - Deployment of All Core Components Outside of AWS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8F7425-C01F-4322-A5E8-4271654E0F7E}"/>
              </a:ext>
            </a:extLst>
          </p:cNvPr>
          <p:cNvSpPr txBox="1"/>
          <p:nvPr/>
        </p:nvSpPr>
        <p:spPr>
          <a:xfrm>
            <a:off x="101092" y="458980"/>
            <a:ext cx="4862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For the architecture description, refer to the </a:t>
            </a:r>
            <a:r>
              <a:rPr lang="en-US" sz="14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  <a:hlinkClick r:id="rId5"/>
              </a:rPr>
              <a:t>full diagram</a:t>
            </a:r>
            <a:r>
              <a:rPr lang="en-US" sz="14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1B802E-4D2A-4B1E-AFD8-CF0D0AF36882}"/>
              </a:ext>
            </a:extLst>
          </p:cNvPr>
          <p:cNvSpPr/>
          <p:nvPr/>
        </p:nvSpPr>
        <p:spPr>
          <a:xfrm>
            <a:off x="5680771" y="2287350"/>
            <a:ext cx="858799" cy="2395183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490DB2-68C4-4D32-B7F6-FE380E54426A}"/>
              </a:ext>
            </a:extLst>
          </p:cNvPr>
          <p:cNvSpPr/>
          <p:nvPr/>
        </p:nvSpPr>
        <p:spPr>
          <a:xfrm>
            <a:off x="4558062" y="1508489"/>
            <a:ext cx="5796738" cy="4621958"/>
          </a:xfrm>
          <a:prstGeom prst="rect">
            <a:avLst/>
          </a:prstGeom>
          <a:noFill/>
          <a:ln w="15875">
            <a:solidFill>
              <a:srgbClr val="141B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34">
            <a:extLst>
              <a:ext uri="{FF2B5EF4-FFF2-40B4-BE49-F238E27FC236}">
                <a16:creationId xmlns:a16="http://schemas.microsoft.com/office/drawing/2014/main" id="{44D99849-66BC-4C9E-B8A1-BA5A535E1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4930" y="3776982"/>
            <a:ext cx="648424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MSK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31605EB6-22D2-4445-8BAD-448E4F7D1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516" y="3166797"/>
            <a:ext cx="101361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NAT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gateway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E141D2-1FC1-4BD1-B9AB-9348E538F34F}"/>
              </a:ext>
            </a:extLst>
          </p:cNvPr>
          <p:cNvSpPr/>
          <p:nvPr/>
        </p:nvSpPr>
        <p:spPr>
          <a:xfrm>
            <a:off x="5320227" y="2005542"/>
            <a:ext cx="3987454" cy="4048701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ln w="0"/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DF06DF-06EB-43AF-AD8C-9AB2568C9AAD}"/>
              </a:ext>
            </a:extLst>
          </p:cNvPr>
          <p:cNvSpPr/>
          <p:nvPr/>
        </p:nvSpPr>
        <p:spPr>
          <a:xfrm>
            <a:off x="5637507" y="2200424"/>
            <a:ext cx="3610888" cy="1886363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967E8AD2-683A-4F27-BF0A-323938A68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067" y="4262912"/>
            <a:ext cx="82870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CloudFront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64109D-CD2F-4385-A614-47633637BC20}"/>
              </a:ext>
            </a:extLst>
          </p:cNvPr>
          <p:cNvSpPr/>
          <p:nvPr/>
        </p:nvSpPr>
        <p:spPr>
          <a:xfrm>
            <a:off x="5634385" y="4159192"/>
            <a:ext cx="3618361" cy="1840621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600" dirty="0">
              <a:solidFill>
                <a:srgbClr val="5B9CD5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34">
            <a:extLst>
              <a:ext uri="{FF2B5EF4-FFF2-40B4-BE49-F238E27FC236}">
                <a16:creationId xmlns:a16="http://schemas.microsoft.com/office/drawing/2014/main" id="{35EC3B7E-5230-432C-838F-923DEABD3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1984" y="4872238"/>
            <a:ext cx="648424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D887FE-8B5B-4103-BEBF-E67D7BB8200B}"/>
              </a:ext>
            </a:extLst>
          </p:cNvPr>
          <p:cNvSpPr/>
          <p:nvPr/>
        </p:nvSpPr>
        <p:spPr>
          <a:xfrm>
            <a:off x="4667472" y="1808637"/>
            <a:ext cx="4694257" cy="4290074"/>
          </a:xfrm>
          <a:prstGeom prst="rect">
            <a:avLst/>
          </a:prstGeom>
          <a:noFill/>
          <a:ln w="15875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2F8392-134F-49A8-BC17-86B5050E6B59}"/>
              </a:ext>
            </a:extLst>
          </p:cNvPr>
          <p:cNvSpPr/>
          <p:nvPr/>
        </p:nvSpPr>
        <p:spPr>
          <a:xfrm>
            <a:off x="6672170" y="3068291"/>
            <a:ext cx="988407" cy="1840349"/>
          </a:xfrm>
          <a:prstGeom prst="rect">
            <a:avLst/>
          </a:prstGeom>
          <a:noFill/>
          <a:ln w="15875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ln w="0"/>
              <a:solidFill>
                <a:srgbClr val="D86613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88E9BE-E357-4E9A-BAB6-CE1C63FA0B6D}"/>
              </a:ext>
            </a:extLst>
          </p:cNvPr>
          <p:cNvSpPr/>
          <p:nvPr/>
        </p:nvSpPr>
        <p:spPr>
          <a:xfrm>
            <a:off x="7930700" y="3146252"/>
            <a:ext cx="548376" cy="2052393"/>
          </a:xfrm>
          <a:prstGeom prst="rect">
            <a:avLst/>
          </a:prstGeom>
          <a:noFill/>
          <a:ln w="15875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message bus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F79263-8A4F-4308-8CDB-2BFF269F3C59}"/>
              </a:ext>
            </a:extLst>
          </p:cNvPr>
          <p:cNvSpPr/>
          <p:nvPr/>
        </p:nvSpPr>
        <p:spPr>
          <a:xfrm>
            <a:off x="9417807" y="2006199"/>
            <a:ext cx="889334" cy="2040875"/>
          </a:xfrm>
          <a:prstGeom prst="rect">
            <a:avLst/>
          </a:prstGeom>
          <a:noFill/>
          <a:ln w="15875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solidFill>
                <a:srgbClr val="CD2264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FA293C-46CC-437B-A443-E0B75A74E507}"/>
              </a:ext>
            </a:extLst>
          </p:cNvPr>
          <p:cNvSpPr/>
          <p:nvPr/>
        </p:nvSpPr>
        <p:spPr>
          <a:xfrm>
            <a:off x="9454518" y="2658851"/>
            <a:ext cx="731524" cy="1273696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ln w="0"/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614A3923-52D2-4826-AA47-D46C19057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5378" y="3159900"/>
            <a:ext cx="6428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analytics platform</a:t>
            </a:r>
          </a:p>
        </p:txBody>
      </p:sp>
      <p:cxnSp>
        <p:nvCxnSpPr>
          <p:cNvPr id="30" name="Elbow Connector 332">
            <a:extLst>
              <a:ext uri="{FF2B5EF4-FFF2-40B4-BE49-F238E27FC236}">
                <a16:creationId xmlns:a16="http://schemas.microsoft.com/office/drawing/2014/main" id="{0B065F15-1953-4C22-91CA-9A436D94C545}"/>
              </a:ext>
            </a:extLst>
          </p:cNvPr>
          <p:cNvCxnSpPr>
            <a:cxnSpLocks/>
            <a:stCxn id="181" idx="1"/>
            <a:endCxn id="13" idx="2"/>
          </p:cNvCxnSpPr>
          <p:nvPr/>
        </p:nvCxnSpPr>
        <p:spPr>
          <a:xfrm rot="10800000" flipV="1">
            <a:off x="6129323" y="3428059"/>
            <a:ext cx="887770" cy="77292"/>
          </a:xfrm>
          <a:prstGeom prst="bentConnector4">
            <a:avLst>
              <a:gd name="adj1" fmla="val 21456"/>
              <a:gd name="adj2" fmla="val 473218"/>
            </a:avLst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93">
            <a:extLst>
              <a:ext uri="{FF2B5EF4-FFF2-40B4-BE49-F238E27FC236}">
                <a16:creationId xmlns:a16="http://schemas.microsoft.com/office/drawing/2014/main" id="{05822DD8-3FDA-4AB6-B3F0-F9D93F881AB9}"/>
              </a:ext>
            </a:extLst>
          </p:cNvPr>
          <p:cNvCxnSpPr>
            <a:cxnSpLocks/>
            <a:stCxn id="28" idx="0"/>
            <a:endCxn id="211" idx="0"/>
          </p:cNvCxnSpPr>
          <p:nvPr/>
        </p:nvCxnSpPr>
        <p:spPr>
          <a:xfrm rot="16200000" flipH="1" flipV="1">
            <a:off x="8355391" y="1599471"/>
            <a:ext cx="405510" cy="2524269"/>
          </a:xfrm>
          <a:prstGeom prst="bentConnector3">
            <a:avLst>
              <a:gd name="adj1" fmla="val -34659"/>
            </a:avLst>
          </a:prstGeom>
          <a:ln w="15875" cap="flat">
            <a:solidFill>
              <a:schemeClr val="tx2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400">
            <a:extLst>
              <a:ext uri="{FF2B5EF4-FFF2-40B4-BE49-F238E27FC236}">
                <a16:creationId xmlns:a16="http://schemas.microsoft.com/office/drawing/2014/main" id="{DE84998D-04E0-4691-A839-754B6877B8A5}"/>
              </a:ext>
            </a:extLst>
          </p:cNvPr>
          <p:cNvCxnSpPr>
            <a:cxnSpLocks/>
            <a:stCxn id="41" idx="3"/>
            <a:endCxn id="206" idx="2"/>
          </p:cNvCxnSpPr>
          <p:nvPr/>
        </p:nvCxnSpPr>
        <p:spPr>
          <a:xfrm flipV="1">
            <a:off x="9262299" y="4041603"/>
            <a:ext cx="543818" cy="949687"/>
          </a:xfrm>
          <a:prstGeom prst="bentConnector2">
            <a:avLst/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17054F5-85C5-457A-9A15-3137FEA914AD}"/>
              </a:ext>
            </a:extLst>
          </p:cNvPr>
          <p:cNvCxnSpPr>
            <a:cxnSpLocks/>
          </p:cNvCxnSpPr>
          <p:nvPr/>
        </p:nvCxnSpPr>
        <p:spPr>
          <a:xfrm flipH="1" flipV="1">
            <a:off x="7691133" y="3961561"/>
            <a:ext cx="227410" cy="2095"/>
          </a:xfrm>
          <a:prstGeom prst="straightConnector1">
            <a:avLst/>
          </a:prstGeom>
          <a:ln w="15875">
            <a:solidFill>
              <a:srgbClr val="545B64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A5719D3-4073-4FF6-B207-D1139075D110}"/>
              </a:ext>
            </a:extLst>
          </p:cNvPr>
          <p:cNvCxnSpPr>
            <a:cxnSpLocks/>
            <a:endCxn id="161" idx="1"/>
          </p:cNvCxnSpPr>
          <p:nvPr/>
        </p:nvCxnSpPr>
        <p:spPr>
          <a:xfrm flipV="1">
            <a:off x="5219421" y="4104715"/>
            <a:ext cx="721882" cy="0"/>
          </a:xfrm>
          <a:prstGeom prst="straightConnector1">
            <a:avLst/>
          </a:prstGeom>
          <a:ln w="15875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223">
            <a:extLst>
              <a:ext uri="{FF2B5EF4-FFF2-40B4-BE49-F238E27FC236}">
                <a16:creationId xmlns:a16="http://schemas.microsoft.com/office/drawing/2014/main" id="{8E2E217C-04A1-4E53-8E7D-BFF6D42457FA}"/>
              </a:ext>
            </a:extLst>
          </p:cNvPr>
          <p:cNvCxnSpPr>
            <a:cxnSpLocks/>
          </p:cNvCxnSpPr>
          <p:nvPr/>
        </p:nvCxnSpPr>
        <p:spPr>
          <a:xfrm>
            <a:off x="4396467" y="4111150"/>
            <a:ext cx="457200" cy="0"/>
          </a:xfrm>
          <a:prstGeom prst="bentConnector3">
            <a:avLst>
              <a:gd name="adj1" fmla="val 50000"/>
            </a:avLst>
          </a:prstGeom>
          <a:ln w="15875" cap="flat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9">
            <a:extLst>
              <a:ext uri="{FF2B5EF4-FFF2-40B4-BE49-F238E27FC236}">
                <a16:creationId xmlns:a16="http://schemas.microsoft.com/office/drawing/2014/main" id="{A9B48B62-AF62-4657-A9DF-07C2195FC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6078" y="4274629"/>
            <a:ext cx="9360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Application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Load Balancer</a:t>
            </a: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899ECFB8-B4B6-4C56-85A2-816865515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6612" y="3464120"/>
            <a:ext cx="81178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Multi-AZ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replica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4C1BDC7-240A-41E9-BBAC-7F4A3BC7BABD}"/>
              </a:ext>
            </a:extLst>
          </p:cNvPr>
          <p:cNvSpPr/>
          <p:nvPr/>
        </p:nvSpPr>
        <p:spPr>
          <a:xfrm>
            <a:off x="8557659" y="2751310"/>
            <a:ext cx="568021" cy="2527745"/>
          </a:xfrm>
          <a:prstGeom prst="rect">
            <a:avLst/>
          </a:prstGeom>
          <a:noFill/>
          <a:ln w="15875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database layer</a:t>
            </a:r>
          </a:p>
        </p:txBody>
      </p:sp>
      <p:sp>
        <p:nvSpPr>
          <p:cNvPr id="41" name="TextBox 9">
            <a:extLst>
              <a:ext uri="{FF2B5EF4-FFF2-40B4-BE49-F238E27FC236}">
                <a16:creationId xmlns:a16="http://schemas.microsoft.com/office/drawing/2014/main" id="{2A614695-2A5C-42F8-9DA7-F9D13D36B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1560" y="4822013"/>
            <a:ext cx="8007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RDS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EAF7495-6ECA-4E58-B90B-14F3A97D5E71}"/>
              </a:ext>
            </a:extLst>
          </p:cNvPr>
          <p:cNvCxnSpPr>
            <a:cxnSpLocks/>
          </p:cNvCxnSpPr>
          <p:nvPr/>
        </p:nvCxnSpPr>
        <p:spPr>
          <a:xfrm flipH="1" flipV="1">
            <a:off x="8848404" y="3773825"/>
            <a:ext cx="0" cy="698331"/>
          </a:xfrm>
          <a:prstGeom prst="straightConnector1">
            <a:avLst/>
          </a:prstGeom>
          <a:ln w="15875">
            <a:solidFill>
              <a:srgbClr val="545B64"/>
            </a:solidFill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228">
            <a:extLst>
              <a:ext uri="{FF2B5EF4-FFF2-40B4-BE49-F238E27FC236}">
                <a16:creationId xmlns:a16="http://schemas.microsoft.com/office/drawing/2014/main" id="{AB6D8356-9DA7-4B20-B858-3723F0E4F239}"/>
              </a:ext>
            </a:extLst>
          </p:cNvPr>
          <p:cNvCxnSpPr>
            <a:cxnSpLocks/>
            <a:stCxn id="25" idx="2"/>
            <a:endCxn id="41" idx="2"/>
          </p:cNvCxnSpPr>
          <p:nvPr/>
        </p:nvCxnSpPr>
        <p:spPr>
          <a:xfrm rot="16200000" flipH="1">
            <a:off x="7888189" y="4186825"/>
            <a:ext cx="251927" cy="1695556"/>
          </a:xfrm>
          <a:prstGeom prst="bentConnector3">
            <a:avLst>
              <a:gd name="adj1" fmla="val 190741"/>
            </a:avLst>
          </a:prstGeom>
          <a:ln w="15875" cap="flat">
            <a:solidFill>
              <a:schemeClr val="tx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548">
            <a:extLst>
              <a:ext uri="{FF2B5EF4-FFF2-40B4-BE49-F238E27FC236}">
                <a16:creationId xmlns:a16="http://schemas.microsoft.com/office/drawing/2014/main" id="{284251C1-D05E-449F-8893-9C93A1A97660}"/>
              </a:ext>
            </a:extLst>
          </p:cNvPr>
          <p:cNvCxnSpPr>
            <a:cxnSpLocks/>
            <a:stCxn id="48" idx="0"/>
            <a:endCxn id="97" idx="3"/>
          </p:cNvCxnSpPr>
          <p:nvPr/>
        </p:nvCxnSpPr>
        <p:spPr>
          <a:xfrm rot="16200000" flipV="1">
            <a:off x="2473768" y="2321421"/>
            <a:ext cx="2084720" cy="1188720"/>
          </a:xfrm>
          <a:prstGeom prst="bentConnector2">
            <a:avLst/>
          </a:prstGeom>
          <a:ln w="15875" cap="flat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373EF40-2C44-4E62-B31A-6D375F47B2A7}"/>
              </a:ext>
            </a:extLst>
          </p:cNvPr>
          <p:cNvGrpSpPr/>
          <p:nvPr/>
        </p:nvGrpSpPr>
        <p:grpSpPr>
          <a:xfrm>
            <a:off x="3819180" y="3922036"/>
            <a:ext cx="645924" cy="575198"/>
            <a:chOff x="2341112" y="4116189"/>
            <a:chExt cx="645924" cy="575198"/>
          </a:xfrm>
        </p:grpSpPr>
        <p:pic>
          <p:nvPicPr>
            <p:cNvPr id="47" name="Graphic 15">
              <a:extLst>
                <a:ext uri="{FF2B5EF4-FFF2-40B4-BE49-F238E27FC236}">
                  <a16:creationId xmlns:a16="http://schemas.microsoft.com/office/drawing/2014/main" id="{F87F0ED6-8125-42D5-B8A1-B2592EDEB5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8807" y="4116189"/>
              <a:ext cx="378229" cy="378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8" name="Graphic 24">
              <a:extLst>
                <a:ext uri="{FF2B5EF4-FFF2-40B4-BE49-F238E27FC236}">
                  <a16:creationId xmlns:a16="http://schemas.microsoft.com/office/drawing/2014/main" id="{F8A43A61-9F35-4193-A0C6-3995BB6909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1112" y="4152295"/>
              <a:ext cx="317490" cy="317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TextBox 25">
              <a:extLst>
                <a:ext uri="{FF2B5EF4-FFF2-40B4-BE49-F238E27FC236}">
                  <a16:creationId xmlns:a16="http://schemas.microsoft.com/office/drawing/2014/main" id="{D1FFB430-5564-4DA7-AE9F-42A44657C2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1991" y="4475943"/>
              <a:ext cx="367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r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solidFill>
                    <a:srgbClr val="000000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clients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6787D23F-F383-4851-BE14-9F38C2B07A8C}"/>
              </a:ext>
            </a:extLst>
          </p:cNvPr>
          <p:cNvSpPr txBox="1"/>
          <p:nvPr/>
        </p:nvSpPr>
        <p:spPr>
          <a:xfrm>
            <a:off x="3627705" y="1896502"/>
            <a:ext cx="273079" cy="123111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</a:t>
            </a:r>
            <a:r>
              <a:rPr lang="en-DE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ets</a:t>
            </a:r>
          </a:p>
        </p:txBody>
      </p:sp>
      <p:pic>
        <p:nvPicPr>
          <p:cNvPr id="53" name="Graphic 10">
            <a:extLst>
              <a:ext uri="{FF2B5EF4-FFF2-40B4-BE49-F238E27FC236}">
                <a16:creationId xmlns:a16="http://schemas.microsoft.com/office/drawing/2014/main" id="{986D27F2-EC49-40B6-BAAC-29C8C7732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24" y="3135686"/>
            <a:ext cx="283645" cy="28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TextBox 26">
            <a:extLst>
              <a:ext uri="{FF2B5EF4-FFF2-40B4-BE49-F238E27FC236}">
                <a16:creationId xmlns:a16="http://schemas.microsoft.com/office/drawing/2014/main" id="{E96EBA11-BFC0-4389-BFD0-8B872ADC7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3158" y="3425393"/>
            <a:ext cx="10746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GB" sz="800" dirty="0">
                <a:solidFill>
                  <a:srgbClr val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</a:t>
            </a:r>
            <a:r>
              <a:rPr lang="en-GB" sz="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xternal sport event feeds</a:t>
            </a:r>
            <a:endParaRPr lang="en-US" altLang="en-US" sz="800" dirty="0">
              <a:solidFill>
                <a:srgbClr val="000000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56" name="Graphic 8">
            <a:extLst>
              <a:ext uri="{FF2B5EF4-FFF2-40B4-BE49-F238E27FC236}">
                <a16:creationId xmlns:a16="http://schemas.microsoft.com/office/drawing/2014/main" id="{CD4679E4-B99C-416D-B6A9-83F22013A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2181717" y="3182840"/>
            <a:ext cx="252705" cy="252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7EF504E4-C33F-4913-A359-6C233F1E2962}"/>
              </a:ext>
            </a:extLst>
          </p:cNvPr>
          <p:cNvSpPr/>
          <p:nvPr/>
        </p:nvSpPr>
        <p:spPr>
          <a:xfrm>
            <a:off x="1839257" y="3852770"/>
            <a:ext cx="1610120" cy="2134070"/>
          </a:xfrm>
          <a:prstGeom prst="rect">
            <a:avLst/>
          </a:prstGeom>
          <a:noFill/>
          <a:ln w="15875">
            <a:solidFill>
              <a:srgbClr val="7D89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Elbow Connector 219">
            <a:extLst>
              <a:ext uri="{FF2B5EF4-FFF2-40B4-BE49-F238E27FC236}">
                <a16:creationId xmlns:a16="http://schemas.microsoft.com/office/drawing/2014/main" id="{E8C8104C-7375-4B09-AC64-2FEFE7E04738}"/>
              </a:ext>
            </a:extLst>
          </p:cNvPr>
          <p:cNvCxnSpPr>
            <a:cxnSpLocks/>
            <a:stCxn id="49" idx="2"/>
            <a:endCxn id="154" idx="3"/>
          </p:cNvCxnSpPr>
          <p:nvPr/>
        </p:nvCxnSpPr>
        <p:spPr>
          <a:xfrm rot="5400000">
            <a:off x="2889422" y="4443012"/>
            <a:ext cx="1190026" cy="1298470"/>
          </a:xfrm>
          <a:prstGeom prst="bentConnector2">
            <a:avLst/>
          </a:prstGeom>
          <a:ln w="15875" cap="flat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231">
            <a:extLst>
              <a:ext uri="{FF2B5EF4-FFF2-40B4-BE49-F238E27FC236}">
                <a16:creationId xmlns:a16="http://schemas.microsoft.com/office/drawing/2014/main" id="{1535D01D-AEF5-4DD8-80DA-FB346E67BE80}"/>
              </a:ext>
            </a:extLst>
          </p:cNvPr>
          <p:cNvCxnSpPr>
            <a:cxnSpLocks/>
            <a:stCxn id="80" idx="1"/>
            <a:endCxn id="56" idx="1"/>
          </p:cNvCxnSpPr>
          <p:nvPr/>
        </p:nvCxnSpPr>
        <p:spPr>
          <a:xfrm rot="10800000" flipH="1" flipV="1">
            <a:off x="2031731" y="1935867"/>
            <a:ext cx="149986" cy="1373326"/>
          </a:xfrm>
          <a:prstGeom prst="bentConnector3">
            <a:avLst>
              <a:gd name="adj1" fmla="val -286038"/>
            </a:avLst>
          </a:prstGeom>
          <a:ln w="15875" cap="flat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995EFFB-E13C-46C4-80B8-A09E4F68CD06}"/>
              </a:ext>
            </a:extLst>
          </p:cNvPr>
          <p:cNvSpPr txBox="1"/>
          <p:nvPr/>
        </p:nvSpPr>
        <p:spPr>
          <a:xfrm>
            <a:off x="3681774" y="5727163"/>
            <a:ext cx="273079" cy="123111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</a:t>
            </a:r>
            <a:r>
              <a:rPr lang="en-DE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ets</a:t>
            </a:r>
          </a:p>
        </p:txBody>
      </p:sp>
      <p:sp>
        <p:nvSpPr>
          <p:cNvPr id="61" name="TextBox 17">
            <a:extLst>
              <a:ext uri="{FF2B5EF4-FFF2-40B4-BE49-F238E27FC236}">
                <a16:creationId xmlns:a16="http://schemas.microsoft.com/office/drawing/2014/main" id="{9F4BA10A-B614-4914-8C9F-D91520525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135" y="3431455"/>
            <a:ext cx="1460837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external compliance, KYC, and payment providers</a:t>
            </a:r>
          </a:p>
        </p:txBody>
      </p:sp>
      <p:cxnSp>
        <p:nvCxnSpPr>
          <p:cNvPr id="62" name="Elbow Connector 235">
            <a:extLst>
              <a:ext uri="{FF2B5EF4-FFF2-40B4-BE49-F238E27FC236}">
                <a16:creationId xmlns:a16="http://schemas.microsoft.com/office/drawing/2014/main" id="{30C24AA9-0CBC-4737-8A64-DADB0D930DDF}"/>
              </a:ext>
            </a:extLst>
          </p:cNvPr>
          <p:cNvCxnSpPr>
            <a:cxnSpLocks/>
            <a:stCxn id="67" idx="1"/>
            <a:endCxn id="56" idx="1"/>
          </p:cNvCxnSpPr>
          <p:nvPr/>
        </p:nvCxnSpPr>
        <p:spPr>
          <a:xfrm rot="10800000" flipH="1">
            <a:off x="1926013" y="3309193"/>
            <a:ext cx="255703" cy="1731512"/>
          </a:xfrm>
          <a:prstGeom prst="bentConnector3">
            <a:avLst>
              <a:gd name="adj1" fmla="val -128591"/>
            </a:avLst>
          </a:prstGeom>
          <a:ln w="15875" cap="flat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449">
            <a:extLst>
              <a:ext uri="{FF2B5EF4-FFF2-40B4-BE49-F238E27FC236}">
                <a16:creationId xmlns:a16="http://schemas.microsoft.com/office/drawing/2014/main" id="{8FFCE7F0-65C2-4396-B7F8-ACF69EEBAAE8}"/>
              </a:ext>
            </a:extLst>
          </p:cNvPr>
          <p:cNvCxnSpPr>
            <a:cxnSpLocks/>
          </p:cNvCxnSpPr>
          <p:nvPr/>
        </p:nvCxnSpPr>
        <p:spPr>
          <a:xfrm>
            <a:off x="2949826" y="2346191"/>
            <a:ext cx="350987" cy="822960"/>
          </a:xfrm>
          <a:prstGeom prst="bentConnector2">
            <a:avLst/>
          </a:prstGeom>
          <a:ln w="15875" cap="flat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63AAA3F7-5394-453F-8C18-24B73ED881C5}"/>
              </a:ext>
            </a:extLst>
          </p:cNvPr>
          <p:cNvSpPr/>
          <p:nvPr/>
        </p:nvSpPr>
        <p:spPr>
          <a:xfrm>
            <a:off x="1926014" y="4157490"/>
            <a:ext cx="1356666" cy="1766429"/>
          </a:xfrm>
          <a:prstGeom prst="rect">
            <a:avLst/>
          </a:prstGeom>
          <a:noFill/>
          <a:ln w="15875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r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ln w="0"/>
              <a:solidFill>
                <a:srgbClr val="D86613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68" name="Elbow Connector 536">
            <a:extLst>
              <a:ext uri="{FF2B5EF4-FFF2-40B4-BE49-F238E27FC236}">
                <a16:creationId xmlns:a16="http://schemas.microsoft.com/office/drawing/2014/main" id="{9A9A93EE-56E2-4840-A874-008A5CAC5A74}"/>
              </a:ext>
            </a:extLst>
          </p:cNvPr>
          <p:cNvCxnSpPr>
            <a:cxnSpLocks/>
            <a:endCxn id="54" idx="2"/>
          </p:cNvCxnSpPr>
          <p:nvPr/>
        </p:nvCxnSpPr>
        <p:spPr>
          <a:xfrm rot="5400000" flipH="1" flipV="1">
            <a:off x="2509152" y="4072758"/>
            <a:ext cx="1130137" cy="512516"/>
          </a:xfrm>
          <a:prstGeom prst="bentConnector3">
            <a:avLst>
              <a:gd name="adj1" fmla="val -52"/>
            </a:avLst>
          </a:prstGeom>
          <a:ln w="15875" cap="flat">
            <a:solidFill>
              <a:schemeClr val="tx2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544">
            <a:extLst>
              <a:ext uri="{FF2B5EF4-FFF2-40B4-BE49-F238E27FC236}">
                <a16:creationId xmlns:a16="http://schemas.microsoft.com/office/drawing/2014/main" id="{42E8FFCA-0E59-455D-935F-ACC475310722}"/>
              </a:ext>
            </a:extLst>
          </p:cNvPr>
          <p:cNvCxnSpPr>
            <a:cxnSpLocks/>
            <a:stCxn id="135" idx="3"/>
            <a:endCxn id="48" idx="1"/>
          </p:cNvCxnSpPr>
          <p:nvPr/>
        </p:nvCxnSpPr>
        <p:spPr>
          <a:xfrm flipV="1">
            <a:off x="2805263" y="4116887"/>
            <a:ext cx="1013917" cy="836685"/>
          </a:xfrm>
          <a:prstGeom prst="bentConnector3">
            <a:avLst>
              <a:gd name="adj1" fmla="val 83402"/>
            </a:avLst>
          </a:prstGeom>
          <a:ln w="15875" cap="flat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550">
            <a:extLst>
              <a:ext uri="{FF2B5EF4-FFF2-40B4-BE49-F238E27FC236}">
                <a16:creationId xmlns:a16="http://schemas.microsoft.com/office/drawing/2014/main" id="{0FAD9C00-4D5D-494C-B3AF-59FDD78A7383}"/>
              </a:ext>
            </a:extLst>
          </p:cNvPr>
          <p:cNvCxnSpPr>
            <a:cxnSpLocks/>
            <a:stCxn id="108" idx="3"/>
            <a:endCxn id="48" idx="1"/>
          </p:cNvCxnSpPr>
          <p:nvPr/>
        </p:nvCxnSpPr>
        <p:spPr>
          <a:xfrm>
            <a:off x="2949960" y="2271342"/>
            <a:ext cx="869220" cy="1845545"/>
          </a:xfrm>
          <a:prstGeom prst="bentConnector3">
            <a:avLst>
              <a:gd name="adj1" fmla="val 81170"/>
            </a:avLst>
          </a:prstGeom>
          <a:ln w="15875" cap="flat">
            <a:solidFill>
              <a:schemeClr val="tx2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C183131D-488D-484D-9FCA-FB4D096D1931}"/>
              </a:ext>
            </a:extLst>
          </p:cNvPr>
          <p:cNvSpPr txBox="1"/>
          <p:nvPr/>
        </p:nvSpPr>
        <p:spPr>
          <a:xfrm>
            <a:off x="3679198" y="2292134"/>
            <a:ext cx="249033" cy="123111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DE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wss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05B1FC9-204F-428C-832F-E3B74DAD51F5}"/>
              </a:ext>
            </a:extLst>
          </p:cNvPr>
          <p:cNvSpPr txBox="1"/>
          <p:nvPr/>
        </p:nvSpPr>
        <p:spPr>
          <a:xfrm>
            <a:off x="3486252" y="4986809"/>
            <a:ext cx="249033" cy="123111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DE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wss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61E3809-1E49-4699-BA2A-3381E2013CD9}"/>
              </a:ext>
            </a:extLst>
          </p:cNvPr>
          <p:cNvSpPr/>
          <p:nvPr/>
        </p:nvSpPr>
        <p:spPr>
          <a:xfrm>
            <a:off x="6618241" y="2471086"/>
            <a:ext cx="2568349" cy="329269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600" dirty="0">
              <a:solidFill>
                <a:srgbClr val="5B9CD5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76" name="Graphic 75">
            <a:extLst>
              <a:ext uri="{FF2B5EF4-FFF2-40B4-BE49-F238E27FC236}">
                <a16:creationId xmlns:a16="http://schemas.microsoft.com/office/drawing/2014/main" id="{CA23279C-DBA2-4E45-B082-675295A135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841668" y="3854339"/>
            <a:ext cx="274320" cy="274320"/>
          </a:xfrm>
          <a:prstGeom prst="rect">
            <a:avLst/>
          </a:prstGeom>
        </p:spPr>
      </p:pic>
      <p:pic>
        <p:nvPicPr>
          <p:cNvPr id="77" name="Graphic 9">
            <a:extLst>
              <a:ext uri="{FF2B5EF4-FFF2-40B4-BE49-F238E27FC236}">
                <a16:creationId xmlns:a16="http://schemas.microsoft.com/office/drawing/2014/main" id="{7C3A93F1-D0FF-4F48-9CCD-D6DE8CB22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1927633" y="4148667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" name="TextBox 25">
            <a:extLst>
              <a:ext uri="{FF2B5EF4-FFF2-40B4-BE49-F238E27FC236}">
                <a16:creationId xmlns:a16="http://schemas.microsoft.com/office/drawing/2014/main" id="{796E687F-5A74-4E15-A4B1-A1AC26C36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299" y="4131493"/>
            <a:ext cx="11353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rgbClr val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Outposts rack</a:t>
            </a:r>
            <a:br>
              <a:rPr lang="en-US" altLang="en-US" sz="800" dirty="0">
                <a:solidFill>
                  <a:srgbClr val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800" i="1" dirty="0">
                <a:solidFill>
                  <a:srgbClr val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regulated components</a:t>
            </a:r>
            <a:endParaRPr lang="en-US" altLang="en-US" sz="800" dirty="0">
              <a:solidFill>
                <a:srgbClr val="000000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BA4B523C-6C27-4722-AF58-FCE4ADC4673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5684090" y="2286178"/>
            <a:ext cx="182880" cy="182880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E8F6C091-CDFE-4645-9C54-B01D597790FF}"/>
              </a:ext>
            </a:extLst>
          </p:cNvPr>
          <p:cNvSpPr/>
          <p:nvPr/>
        </p:nvSpPr>
        <p:spPr>
          <a:xfrm>
            <a:off x="2031731" y="960042"/>
            <a:ext cx="1445774" cy="1951649"/>
          </a:xfrm>
          <a:prstGeom prst="rect">
            <a:avLst/>
          </a:prstGeom>
          <a:noFill/>
          <a:ln w="15875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r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>
                <a:ln w="0"/>
                <a:solidFill>
                  <a:schemeClr val="tx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Local Zones</a:t>
            </a:r>
            <a:br>
              <a:rPr lang="en-US" sz="800" dirty="0">
                <a:ln w="0"/>
                <a:solidFill>
                  <a:schemeClr val="tx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sz="800" i="1" dirty="0">
                <a:ln w="0"/>
                <a:solidFill>
                  <a:schemeClr val="tx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regulated components</a:t>
            </a:r>
          </a:p>
        </p:txBody>
      </p:sp>
      <p:pic>
        <p:nvPicPr>
          <p:cNvPr id="81" name="Graphic 8">
            <a:extLst>
              <a:ext uri="{FF2B5EF4-FFF2-40B4-BE49-F238E27FC236}">
                <a16:creationId xmlns:a16="http://schemas.microsoft.com/office/drawing/2014/main" id="{7AC2A23F-273E-4B22-998A-B5F0C8578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2031188" y="963003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C91D6470-A007-4C71-8586-C9B46BA210FC}"/>
              </a:ext>
            </a:extLst>
          </p:cNvPr>
          <p:cNvGrpSpPr/>
          <p:nvPr/>
        </p:nvGrpSpPr>
        <p:grpSpPr>
          <a:xfrm>
            <a:off x="2437423" y="1274731"/>
            <a:ext cx="613399" cy="398781"/>
            <a:chOff x="3529178" y="3875181"/>
            <a:chExt cx="613399" cy="39878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F7E33BB-EF06-41D3-86DA-DF5D3187A56D}"/>
                </a:ext>
              </a:extLst>
            </p:cNvPr>
            <p:cNvSpPr/>
            <p:nvPr/>
          </p:nvSpPr>
          <p:spPr>
            <a:xfrm>
              <a:off x="3529178" y="4138002"/>
              <a:ext cx="613399" cy="135960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PAM</a:t>
              </a: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24C876F1-4B6D-44FF-987A-3ECA626AC2D3}"/>
                </a:ext>
              </a:extLst>
            </p:cNvPr>
            <p:cNvGrpSpPr/>
            <p:nvPr/>
          </p:nvGrpSpPr>
          <p:grpSpPr>
            <a:xfrm>
              <a:off x="3603930" y="3875181"/>
              <a:ext cx="384445" cy="323148"/>
              <a:chOff x="3543296" y="3794345"/>
              <a:chExt cx="384445" cy="323148"/>
            </a:xfrm>
          </p:grpSpPr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148D9F33-3ECA-4748-A354-3D052A46492A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0942EE4E-8F7D-4997-943C-C4A9FAB120C0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90" name="Graphic 89">
                  <a:extLst>
                    <a:ext uri="{FF2B5EF4-FFF2-40B4-BE49-F238E27FC236}">
                      <a16:creationId xmlns:a16="http://schemas.microsoft.com/office/drawing/2014/main" id="{B06A38E5-5AE5-49EA-86CA-44CFAE21A2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80846BAC-77DE-4765-9377-1EA2387DF407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E971A32C-A12F-4419-B77C-1E36BC967FF2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88" name="Graphic 87">
                  <a:extLst>
                    <a:ext uri="{FF2B5EF4-FFF2-40B4-BE49-F238E27FC236}">
                      <a16:creationId xmlns:a16="http://schemas.microsoft.com/office/drawing/2014/main" id="{9C257BA4-9145-45CE-A778-109474C20B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75047C0-F063-4B33-88F9-2F4C9EF8D42C}"/>
              </a:ext>
            </a:extLst>
          </p:cNvPr>
          <p:cNvGrpSpPr/>
          <p:nvPr/>
        </p:nvGrpSpPr>
        <p:grpSpPr>
          <a:xfrm>
            <a:off x="2394638" y="1687434"/>
            <a:ext cx="724108" cy="386327"/>
            <a:chOff x="3461245" y="3875181"/>
            <a:chExt cx="724108" cy="386327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3DF45794-12D1-4787-B59B-14F1E3F38628}"/>
                </a:ext>
              </a:extLst>
            </p:cNvPr>
            <p:cNvSpPr/>
            <p:nvPr/>
          </p:nvSpPr>
          <p:spPr>
            <a:xfrm>
              <a:off x="3461245" y="4137690"/>
              <a:ext cx="724108" cy="123818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sportsbook</a:t>
              </a:r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C965421E-6A89-4975-BF6B-64D923AD72F5}"/>
                </a:ext>
              </a:extLst>
            </p:cNvPr>
            <p:cNvGrpSpPr/>
            <p:nvPr/>
          </p:nvGrpSpPr>
          <p:grpSpPr>
            <a:xfrm>
              <a:off x="3603930" y="3875181"/>
              <a:ext cx="384445" cy="323148"/>
              <a:chOff x="3543296" y="3794345"/>
              <a:chExt cx="384445" cy="323148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A9E3DFB6-65AF-408B-8C8A-0A1B02348A50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5547B989-95D6-4C11-94E9-8ECF2D6730E8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99" name="Graphic 98">
                  <a:extLst>
                    <a:ext uri="{FF2B5EF4-FFF2-40B4-BE49-F238E27FC236}">
                      <a16:creationId xmlns:a16="http://schemas.microsoft.com/office/drawing/2014/main" id="{7C4C83E2-983F-4F67-8560-5EAF37A3FD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88679FC6-8D6F-4892-AF09-59CBBDB175A2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104DEFD6-3272-4AAC-AD87-B5D48582C932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97" name="Graphic 96">
                  <a:extLst>
                    <a:ext uri="{FF2B5EF4-FFF2-40B4-BE49-F238E27FC236}">
                      <a16:creationId xmlns:a16="http://schemas.microsoft.com/office/drawing/2014/main" id="{17F6D270-176F-4C19-A1EC-57EC6251A6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F2CDCAA-9870-488F-9824-88E29D518845}"/>
              </a:ext>
            </a:extLst>
          </p:cNvPr>
          <p:cNvGrpSpPr/>
          <p:nvPr/>
        </p:nvGrpSpPr>
        <p:grpSpPr>
          <a:xfrm>
            <a:off x="2353744" y="2085354"/>
            <a:ext cx="785299" cy="482257"/>
            <a:chOff x="5459146" y="3869275"/>
            <a:chExt cx="785299" cy="482257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0D5C866-E230-4879-9AD6-E600D10F5D0D}"/>
                </a:ext>
              </a:extLst>
            </p:cNvPr>
            <p:cNvSpPr/>
            <p:nvPr/>
          </p:nvSpPr>
          <p:spPr>
            <a:xfrm>
              <a:off x="5459146" y="4174393"/>
              <a:ext cx="785299" cy="177139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odds engine</a:t>
              </a: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4B2026A-2AFD-4A3E-B440-4F2CD9A29918}"/>
                </a:ext>
              </a:extLst>
            </p:cNvPr>
            <p:cNvGrpSpPr/>
            <p:nvPr/>
          </p:nvGrpSpPr>
          <p:grpSpPr>
            <a:xfrm>
              <a:off x="5670917" y="3869275"/>
              <a:ext cx="384445" cy="323148"/>
              <a:chOff x="3543296" y="3794345"/>
              <a:chExt cx="384445" cy="323148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57A13D35-5BB0-475B-B47B-17DAD847B9E7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B9DDBDF1-0CDE-4C54-A2CC-E40E33B39FDE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10" name="Graphic 109">
                  <a:extLst>
                    <a:ext uri="{FF2B5EF4-FFF2-40B4-BE49-F238E27FC236}">
                      <a16:creationId xmlns:a16="http://schemas.microsoft.com/office/drawing/2014/main" id="{8BD169C4-8493-4048-951B-98D735526E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3F0FC7AD-224E-462F-83A9-F37C58D5F6C0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3CF1A80D-26FE-4BD8-B94A-B4832098156D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08" name="Graphic 107">
                  <a:extLst>
                    <a:ext uri="{FF2B5EF4-FFF2-40B4-BE49-F238E27FC236}">
                      <a16:creationId xmlns:a16="http://schemas.microsoft.com/office/drawing/2014/main" id="{42E3F5CA-8524-4ED5-8E30-EB800D1BA4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9A50FAE-1C5F-41E0-B65D-0AC6AFC92920}"/>
              </a:ext>
            </a:extLst>
          </p:cNvPr>
          <p:cNvGrpSpPr/>
          <p:nvPr/>
        </p:nvGrpSpPr>
        <p:grpSpPr>
          <a:xfrm>
            <a:off x="2531081" y="2488490"/>
            <a:ext cx="613399" cy="398781"/>
            <a:chOff x="3529178" y="3875181"/>
            <a:chExt cx="613399" cy="398781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590391D1-D733-487A-876B-F537CCE16A71}"/>
                </a:ext>
              </a:extLst>
            </p:cNvPr>
            <p:cNvSpPr/>
            <p:nvPr/>
          </p:nvSpPr>
          <p:spPr>
            <a:xfrm>
              <a:off x="3529178" y="4138002"/>
              <a:ext cx="613399" cy="135960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wallets</a:t>
              </a:r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E5318447-4F7B-4FC8-AC72-AFF456BF5154}"/>
                </a:ext>
              </a:extLst>
            </p:cNvPr>
            <p:cNvGrpSpPr/>
            <p:nvPr/>
          </p:nvGrpSpPr>
          <p:grpSpPr>
            <a:xfrm>
              <a:off x="3603930" y="3875181"/>
              <a:ext cx="384445" cy="323148"/>
              <a:chOff x="3543296" y="3794345"/>
              <a:chExt cx="384445" cy="323148"/>
            </a:xfrm>
          </p:grpSpPr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305EC84F-E7F3-42A3-9D97-C6D1D10E00C5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EC1B29CD-09C1-4B8B-94AD-595686364D20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19" name="Graphic 118">
                  <a:extLst>
                    <a:ext uri="{FF2B5EF4-FFF2-40B4-BE49-F238E27FC236}">
                      <a16:creationId xmlns:a16="http://schemas.microsoft.com/office/drawing/2014/main" id="{31D701BD-9976-47CA-B210-23EE3E43D3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AC606812-AAD6-45C8-87D3-A72DD5E1E92D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7CA6B764-8E8E-4A91-B3D5-902D7390E112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17" name="Graphic 116">
                  <a:extLst>
                    <a:ext uri="{FF2B5EF4-FFF2-40B4-BE49-F238E27FC236}">
                      <a16:creationId xmlns:a16="http://schemas.microsoft.com/office/drawing/2014/main" id="{3B6F4D13-007D-424F-82B1-56FD991779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94170D8C-0276-4E41-B74B-5DA66E32FFAD}"/>
              </a:ext>
            </a:extLst>
          </p:cNvPr>
          <p:cNvGrpSpPr/>
          <p:nvPr/>
        </p:nvGrpSpPr>
        <p:grpSpPr>
          <a:xfrm>
            <a:off x="2323606" y="4396251"/>
            <a:ext cx="613399" cy="398781"/>
            <a:chOff x="3529178" y="3875181"/>
            <a:chExt cx="613399" cy="398781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580404C7-17DE-41F6-A1B7-59445B04B7C9}"/>
                </a:ext>
              </a:extLst>
            </p:cNvPr>
            <p:cNvSpPr/>
            <p:nvPr/>
          </p:nvSpPr>
          <p:spPr>
            <a:xfrm>
              <a:off x="3529178" y="4138002"/>
              <a:ext cx="613399" cy="135960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PAM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96B64A41-AEA5-4968-B621-C97CD01F4F68}"/>
                </a:ext>
              </a:extLst>
            </p:cNvPr>
            <p:cNvGrpSpPr/>
            <p:nvPr/>
          </p:nvGrpSpPr>
          <p:grpSpPr>
            <a:xfrm>
              <a:off x="3603930" y="3875181"/>
              <a:ext cx="384445" cy="323148"/>
              <a:chOff x="3543296" y="3794345"/>
              <a:chExt cx="384445" cy="323148"/>
            </a:xfrm>
          </p:grpSpPr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324EBD3E-02E3-4E57-951E-96961FC998B8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0F2DEC30-B1E6-4159-9649-CDCC3EB0A589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28" name="Graphic 127">
                  <a:extLst>
                    <a:ext uri="{FF2B5EF4-FFF2-40B4-BE49-F238E27FC236}">
                      <a16:creationId xmlns:a16="http://schemas.microsoft.com/office/drawing/2014/main" id="{487B88EE-CB3E-4133-B670-FEAF0E4AC1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C01B90C2-FA87-4C0B-BDDA-B574D143337A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1A5DB32D-4D05-4F30-8743-E940DC7A324E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26" name="Graphic 125">
                  <a:extLst>
                    <a:ext uri="{FF2B5EF4-FFF2-40B4-BE49-F238E27FC236}">
                      <a16:creationId xmlns:a16="http://schemas.microsoft.com/office/drawing/2014/main" id="{6EEFBAEE-CEB0-4543-AE11-1B54834E8C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A20B2C3-93AD-47FD-B6BF-6DE6CEC09EB4}"/>
              </a:ext>
            </a:extLst>
          </p:cNvPr>
          <p:cNvGrpSpPr/>
          <p:nvPr/>
        </p:nvGrpSpPr>
        <p:grpSpPr>
          <a:xfrm>
            <a:off x="2236688" y="4767584"/>
            <a:ext cx="785299" cy="440984"/>
            <a:chOff x="5486787" y="3869275"/>
            <a:chExt cx="785299" cy="440984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6E272850-9CFA-4F12-A491-08E02114BD24}"/>
                </a:ext>
              </a:extLst>
            </p:cNvPr>
            <p:cNvSpPr/>
            <p:nvPr/>
          </p:nvSpPr>
          <p:spPr>
            <a:xfrm>
              <a:off x="5486787" y="4133120"/>
              <a:ext cx="785299" cy="177139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odds engine</a:t>
              </a: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74007E33-5ABC-4B54-B1C5-DDCBDE3F279F}"/>
                </a:ext>
              </a:extLst>
            </p:cNvPr>
            <p:cNvGrpSpPr/>
            <p:nvPr/>
          </p:nvGrpSpPr>
          <p:grpSpPr>
            <a:xfrm>
              <a:off x="5670917" y="3869275"/>
              <a:ext cx="384445" cy="323148"/>
              <a:chOff x="3543296" y="3794345"/>
              <a:chExt cx="384445" cy="323148"/>
            </a:xfrm>
          </p:grpSpPr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8096F4A8-A188-40B1-874F-A471CCA143E5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C77A33B9-8441-49ED-B789-EF5C2F37C207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37" name="Graphic 136">
                  <a:extLst>
                    <a:ext uri="{FF2B5EF4-FFF2-40B4-BE49-F238E27FC236}">
                      <a16:creationId xmlns:a16="http://schemas.microsoft.com/office/drawing/2014/main" id="{5349D2E6-90C0-493A-9642-732FB2E7E7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40F4E794-75E3-4556-B99A-13907FA1815F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E9953CF7-A41A-4131-BA26-FB4112A9DB20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35" name="Graphic 134">
                  <a:extLst>
                    <a:ext uri="{FF2B5EF4-FFF2-40B4-BE49-F238E27FC236}">
                      <a16:creationId xmlns:a16="http://schemas.microsoft.com/office/drawing/2014/main" id="{28BFC097-F451-48AF-8C8D-1654783383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3F7A076-4A51-45D4-AF17-1157490D3F61}"/>
              </a:ext>
            </a:extLst>
          </p:cNvPr>
          <p:cNvGrpSpPr/>
          <p:nvPr/>
        </p:nvGrpSpPr>
        <p:grpSpPr>
          <a:xfrm>
            <a:off x="2376710" y="5141894"/>
            <a:ext cx="613399" cy="398781"/>
            <a:chOff x="3529178" y="3875181"/>
            <a:chExt cx="613399" cy="398781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25AECA7-05AA-4565-8F48-66943552C0E7}"/>
                </a:ext>
              </a:extLst>
            </p:cNvPr>
            <p:cNvSpPr/>
            <p:nvPr/>
          </p:nvSpPr>
          <p:spPr>
            <a:xfrm>
              <a:off x="3529178" y="4138002"/>
              <a:ext cx="613399" cy="135960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wallets</a:t>
              </a: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BB1EBF8C-F63F-4320-98ED-D48DD2D5BC88}"/>
                </a:ext>
              </a:extLst>
            </p:cNvPr>
            <p:cNvGrpSpPr/>
            <p:nvPr/>
          </p:nvGrpSpPr>
          <p:grpSpPr>
            <a:xfrm>
              <a:off x="3603930" y="3875181"/>
              <a:ext cx="384445" cy="323148"/>
              <a:chOff x="3543296" y="3794345"/>
              <a:chExt cx="384445" cy="323148"/>
            </a:xfrm>
          </p:grpSpPr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DDA529B-B05B-495A-812B-D15CC18D2610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F16DC930-4F01-4752-899E-95F9EAA15045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46" name="Graphic 145">
                  <a:extLst>
                    <a:ext uri="{FF2B5EF4-FFF2-40B4-BE49-F238E27FC236}">
                      <a16:creationId xmlns:a16="http://schemas.microsoft.com/office/drawing/2014/main" id="{FD06BD31-FDE4-43F0-AE45-0C71CB20F6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4AA26DC7-BA45-4263-A7B3-0954C6C5DA3B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9A525641-4C69-4F4C-A204-30E53FC0D0C5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44" name="Graphic 143">
                  <a:extLst>
                    <a:ext uri="{FF2B5EF4-FFF2-40B4-BE49-F238E27FC236}">
                      <a16:creationId xmlns:a16="http://schemas.microsoft.com/office/drawing/2014/main" id="{6E06BD43-D864-4FEA-BA13-1BB4AD1862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E9B0CCA6-0D07-4A86-A587-C2E199DA081C}"/>
              </a:ext>
            </a:extLst>
          </p:cNvPr>
          <p:cNvGrpSpPr/>
          <p:nvPr/>
        </p:nvGrpSpPr>
        <p:grpSpPr>
          <a:xfrm>
            <a:off x="2308070" y="5501272"/>
            <a:ext cx="724108" cy="386327"/>
            <a:chOff x="3461245" y="3875181"/>
            <a:chExt cx="724108" cy="386327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4ECBF0A5-7BF7-46F4-8CB3-FC307D862877}"/>
                </a:ext>
              </a:extLst>
            </p:cNvPr>
            <p:cNvSpPr/>
            <p:nvPr/>
          </p:nvSpPr>
          <p:spPr>
            <a:xfrm>
              <a:off x="3461245" y="4137690"/>
              <a:ext cx="724108" cy="123818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sportsbook</a:t>
              </a:r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A04AADF4-C643-486B-9DBC-0ACF0649EF89}"/>
                </a:ext>
              </a:extLst>
            </p:cNvPr>
            <p:cNvGrpSpPr/>
            <p:nvPr/>
          </p:nvGrpSpPr>
          <p:grpSpPr>
            <a:xfrm>
              <a:off x="3603930" y="3875181"/>
              <a:ext cx="384445" cy="323148"/>
              <a:chOff x="3543296" y="3794345"/>
              <a:chExt cx="384445" cy="323148"/>
            </a:xfrm>
          </p:grpSpPr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CFE877EC-21BA-4A79-AF03-1C9945559A61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FEF9C2BD-6920-47F9-AEE5-CBB1A0DB91D8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56" name="Graphic 155">
                  <a:extLst>
                    <a:ext uri="{FF2B5EF4-FFF2-40B4-BE49-F238E27FC236}">
                      <a16:creationId xmlns:a16="http://schemas.microsoft.com/office/drawing/2014/main" id="{1FF9F4EC-20E7-40CD-9795-E842FDBB7E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0CA249CF-FFA3-4D7E-BDE0-409D2A4C0FBC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A641C9D9-BBB0-4137-B21B-68EFA8FB3A46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54" name="Graphic 153">
                  <a:extLst>
                    <a:ext uri="{FF2B5EF4-FFF2-40B4-BE49-F238E27FC236}">
                      <a16:creationId xmlns:a16="http://schemas.microsoft.com/office/drawing/2014/main" id="{A940535B-3875-4EDB-BC74-FC9809AE7B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157" name="Graphic 8">
            <a:extLst>
              <a:ext uri="{FF2B5EF4-FFF2-40B4-BE49-F238E27FC236}">
                <a16:creationId xmlns:a16="http://schemas.microsoft.com/office/drawing/2014/main" id="{10274FC7-374E-4DCC-BC9E-2CEE01151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4471769" y="3979028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8" name="Graphic 19">
            <a:extLst>
              <a:ext uri="{FF2B5EF4-FFF2-40B4-BE49-F238E27FC236}">
                <a16:creationId xmlns:a16="http://schemas.microsoft.com/office/drawing/2014/main" id="{3ACB0203-3E72-4D2A-B021-709A375FA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 bwMode="auto">
          <a:xfrm>
            <a:off x="4851064" y="3930626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9" name="Group 158">
            <a:extLst>
              <a:ext uri="{FF2B5EF4-FFF2-40B4-BE49-F238E27FC236}">
                <a16:creationId xmlns:a16="http://schemas.microsoft.com/office/drawing/2014/main" id="{E1316EE4-ECF6-4E86-9600-374B03C976A9}"/>
              </a:ext>
            </a:extLst>
          </p:cNvPr>
          <p:cNvGrpSpPr/>
          <p:nvPr/>
        </p:nvGrpSpPr>
        <p:grpSpPr>
          <a:xfrm>
            <a:off x="5941303" y="3921835"/>
            <a:ext cx="365760" cy="365760"/>
            <a:chOff x="3742361" y="5229210"/>
            <a:chExt cx="365760" cy="365760"/>
          </a:xfrm>
        </p:grpSpPr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75B5F919-130B-4063-81D3-E03E8A9DC97C}"/>
                </a:ext>
              </a:extLst>
            </p:cNvPr>
            <p:cNvSpPr/>
            <p:nvPr/>
          </p:nvSpPr>
          <p:spPr>
            <a:xfrm>
              <a:off x="3756977" y="5245995"/>
              <a:ext cx="347472" cy="347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9697AA00-1565-4AA4-9DF7-CD6FBC0DA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3742361" y="5229210"/>
              <a:ext cx="365760" cy="365760"/>
            </a:xfrm>
            <a:prstGeom prst="rect">
              <a:avLst/>
            </a:prstGeom>
          </p:spPr>
        </p:pic>
      </p:grpSp>
      <p:pic>
        <p:nvPicPr>
          <p:cNvPr id="162" name="Graphic 161">
            <a:extLst>
              <a:ext uri="{FF2B5EF4-FFF2-40B4-BE49-F238E27FC236}">
                <a16:creationId xmlns:a16="http://schemas.microsoft.com/office/drawing/2014/main" id="{7AB77594-4584-4052-9DD4-F4170E1A020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927411" y="2841807"/>
            <a:ext cx="365760" cy="365760"/>
          </a:xfrm>
          <a:prstGeom prst="rect">
            <a:avLst/>
          </a:prstGeom>
        </p:spPr>
      </p:pic>
      <p:pic>
        <p:nvPicPr>
          <p:cNvPr id="163" name="Graphic 6">
            <a:extLst>
              <a:ext uri="{FF2B5EF4-FFF2-40B4-BE49-F238E27FC236}">
                <a16:creationId xmlns:a16="http://schemas.microsoft.com/office/drawing/2014/main" id="{0A000B48-EA19-4832-9802-DF010C145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 bwMode="auto">
          <a:xfrm>
            <a:off x="5313318" y="2003850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" name="Graphic 163">
            <a:extLst>
              <a:ext uri="{FF2B5EF4-FFF2-40B4-BE49-F238E27FC236}">
                <a16:creationId xmlns:a16="http://schemas.microsoft.com/office/drawing/2014/main" id="{D5E398C0-97D4-43F4-B131-66BF4568C84F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4671999" y="1812223"/>
            <a:ext cx="274320" cy="274320"/>
          </a:xfrm>
          <a:prstGeom prst="rect">
            <a:avLst/>
          </a:prstGeom>
        </p:spPr>
      </p:pic>
      <p:sp>
        <p:nvSpPr>
          <p:cNvPr id="165" name="TextBox 11">
            <a:extLst>
              <a:ext uri="{FF2B5EF4-FFF2-40B4-BE49-F238E27FC236}">
                <a16:creationId xmlns:a16="http://schemas.microsoft.com/office/drawing/2014/main" id="{30C2D034-7387-480B-9528-EB4F777E1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7809" y="1805808"/>
            <a:ext cx="1020779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account</a:t>
            </a:r>
          </a:p>
        </p:txBody>
      </p:sp>
      <p:pic>
        <p:nvPicPr>
          <p:cNvPr id="167" name="Graphic 166">
            <a:extLst>
              <a:ext uri="{FF2B5EF4-FFF2-40B4-BE49-F238E27FC236}">
                <a16:creationId xmlns:a16="http://schemas.microsoft.com/office/drawing/2014/main" id="{6E608954-7049-4049-94EF-7A89D6F7C2FF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9419972" y="1999481"/>
            <a:ext cx="274320" cy="274320"/>
          </a:xfrm>
          <a:prstGeom prst="rect">
            <a:avLst/>
          </a:prstGeom>
        </p:spPr>
      </p:pic>
      <p:sp>
        <p:nvSpPr>
          <p:cNvPr id="168" name="TextBox 11">
            <a:extLst>
              <a:ext uri="{FF2B5EF4-FFF2-40B4-BE49-F238E27FC236}">
                <a16:creationId xmlns:a16="http://schemas.microsoft.com/office/drawing/2014/main" id="{22153369-9D87-4EC9-9C40-BA676119B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5737" y="2003003"/>
            <a:ext cx="69361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account</a:t>
            </a:r>
          </a:p>
        </p:txBody>
      </p:sp>
      <p:pic>
        <p:nvPicPr>
          <p:cNvPr id="169" name="Graphic 6">
            <a:extLst>
              <a:ext uri="{FF2B5EF4-FFF2-40B4-BE49-F238E27FC236}">
                <a16:creationId xmlns:a16="http://schemas.microsoft.com/office/drawing/2014/main" id="{40969984-2557-4DE9-8AC5-43B124642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 bwMode="auto">
          <a:xfrm>
            <a:off x="9453908" y="2662823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" name="Graphic 169">
            <a:extLst>
              <a:ext uri="{FF2B5EF4-FFF2-40B4-BE49-F238E27FC236}">
                <a16:creationId xmlns:a16="http://schemas.microsoft.com/office/drawing/2014/main" id="{609D890A-6477-4DA0-B835-47A053562897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6609007" y="2471774"/>
            <a:ext cx="182880" cy="182880"/>
          </a:xfrm>
          <a:prstGeom prst="rect">
            <a:avLst/>
          </a:prstGeom>
        </p:spPr>
      </p:pic>
      <p:sp>
        <p:nvSpPr>
          <p:cNvPr id="171" name="TextBox 26">
            <a:extLst>
              <a:ext uri="{FF2B5EF4-FFF2-40B4-BE49-F238E27FC236}">
                <a16:creationId xmlns:a16="http://schemas.microsoft.com/office/drawing/2014/main" id="{F506BAEC-3EAD-4C91-B0D7-66D75F8FA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7306" y="2271138"/>
            <a:ext cx="120842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sp>
        <p:nvSpPr>
          <p:cNvPr id="172" name="TextBox 26">
            <a:extLst>
              <a:ext uri="{FF2B5EF4-FFF2-40B4-BE49-F238E27FC236}">
                <a16:creationId xmlns:a16="http://schemas.microsoft.com/office/drawing/2014/main" id="{8AFBC925-4139-4317-87C9-F8F91619D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9650" y="2457578"/>
            <a:ext cx="6450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5BECCB3-5A2C-4602-B228-1F909AE7BF84}"/>
              </a:ext>
            </a:extLst>
          </p:cNvPr>
          <p:cNvGrpSpPr/>
          <p:nvPr/>
        </p:nvGrpSpPr>
        <p:grpSpPr>
          <a:xfrm>
            <a:off x="6784001" y="3290899"/>
            <a:ext cx="815936" cy="492400"/>
            <a:chOff x="5449874" y="3466079"/>
            <a:chExt cx="815936" cy="492400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2A92BC3A-1B47-4B93-8EE8-89EF5308CB83}"/>
                </a:ext>
              </a:extLst>
            </p:cNvPr>
            <p:cNvSpPr/>
            <p:nvPr/>
          </p:nvSpPr>
          <p:spPr>
            <a:xfrm>
              <a:off x="5449874" y="3758800"/>
              <a:ext cx="815936" cy="199679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management tools</a:t>
              </a:r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42516B78-CA3D-427E-A56C-415068A422A3}"/>
                </a:ext>
              </a:extLst>
            </p:cNvPr>
            <p:cNvGrpSpPr/>
            <p:nvPr/>
          </p:nvGrpSpPr>
          <p:grpSpPr>
            <a:xfrm>
              <a:off x="5682966" y="3466079"/>
              <a:ext cx="384445" cy="323148"/>
              <a:chOff x="3543296" y="3794345"/>
              <a:chExt cx="384445" cy="323148"/>
            </a:xfrm>
          </p:grpSpPr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7640CBF0-5E31-4EA3-BD48-38A87A8B417D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16339C67-1C5C-4D7D-BDE9-79E60A50AE54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81" name="Graphic 180">
                  <a:extLst>
                    <a:ext uri="{FF2B5EF4-FFF2-40B4-BE49-F238E27FC236}">
                      <a16:creationId xmlns:a16="http://schemas.microsoft.com/office/drawing/2014/main" id="{ABB77DDC-F33E-492C-82CD-9F28B844CA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3E750119-EE2D-4826-8D64-6DD6CC94B261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E6337A84-2AF8-41F2-BBA8-210DCFDE84C9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79" name="Graphic 178">
                  <a:extLst>
                    <a:ext uri="{FF2B5EF4-FFF2-40B4-BE49-F238E27FC236}">
                      <a16:creationId xmlns:a16="http://schemas.microsoft.com/office/drawing/2014/main" id="{6F9B08D0-6BBD-4108-B25E-C8E7A858B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1A1F42D5-1EE9-429F-B876-69CC14BDC755}"/>
              </a:ext>
            </a:extLst>
          </p:cNvPr>
          <p:cNvGrpSpPr/>
          <p:nvPr/>
        </p:nvGrpSpPr>
        <p:grpSpPr>
          <a:xfrm>
            <a:off x="6899889" y="3942247"/>
            <a:ext cx="686243" cy="423118"/>
            <a:chOff x="5495449" y="4377704"/>
            <a:chExt cx="686243" cy="423118"/>
          </a:xfrm>
        </p:grpSpPr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262F4E54-3ED8-4B6E-92F2-0FDED91365D7}"/>
                </a:ext>
              </a:extLst>
            </p:cNvPr>
            <p:cNvSpPr/>
            <p:nvPr/>
          </p:nvSpPr>
          <p:spPr>
            <a:xfrm>
              <a:off x="5495449" y="4635456"/>
              <a:ext cx="686243" cy="165366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risk/fraud</a:t>
              </a:r>
            </a:p>
          </p:txBody>
        </p: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F536E16-1298-4886-87DE-9DF30036C368}"/>
                </a:ext>
              </a:extLst>
            </p:cNvPr>
            <p:cNvGrpSpPr/>
            <p:nvPr/>
          </p:nvGrpSpPr>
          <p:grpSpPr>
            <a:xfrm>
              <a:off x="5650369" y="4377704"/>
              <a:ext cx="384445" cy="323148"/>
              <a:chOff x="3543296" y="3794345"/>
              <a:chExt cx="384445" cy="323148"/>
            </a:xfrm>
          </p:grpSpPr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12B42BE1-FA94-4D7B-80DE-EB0020EB869C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5A953F68-D194-424A-9E23-EA02D8A82B42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90" name="Graphic 189">
                  <a:extLst>
                    <a:ext uri="{FF2B5EF4-FFF2-40B4-BE49-F238E27FC236}">
                      <a16:creationId xmlns:a16="http://schemas.microsoft.com/office/drawing/2014/main" id="{911D790A-0009-4FC2-879C-9C7BDE62E5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A87B5ED7-C656-4934-8C49-85D811D24494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87" name="Rectangle 186">
                  <a:extLst>
                    <a:ext uri="{FF2B5EF4-FFF2-40B4-BE49-F238E27FC236}">
                      <a16:creationId xmlns:a16="http://schemas.microsoft.com/office/drawing/2014/main" id="{BEEE9C79-88D7-47D9-8155-6FA08E7ECDD9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88" name="Graphic 187">
                  <a:extLst>
                    <a:ext uri="{FF2B5EF4-FFF2-40B4-BE49-F238E27FC236}">
                      <a16:creationId xmlns:a16="http://schemas.microsoft.com/office/drawing/2014/main" id="{5C70AB19-396D-454D-95DD-DEBD2EDD21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A5CE931-4C68-47DA-8654-052B735787CE}"/>
              </a:ext>
            </a:extLst>
          </p:cNvPr>
          <p:cNvGrpSpPr/>
          <p:nvPr/>
        </p:nvGrpSpPr>
        <p:grpSpPr>
          <a:xfrm>
            <a:off x="6954375" y="4396720"/>
            <a:ext cx="544991" cy="452825"/>
            <a:chOff x="5571128" y="4780575"/>
            <a:chExt cx="544991" cy="452825"/>
          </a:xfrm>
        </p:grpSpPr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865B19E0-5A77-4FEF-AE10-5930A06704E1}"/>
                </a:ext>
              </a:extLst>
            </p:cNvPr>
            <p:cNvSpPr/>
            <p:nvPr/>
          </p:nvSpPr>
          <p:spPr>
            <a:xfrm>
              <a:off x="5571128" y="5066388"/>
              <a:ext cx="544991" cy="167012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promo</a:t>
              </a:r>
            </a:p>
          </p:txBody>
        </p: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5F6A21D1-5A80-4946-B9AC-FA9BE8418B3E}"/>
                </a:ext>
              </a:extLst>
            </p:cNvPr>
            <p:cNvGrpSpPr/>
            <p:nvPr/>
          </p:nvGrpSpPr>
          <p:grpSpPr>
            <a:xfrm>
              <a:off x="5639521" y="4780575"/>
              <a:ext cx="384445" cy="323148"/>
              <a:chOff x="3543296" y="3794345"/>
              <a:chExt cx="384445" cy="323148"/>
            </a:xfrm>
          </p:grpSpPr>
          <p:grpSp>
            <p:nvGrpSpPr>
              <p:cNvPr id="194" name="Group 193">
                <a:extLst>
                  <a:ext uri="{FF2B5EF4-FFF2-40B4-BE49-F238E27FC236}">
                    <a16:creationId xmlns:a16="http://schemas.microsoft.com/office/drawing/2014/main" id="{DC873A05-7D08-41DA-88AE-96D6EDC02BCB}"/>
                  </a:ext>
                </a:extLst>
              </p:cNvPr>
              <p:cNvGrpSpPr/>
              <p:nvPr/>
            </p:nvGrpSpPr>
            <p:grpSpPr>
              <a:xfrm>
                <a:off x="3543296" y="3794345"/>
                <a:ext cx="274320" cy="274320"/>
                <a:chOff x="3561263" y="3922172"/>
                <a:chExt cx="274320" cy="274320"/>
              </a:xfrm>
            </p:grpSpPr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2D8BF701-3F17-4B5B-955E-E68FB943DB4E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99" name="Graphic 198">
                  <a:extLst>
                    <a:ext uri="{FF2B5EF4-FFF2-40B4-BE49-F238E27FC236}">
                      <a16:creationId xmlns:a16="http://schemas.microsoft.com/office/drawing/2014/main" id="{310B2C90-1C9B-4607-B7C8-5A1EE4DC6F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  <p:grpSp>
            <p:nvGrpSpPr>
              <p:cNvPr id="195" name="Group 194">
                <a:extLst>
                  <a:ext uri="{FF2B5EF4-FFF2-40B4-BE49-F238E27FC236}">
                    <a16:creationId xmlns:a16="http://schemas.microsoft.com/office/drawing/2014/main" id="{9AC27343-9A3A-45C9-8C0E-65D8A692778D}"/>
                  </a:ext>
                </a:extLst>
              </p:cNvPr>
              <p:cNvGrpSpPr/>
              <p:nvPr/>
            </p:nvGrpSpPr>
            <p:grpSpPr>
              <a:xfrm>
                <a:off x="3653421" y="3843173"/>
                <a:ext cx="274320" cy="274320"/>
                <a:chOff x="3561263" y="3922172"/>
                <a:chExt cx="274320" cy="274320"/>
              </a:xfrm>
            </p:grpSpPr>
            <p:sp>
              <p:nvSpPr>
                <p:cNvPr id="196" name="Rectangle 195">
                  <a:extLst>
                    <a:ext uri="{FF2B5EF4-FFF2-40B4-BE49-F238E27FC236}">
                      <a16:creationId xmlns:a16="http://schemas.microsoft.com/office/drawing/2014/main" id="{A530064C-F946-4929-8CED-08B903EFB1B1}"/>
                    </a:ext>
                  </a:extLst>
                </p:cNvPr>
                <p:cNvSpPr/>
                <p:nvPr/>
              </p:nvSpPr>
              <p:spPr>
                <a:xfrm>
                  <a:off x="3584768" y="3994547"/>
                  <a:ext cx="245164" cy="153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97" name="Graphic 196">
                  <a:extLst>
                    <a:ext uri="{FF2B5EF4-FFF2-40B4-BE49-F238E27FC236}">
                      <a16:creationId xmlns:a16="http://schemas.microsoft.com/office/drawing/2014/main" id="{B7153202-765D-4584-BD84-D2A200AABD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61263" y="3922172"/>
                  <a:ext cx="274320" cy="274320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200" name="Graphic 199">
            <a:extLst>
              <a:ext uri="{FF2B5EF4-FFF2-40B4-BE49-F238E27FC236}">
                <a16:creationId xmlns:a16="http://schemas.microsoft.com/office/drawing/2014/main" id="{0608F6D7-1AA9-4225-9B88-953726E4A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 bwMode="auto">
          <a:xfrm>
            <a:off x="8011578" y="3430186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1" name="Graphic 200">
            <a:extLst>
              <a:ext uri="{FF2B5EF4-FFF2-40B4-BE49-F238E27FC236}">
                <a16:creationId xmlns:a16="http://schemas.microsoft.com/office/drawing/2014/main" id="{110BDD5F-0683-4BA1-8C85-EBBED79FF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 bwMode="auto">
          <a:xfrm>
            <a:off x="8017217" y="4505590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2" name="Graphic 6">
            <a:extLst>
              <a:ext uri="{FF2B5EF4-FFF2-40B4-BE49-F238E27FC236}">
                <a16:creationId xmlns:a16="http://schemas.microsoft.com/office/drawing/2014/main" id="{60217F28-B7C5-472D-8979-9335CB01A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 bwMode="auto">
          <a:xfrm>
            <a:off x="8655443" y="4495848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3" name="Graphic 6">
            <a:extLst>
              <a:ext uri="{FF2B5EF4-FFF2-40B4-BE49-F238E27FC236}">
                <a16:creationId xmlns:a16="http://schemas.microsoft.com/office/drawing/2014/main" id="{34D2976C-2450-463F-917C-23947015F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 bwMode="auto">
          <a:xfrm>
            <a:off x="8664651" y="3082678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4" name="Group 203">
            <a:extLst>
              <a:ext uri="{FF2B5EF4-FFF2-40B4-BE49-F238E27FC236}">
                <a16:creationId xmlns:a16="http://schemas.microsoft.com/office/drawing/2014/main" id="{B9C4B148-2478-4A7B-B3BF-CE4F0FC9E52F}"/>
              </a:ext>
            </a:extLst>
          </p:cNvPr>
          <p:cNvGrpSpPr/>
          <p:nvPr/>
        </p:nvGrpSpPr>
        <p:grpSpPr>
          <a:xfrm>
            <a:off x="9668957" y="3767283"/>
            <a:ext cx="274320" cy="274320"/>
            <a:chOff x="9280567" y="1794094"/>
            <a:chExt cx="274320" cy="274320"/>
          </a:xfrm>
        </p:grpSpPr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535B9302-E43B-44A2-A77F-1EB25104EFD9}"/>
                </a:ext>
              </a:extLst>
            </p:cNvPr>
            <p:cNvSpPr/>
            <p:nvPr/>
          </p:nvSpPr>
          <p:spPr>
            <a:xfrm>
              <a:off x="9296401" y="1803372"/>
              <a:ext cx="234790" cy="2534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06" name="Graphic 205">
              <a:extLst>
                <a:ext uri="{FF2B5EF4-FFF2-40B4-BE49-F238E27FC236}">
                  <a16:creationId xmlns:a16="http://schemas.microsoft.com/office/drawing/2014/main" id="{CE94DF14-5A89-459F-9195-42765EBF55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9280567" y="1794094"/>
              <a:ext cx="274320" cy="274320"/>
            </a:xfrm>
            <a:prstGeom prst="rect">
              <a:avLst/>
            </a:prstGeom>
          </p:spPr>
        </p:pic>
      </p:grpSp>
      <p:sp>
        <p:nvSpPr>
          <p:cNvPr id="207" name="TextBox 26">
            <a:extLst>
              <a:ext uri="{FF2B5EF4-FFF2-40B4-BE49-F238E27FC236}">
                <a16:creationId xmlns:a16="http://schemas.microsoft.com/office/drawing/2014/main" id="{64DEE99E-ED03-4CDE-84CE-2A6A7CFD8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8052" y="3858459"/>
            <a:ext cx="124942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Corporate data center</a:t>
            </a:r>
          </a:p>
        </p:txBody>
      </p:sp>
      <p:sp>
        <p:nvSpPr>
          <p:cNvPr id="208" name="TextBox 26">
            <a:extLst>
              <a:ext uri="{FF2B5EF4-FFF2-40B4-BE49-F238E27FC236}">
                <a16:creationId xmlns:a16="http://schemas.microsoft.com/office/drawing/2014/main" id="{27C5DCC0-0436-43AD-BC31-AD7BAA40F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052" y="1511645"/>
            <a:ext cx="120842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GB" sz="1000" dirty="0">
                <a:solidFill>
                  <a:srgbClr val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Cloud</a:t>
            </a:r>
            <a:endParaRPr lang="en-US" altLang="en-US" sz="1000" dirty="0">
              <a:solidFill>
                <a:srgbClr val="000000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209" name="TextBox 11">
            <a:extLst>
              <a:ext uri="{FF2B5EF4-FFF2-40B4-BE49-F238E27FC236}">
                <a16:creationId xmlns:a16="http://schemas.microsoft.com/office/drawing/2014/main" id="{F55F4C09-C892-4367-B6E1-47379ED93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7607" y="1999500"/>
            <a:ext cx="102077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800" dirty="0">
                <a:ln w="0"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VPC</a:t>
            </a:r>
          </a:p>
        </p:txBody>
      </p:sp>
      <p:pic>
        <p:nvPicPr>
          <p:cNvPr id="210" name="Graphic 18">
            <a:extLst>
              <a:ext uri="{FF2B5EF4-FFF2-40B4-BE49-F238E27FC236}">
                <a16:creationId xmlns:a16="http://schemas.microsoft.com/office/drawing/2014/main" id="{E0F7448A-D150-48BB-8C9C-EBFC57087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 bwMode="auto">
          <a:xfrm>
            <a:off x="6671322" y="3071897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1" name="TextBox 9">
            <a:extLst>
              <a:ext uri="{FF2B5EF4-FFF2-40B4-BE49-F238E27FC236}">
                <a16:creationId xmlns:a16="http://schemas.microsoft.com/office/drawing/2014/main" id="{116A72F4-9769-4953-995C-6BE4A5839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335" y="3064361"/>
            <a:ext cx="84135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EKS</a:t>
            </a:r>
          </a:p>
        </p:txBody>
      </p:sp>
      <p:sp>
        <p:nvSpPr>
          <p:cNvPr id="212" name="TextBox 9">
            <a:extLst>
              <a:ext uri="{FF2B5EF4-FFF2-40B4-BE49-F238E27FC236}">
                <a16:creationId xmlns:a16="http://schemas.microsoft.com/office/drawing/2014/main" id="{F414715F-F63F-463A-ACD6-48F7A10A7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275" y="2184011"/>
            <a:ext cx="119694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defRPr/>
            </a:pP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sp>
        <p:nvSpPr>
          <p:cNvPr id="213" name="TextBox 9">
            <a:extLst>
              <a:ext uri="{FF2B5EF4-FFF2-40B4-BE49-F238E27FC236}">
                <a16:creationId xmlns:a16="http://schemas.microsoft.com/office/drawing/2014/main" id="{45CE779D-BFE0-4CB1-AD28-46D488E49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4540" y="5804599"/>
            <a:ext cx="119694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defRPr/>
            </a:pPr>
            <a:r>
              <a:rPr 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Availability Zone 2</a:t>
            </a: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00D5716C-5CBB-4638-8B8B-9F48BD94AAB8}"/>
              </a:ext>
            </a:extLst>
          </p:cNvPr>
          <p:cNvCxnSpPr>
            <a:cxnSpLocks/>
          </p:cNvCxnSpPr>
          <p:nvPr/>
        </p:nvCxnSpPr>
        <p:spPr>
          <a:xfrm flipH="1">
            <a:off x="6366993" y="4111343"/>
            <a:ext cx="292122" cy="0"/>
          </a:xfrm>
          <a:prstGeom prst="straightConnector1">
            <a:avLst/>
          </a:prstGeom>
          <a:ln w="15875">
            <a:solidFill>
              <a:srgbClr val="545B64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11">
            <a:extLst>
              <a:ext uri="{FF2B5EF4-FFF2-40B4-BE49-F238E27FC236}">
                <a16:creationId xmlns:a16="http://schemas.microsoft.com/office/drawing/2014/main" id="{5C0DF200-FF60-4F32-9325-43E8F6149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9663" y="2642361"/>
            <a:ext cx="69361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800" dirty="0">
                <a:ln w="0"/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VPC</a:t>
            </a:r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6E3BA5F5-7477-4406-90C6-E54709451DDD}"/>
              </a:ext>
            </a:extLst>
          </p:cNvPr>
          <p:cNvSpPr>
            <a:spLocks noChangeAspect="1"/>
          </p:cNvSpPr>
          <p:nvPr/>
        </p:nvSpPr>
        <p:spPr bwMode="auto">
          <a:xfrm>
            <a:off x="4875839" y="462214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228" name="Graphic 227">
            <a:extLst>
              <a:ext uri="{FF2B5EF4-FFF2-40B4-BE49-F238E27FC236}">
                <a16:creationId xmlns:a16="http://schemas.microsoft.com/office/drawing/2014/main" id="{16183B93-8086-4AE8-B0F2-BC34C56D643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4558062" y="1503285"/>
            <a:ext cx="274320" cy="274320"/>
          </a:xfrm>
          <a:prstGeom prst="rect">
            <a:avLst/>
          </a:prstGeom>
        </p:spPr>
      </p:pic>
      <p:sp>
        <p:nvSpPr>
          <p:cNvPr id="229" name="Oval 228">
            <a:extLst>
              <a:ext uri="{FF2B5EF4-FFF2-40B4-BE49-F238E27FC236}">
                <a16:creationId xmlns:a16="http://schemas.microsoft.com/office/drawing/2014/main" id="{3C51ABB9-7814-4133-9ADC-6FACEAF2615F}"/>
              </a:ext>
            </a:extLst>
          </p:cNvPr>
          <p:cNvSpPr>
            <a:spLocks noChangeAspect="1"/>
          </p:cNvSpPr>
          <p:nvPr/>
        </p:nvSpPr>
        <p:spPr bwMode="auto">
          <a:xfrm>
            <a:off x="6760227" y="3798121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0AA79962-1FCD-4E2D-9F78-7743AA4B8F6E}"/>
              </a:ext>
            </a:extLst>
          </p:cNvPr>
          <p:cNvSpPr>
            <a:spLocks noChangeAspect="1"/>
          </p:cNvSpPr>
          <p:nvPr/>
        </p:nvSpPr>
        <p:spPr bwMode="auto">
          <a:xfrm>
            <a:off x="8092009" y="420216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44362650-F5E6-4758-B32B-CF3E6BC5CB97}"/>
              </a:ext>
            </a:extLst>
          </p:cNvPr>
          <p:cNvSpPr>
            <a:spLocks noChangeAspect="1"/>
          </p:cNvSpPr>
          <p:nvPr/>
        </p:nvSpPr>
        <p:spPr bwMode="auto">
          <a:xfrm>
            <a:off x="5765317" y="254014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F0136010-2010-4710-A4D2-0A3D8C5BCA11}"/>
              </a:ext>
            </a:extLst>
          </p:cNvPr>
          <p:cNvSpPr>
            <a:spLocks noChangeAspect="1"/>
          </p:cNvSpPr>
          <p:nvPr/>
        </p:nvSpPr>
        <p:spPr bwMode="auto">
          <a:xfrm>
            <a:off x="1748289" y="298089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8FBA819B-BE47-4AD0-B98D-0EFCE52AAB48}"/>
              </a:ext>
            </a:extLst>
          </p:cNvPr>
          <p:cNvSpPr>
            <a:spLocks noChangeAspect="1"/>
          </p:cNvSpPr>
          <p:nvPr/>
        </p:nvSpPr>
        <p:spPr bwMode="auto">
          <a:xfrm>
            <a:off x="9463581" y="4167070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4BAEC93D-9D94-49B2-8260-B66C46A3BE1E}"/>
              </a:ext>
            </a:extLst>
          </p:cNvPr>
          <p:cNvSpPr>
            <a:spLocks noChangeAspect="1"/>
          </p:cNvSpPr>
          <p:nvPr/>
        </p:nvSpPr>
        <p:spPr bwMode="auto">
          <a:xfrm>
            <a:off x="8232954" y="2805487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C64F7333-3929-4ED2-AD91-58E7A2EF4A7E}"/>
              </a:ext>
            </a:extLst>
          </p:cNvPr>
          <p:cNvSpPr>
            <a:spLocks noChangeAspect="1"/>
          </p:cNvSpPr>
          <p:nvPr/>
        </p:nvSpPr>
        <p:spPr bwMode="auto">
          <a:xfrm>
            <a:off x="7390482" y="2607564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F0C60708-812E-46EE-BB9C-E84DFA723EBB}"/>
              </a:ext>
            </a:extLst>
          </p:cNvPr>
          <p:cNvSpPr>
            <a:spLocks noChangeAspect="1"/>
          </p:cNvSpPr>
          <p:nvPr/>
        </p:nvSpPr>
        <p:spPr bwMode="auto">
          <a:xfrm>
            <a:off x="3812555" y="4551690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4D505124-929F-4163-A795-579D858E7EE9}"/>
              </a:ext>
            </a:extLst>
          </p:cNvPr>
          <p:cNvSpPr>
            <a:spLocks noChangeAspect="1"/>
          </p:cNvSpPr>
          <p:nvPr/>
        </p:nvSpPr>
        <p:spPr bwMode="auto">
          <a:xfrm>
            <a:off x="3071537" y="1420147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684E49D9-881E-4421-BE3E-03DDD3404445}"/>
              </a:ext>
            </a:extLst>
          </p:cNvPr>
          <p:cNvSpPr>
            <a:spLocks noChangeAspect="1"/>
          </p:cNvSpPr>
          <p:nvPr/>
        </p:nvSpPr>
        <p:spPr bwMode="auto">
          <a:xfrm>
            <a:off x="2953203" y="4542092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23414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C6148-E3E5-664B-8A24-89C2726A7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68" y="401065"/>
            <a:ext cx="10515600" cy="98241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CB9B0-CBBE-A041-9695-C3789648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all service icons, refer to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AWS Architecture Icons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more architecture diagrams, refer to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AWS Architecture Center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more AWS best practices, refer to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AWS Well-Architected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you have suggestions about making this experience better,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provide feedback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C8BDD-2AC7-FD49-B718-D5C3842239D0}"/>
              </a:ext>
            </a:extLst>
          </p:cNvPr>
          <p:cNvSpPr txBox="1"/>
          <p:nvPr/>
        </p:nvSpPr>
        <p:spPr>
          <a:xfrm>
            <a:off x="673768" y="1174282"/>
            <a:ext cx="973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get started with customizing your architecture diagram, refer to the following resources.</a:t>
            </a:r>
          </a:p>
        </p:txBody>
      </p:sp>
    </p:spTree>
    <p:extLst>
      <p:ext uri="{BB962C8B-B14F-4D97-AF65-F5344CB8AC3E}">
        <p14:creationId xmlns:p14="http://schemas.microsoft.com/office/powerpoint/2010/main" val="3056669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59001</TotalTime>
  <Words>923</Words>
  <Application>Microsoft Office PowerPoint</Application>
  <PresentationFormat>Widescreen</PresentationFormat>
  <Paragraphs>220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Amazon Ember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Betting Architecture on AWS</dc:title>
  <dc:subject/>
  <dc:creator>Amazon Web Services</dc:creator>
  <cp:keywords/>
  <dc:description/>
  <cp:lastModifiedBy>Courtright, Andrea</cp:lastModifiedBy>
  <cp:revision>120</cp:revision>
  <dcterms:created xsi:type="dcterms:W3CDTF">2020-07-21T19:38:25Z</dcterms:created>
  <dcterms:modified xsi:type="dcterms:W3CDTF">2023-11-16T23:46:22Z</dcterms:modified>
  <cp:category/>
</cp:coreProperties>
</file>