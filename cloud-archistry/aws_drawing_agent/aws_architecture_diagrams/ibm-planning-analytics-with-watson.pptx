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952" userDrawn="1">
          <p15:clr>
            <a:srgbClr val="A4A3A4"/>
          </p15:clr>
        </p15:guide>
        <p15:guide id="3" pos="5664" userDrawn="1">
          <p15:clr>
            <a:srgbClr val="A4A3A4"/>
          </p15:clr>
        </p15:guide>
        <p15:guide id="4" pos="5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elle Nolan" initials="JN" lastIdx="7" clrIdx="0">
    <p:extLst>
      <p:ext uri="{19B8F6BF-5375-455C-9EA6-DF929625EA0E}">
        <p15:presenceInfo xmlns:p15="http://schemas.microsoft.com/office/powerpoint/2012/main" userId="Janelle Nol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545B63"/>
    <a:srgbClr val="0CB4B3"/>
    <a:srgbClr val="3A46CB"/>
    <a:srgbClr val="EAEDED"/>
    <a:srgbClr val="D5DBDB"/>
    <a:srgbClr val="545B64"/>
    <a:srgbClr val="FF9900"/>
    <a:srgbClr val="23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4852"/>
  </p:normalViewPr>
  <p:slideViewPr>
    <p:cSldViewPr>
      <p:cViewPr varScale="1">
        <p:scale>
          <a:sx n="105" d="100"/>
          <a:sy n="105" d="100"/>
        </p:scale>
        <p:origin x="1400" y="184"/>
      </p:cViewPr>
      <p:guideLst>
        <p:guide orient="horz" pos="2160"/>
        <p:guide pos="5952"/>
        <p:guide pos="5664"/>
        <p:guide pos="5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D1AE-04B2-F147-8122-2A32BD7879DD}" type="datetimeFigureOut">
              <a:rPr lang="en-US" smtClean="0"/>
              <a:t>5/11/23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C6CBF-D31D-B841-861D-EC168426F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5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C6CBF-D31D-B841-861D-EC168426F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39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C975D7-52A5-61AF-8216-C78B5C211F4B}"/>
              </a:ext>
            </a:extLst>
          </p:cNvPr>
          <p:cNvSpPr/>
          <p:nvPr userDrawn="1"/>
        </p:nvSpPr>
        <p:spPr>
          <a:xfrm>
            <a:off x="914400" y="6172200"/>
            <a:ext cx="3581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6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5/11/23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1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10820400" cy="12162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820400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AWS copyright text">
            <a:extLst>
              <a:ext uri="{FF2B5EF4-FFF2-40B4-BE49-F238E27FC236}">
                <a16:creationId xmlns:a16="http://schemas.microsoft.com/office/drawing/2014/main" id="{F49B8274-557F-7642-B09D-244509A45E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90600" y="6345238"/>
            <a:ext cx="4036484" cy="28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x-none" sz="933" b="0" i="1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Reviewed for technical accuracy Month Day, 2023</a:t>
            </a:r>
          </a:p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© 2023, Amazon Web Services, Inc. or its affiliates. All rights reserved.</a:t>
            </a:r>
          </a:p>
        </p:txBody>
      </p:sp>
      <p:sp>
        <p:nvSpPr>
          <p:cNvPr id="10" name="AWS Reference Architecture text">
            <a:extLst>
              <a:ext uri="{FF2B5EF4-FFF2-40B4-BE49-F238E27FC236}">
                <a16:creationId xmlns:a16="http://schemas.microsoft.com/office/drawing/2014/main" id="{5EF8CEBA-0ED4-8243-9BCD-E9FD95F708AB}"/>
              </a:ext>
            </a:extLst>
          </p:cNvPr>
          <p:cNvSpPr txBox="1"/>
          <p:nvPr userDrawn="1"/>
        </p:nvSpPr>
        <p:spPr>
          <a:xfrm>
            <a:off x="5334000" y="6345238"/>
            <a:ext cx="2895599" cy="320040"/>
          </a:xfrm>
          <a:prstGeom prst="rect">
            <a:avLst/>
          </a:prstGeom>
          <a:noFill/>
        </p:spPr>
        <p:txBody>
          <a:bodyPr wrap="square" rIns="45720" rtlCol="0">
            <a:no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FF99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Reference Architecture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8CF8A73-2F72-5D48-9C99-24F2173AD3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908" y="6314768"/>
            <a:ext cx="585391" cy="3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hyperlink" Target="https://docs.aws.amazon.com/architecture-diagram/latest/ibm-planning-analytics-watson/ibm-planning-analytics-watson.html" TargetMode="External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 box">
            <a:extLst>
              <a:ext uri="{FF2B5EF4-FFF2-40B4-BE49-F238E27FC236}">
                <a16:creationId xmlns:a16="http://schemas.microsoft.com/office/drawing/2014/main" id="{FB7B5386-D481-0745-9651-3FA89235C81A}"/>
              </a:ext>
            </a:extLst>
          </p:cNvPr>
          <p:cNvSpPr txBox="1"/>
          <p:nvPr/>
        </p:nvSpPr>
        <p:spPr>
          <a:xfrm>
            <a:off x="190090" y="104794"/>
            <a:ext cx="8595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IBM Planning Analytics with Watson on AWS</a:t>
            </a:r>
            <a:br>
              <a:rPr lang="en-US" sz="24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1400" dirty="0"/>
              <a:t>For the architecture description, refer to the </a:t>
            </a:r>
            <a:r>
              <a:rPr lang="en-US" sz="1400" dirty="0">
                <a:hlinkClick r:id="rId3"/>
              </a:rPr>
              <a:t>full diagram</a:t>
            </a:r>
            <a:r>
              <a:rPr lang="en-US" sz="1400" dirty="0"/>
              <a:t>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0A5F2D-7548-1649-6FC6-075129F1C28F}"/>
              </a:ext>
            </a:extLst>
          </p:cNvPr>
          <p:cNvGrpSpPr/>
          <p:nvPr/>
        </p:nvGrpSpPr>
        <p:grpSpPr>
          <a:xfrm>
            <a:off x="1131286" y="990600"/>
            <a:ext cx="9929428" cy="5330957"/>
            <a:chOff x="281372" y="1354292"/>
            <a:chExt cx="8611029" cy="489106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2F23362-D16B-7CDA-42B9-14F08DDEB36B}"/>
                </a:ext>
              </a:extLst>
            </p:cNvPr>
            <p:cNvSpPr/>
            <p:nvPr/>
          </p:nvSpPr>
          <p:spPr>
            <a:xfrm>
              <a:off x="1724371" y="1371605"/>
              <a:ext cx="7152361" cy="487375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ysClr val="windowText" lastClr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Cloud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CC6A9884-5837-31BE-FAE3-636FE9DC8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724371" y="1371605"/>
              <a:ext cx="274320" cy="27432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D55788C-F654-4895-D1BE-FC521C5BB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880461" y="2072895"/>
              <a:ext cx="274320" cy="274320"/>
            </a:xfrm>
            <a:prstGeom prst="rect">
              <a:avLst/>
            </a:prstGeom>
          </p:spPr>
        </p:pic>
        <p:grpSp>
          <p:nvGrpSpPr>
            <p:cNvPr id="1124" name="Group 1123">
              <a:extLst>
                <a:ext uri="{FF2B5EF4-FFF2-40B4-BE49-F238E27FC236}">
                  <a16:creationId xmlns:a16="http://schemas.microsoft.com/office/drawing/2014/main" id="{A651F9EF-E2EA-FB82-B4EE-198521A844C2}"/>
                </a:ext>
              </a:extLst>
            </p:cNvPr>
            <p:cNvGrpSpPr/>
            <p:nvPr/>
          </p:nvGrpSpPr>
          <p:grpSpPr>
            <a:xfrm>
              <a:off x="409588" y="1905000"/>
              <a:ext cx="872333" cy="586652"/>
              <a:chOff x="217172" y="1464151"/>
              <a:chExt cx="872333" cy="586652"/>
            </a:xfrm>
          </p:grpSpPr>
          <p:pic>
            <p:nvPicPr>
              <p:cNvPr id="5" name="Graphic 6">
                <a:extLst>
                  <a:ext uri="{FF2B5EF4-FFF2-40B4-BE49-F238E27FC236}">
                    <a16:creationId xmlns:a16="http://schemas.microsoft.com/office/drawing/2014/main" id="{4CCEB137-5B5B-F85F-5B4C-CD00F42FD8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 bwMode="auto">
              <a:xfrm flipH="1">
                <a:off x="470458" y="1464151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3924CC75-D847-F58F-5DD3-8FC3F70321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172" y="1804582"/>
                <a:ext cx="872333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SREs</a:t>
                </a:r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50F449F-8A73-9586-2E5C-A825B34A3B5A}"/>
                </a:ext>
              </a:extLst>
            </p:cNvPr>
            <p:cNvSpPr/>
            <p:nvPr/>
          </p:nvSpPr>
          <p:spPr>
            <a:xfrm>
              <a:off x="281372" y="1371605"/>
              <a:ext cx="1128764" cy="2103119"/>
            </a:xfrm>
            <a:prstGeom prst="rect">
              <a:avLst/>
            </a:prstGeom>
            <a:noFill/>
            <a:ln w="12700">
              <a:solidFill>
                <a:srgbClr val="5A6B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A6B86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corporate data center</a:t>
              </a:r>
            </a:p>
          </p:txBody>
        </p:sp>
        <p:pic>
          <p:nvPicPr>
            <p:cNvPr id="151" name="Graphic 150">
              <a:extLst>
                <a:ext uri="{FF2B5EF4-FFF2-40B4-BE49-F238E27FC236}">
                  <a16:creationId xmlns:a16="http://schemas.microsoft.com/office/drawing/2014/main" id="{90F51A9D-B87B-223F-7633-BA0C50851331}"/>
                </a:ext>
              </a:extLst>
            </p:cNvPr>
            <p:cNvPicPr>
              <a:picLocks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81372" y="1354292"/>
              <a:ext cx="274320" cy="274320"/>
            </a:xfrm>
            <a:prstGeom prst="rect">
              <a:avLst/>
            </a:prstGeom>
          </p:spPr>
        </p:pic>
        <p:grpSp>
          <p:nvGrpSpPr>
            <p:cNvPr id="1067" name="Group 1066">
              <a:extLst>
                <a:ext uri="{FF2B5EF4-FFF2-40B4-BE49-F238E27FC236}">
                  <a16:creationId xmlns:a16="http://schemas.microsoft.com/office/drawing/2014/main" id="{CF042B93-D0F5-1E15-C079-C9318F4445AE}"/>
                </a:ext>
              </a:extLst>
            </p:cNvPr>
            <p:cNvGrpSpPr/>
            <p:nvPr/>
          </p:nvGrpSpPr>
          <p:grpSpPr>
            <a:xfrm>
              <a:off x="2086598" y="4673028"/>
              <a:ext cx="950174" cy="586823"/>
              <a:chOff x="2745374" y="1783085"/>
              <a:chExt cx="950174" cy="586823"/>
            </a:xfrm>
          </p:grpSpPr>
          <p:pic>
            <p:nvPicPr>
              <p:cNvPr id="1346" name="Graphic 24">
                <a:extLst>
                  <a:ext uri="{FF2B5EF4-FFF2-40B4-BE49-F238E27FC236}">
                    <a16:creationId xmlns:a16="http://schemas.microsoft.com/office/drawing/2014/main" id="{DC845EA5-09BC-B8A5-9E42-40B6A72E67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37581" y="1783085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7" name="TextBox 9">
                <a:extLst>
                  <a:ext uri="{FF2B5EF4-FFF2-40B4-BE49-F238E27FC236}">
                    <a16:creationId xmlns:a16="http://schemas.microsoft.com/office/drawing/2014/main" id="{FC6A2DAF-5A21-7D87-98DB-30003D6717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5374" y="2123687"/>
                <a:ext cx="95017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SNS</a:t>
                </a:r>
              </a:p>
            </p:txBody>
          </p:sp>
        </p:grpSp>
        <p:grpSp>
          <p:nvGrpSpPr>
            <p:cNvPr id="1132" name="Group 1131">
              <a:extLst>
                <a:ext uri="{FF2B5EF4-FFF2-40B4-BE49-F238E27FC236}">
                  <a16:creationId xmlns:a16="http://schemas.microsoft.com/office/drawing/2014/main" id="{1F9AA811-AE5A-5A94-06EE-96F82DB221EC}"/>
                </a:ext>
              </a:extLst>
            </p:cNvPr>
            <p:cNvGrpSpPr/>
            <p:nvPr/>
          </p:nvGrpSpPr>
          <p:grpSpPr>
            <a:xfrm>
              <a:off x="409588" y="2775169"/>
              <a:ext cx="872333" cy="577631"/>
              <a:chOff x="8004399" y="3992880"/>
              <a:chExt cx="872333" cy="577631"/>
            </a:xfrm>
          </p:grpSpPr>
          <p:pic>
            <p:nvPicPr>
              <p:cNvPr id="1125" name="Graphic 6">
                <a:extLst>
                  <a:ext uri="{FF2B5EF4-FFF2-40B4-BE49-F238E27FC236}">
                    <a16:creationId xmlns:a16="http://schemas.microsoft.com/office/drawing/2014/main" id="{D6ED58F3-C0AA-92B1-0C9B-ACF952D523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 bwMode="auto">
              <a:xfrm flipH="1">
                <a:off x="8257685" y="399288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6" name="TextBox 1125">
                <a:extLst>
                  <a:ext uri="{FF2B5EF4-FFF2-40B4-BE49-F238E27FC236}">
                    <a16:creationId xmlns:a16="http://schemas.microsoft.com/office/drawing/2014/main" id="{071E1A1E-0991-A628-3B56-AA3159FC04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04399" y="4324290"/>
                <a:ext cx="872333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users</a:t>
                </a:r>
              </a:p>
            </p:txBody>
          </p:sp>
        </p:grpSp>
        <p:sp>
          <p:nvSpPr>
            <p:cNvPr id="1423" name="Rectangle 1422">
              <a:extLst>
                <a:ext uri="{FF2B5EF4-FFF2-40B4-BE49-F238E27FC236}">
                  <a16:creationId xmlns:a16="http://schemas.microsoft.com/office/drawing/2014/main" id="{AE02BE7C-52A4-17C9-0715-6F25CAB60E81}"/>
                </a:ext>
              </a:extLst>
            </p:cNvPr>
            <p:cNvSpPr/>
            <p:nvPr/>
          </p:nvSpPr>
          <p:spPr>
            <a:xfrm>
              <a:off x="2235223" y="1816680"/>
              <a:ext cx="182880" cy="18125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7" name="Rectangle 1426">
              <a:extLst>
                <a:ext uri="{FF2B5EF4-FFF2-40B4-BE49-F238E27FC236}">
                  <a16:creationId xmlns:a16="http://schemas.microsoft.com/office/drawing/2014/main" id="{90DF45F1-DD9C-DA6E-F948-39DED239B7E1}"/>
                </a:ext>
              </a:extLst>
            </p:cNvPr>
            <p:cNvSpPr/>
            <p:nvPr/>
          </p:nvSpPr>
          <p:spPr>
            <a:xfrm>
              <a:off x="3023767" y="1819292"/>
              <a:ext cx="182880" cy="18125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7" name="Rectangle 1366">
              <a:extLst>
                <a:ext uri="{FF2B5EF4-FFF2-40B4-BE49-F238E27FC236}">
                  <a16:creationId xmlns:a16="http://schemas.microsoft.com/office/drawing/2014/main" id="{2FC86D5D-5C3E-49AC-C60D-80C116398E4D}"/>
                </a:ext>
              </a:extLst>
            </p:cNvPr>
            <p:cNvSpPr/>
            <p:nvPr/>
          </p:nvSpPr>
          <p:spPr>
            <a:xfrm>
              <a:off x="2048435" y="2514600"/>
              <a:ext cx="1610546" cy="780666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A6B86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IBM Planning Analytics Workspace</a:t>
              </a:r>
            </a:p>
          </p:txBody>
        </p:sp>
        <p:sp>
          <p:nvSpPr>
            <p:cNvPr id="1361" name="Rectangle 1360">
              <a:extLst>
                <a:ext uri="{FF2B5EF4-FFF2-40B4-BE49-F238E27FC236}">
                  <a16:creationId xmlns:a16="http://schemas.microsoft.com/office/drawing/2014/main" id="{B55A6588-ACC8-A2B2-F475-88901CA1796E}"/>
                </a:ext>
              </a:extLst>
            </p:cNvPr>
            <p:cNvSpPr/>
            <p:nvPr/>
          </p:nvSpPr>
          <p:spPr>
            <a:xfrm>
              <a:off x="1883738" y="2072895"/>
              <a:ext cx="1939941" cy="1279905"/>
            </a:xfrm>
            <a:prstGeom prst="rect">
              <a:avLst/>
            </a:prstGeom>
            <a:noFill/>
            <a:ln w="12700">
              <a:solidFill>
                <a:srgbClr val="D866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D86613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Red Hat OpenShift Container Platform (OCP)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8A342A-504E-7DCB-60AB-F7564EF7A121}"/>
                </a:ext>
              </a:extLst>
            </p:cNvPr>
            <p:cNvGrpSpPr/>
            <p:nvPr/>
          </p:nvGrpSpPr>
          <p:grpSpPr>
            <a:xfrm>
              <a:off x="2405289" y="2929506"/>
              <a:ext cx="896839" cy="365760"/>
              <a:chOff x="3075583" y="4682106"/>
              <a:chExt cx="896839" cy="365760"/>
            </a:xfrm>
          </p:grpSpPr>
          <p:pic>
            <p:nvPicPr>
              <p:cNvPr id="6" name="Graphic 32">
                <a:extLst>
                  <a:ext uri="{FF2B5EF4-FFF2-40B4-BE49-F238E27FC236}">
                    <a16:creationId xmlns:a16="http://schemas.microsoft.com/office/drawing/2014/main" id="{6B38A3B2-033E-8881-40E8-874A1D4265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75583" y="4682106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" name="Graphic 32">
                <a:extLst>
                  <a:ext uri="{FF2B5EF4-FFF2-40B4-BE49-F238E27FC236}">
                    <a16:creationId xmlns:a16="http://schemas.microsoft.com/office/drawing/2014/main" id="{78F7F417-F5D3-7D8E-4A0F-EC4F3F9EF4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6662" y="4682106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844ABD-11B9-3D77-4A79-E4D9FBF659DE}"/>
                </a:ext>
              </a:extLst>
            </p:cNvPr>
            <p:cNvSpPr/>
            <p:nvPr/>
          </p:nvSpPr>
          <p:spPr>
            <a:xfrm>
              <a:off x="4043936" y="1465761"/>
              <a:ext cx="4124140" cy="4630240"/>
            </a:xfrm>
            <a:prstGeom prst="rect">
              <a:avLst/>
            </a:prstGeom>
            <a:noFill/>
            <a:ln w="12700">
              <a:solidFill>
                <a:srgbClr val="693B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ln w="0"/>
                  <a:solidFill>
                    <a:srgbClr val="693BC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Virtual private cloud (VPC)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4A4E871-9C5E-EABB-1AE9-DFBBA28DD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4043936" y="1465761"/>
              <a:ext cx="274320" cy="27432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E140E4-3BF2-FB44-CD58-E12FE4BE2F32}"/>
                </a:ext>
              </a:extLst>
            </p:cNvPr>
            <p:cNvSpPr/>
            <p:nvPr/>
          </p:nvSpPr>
          <p:spPr>
            <a:xfrm>
              <a:off x="1811999" y="1740867"/>
              <a:ext cx="2074201" cy="1663707"/>
            </a:xfrm>
            <a:prstGeom prst="rect">
              <a:avLst/>
            </a:prstGeom>
            <a:noFill/>
            <a:ln w="12700">
              <a:solidFill>
                <a:srgbClr val="693B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ln w="0"/>
                  <a:solidFill>
                    <a:srgbClr val="693BC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Virtual private cloud (VPC)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93303BF-4D13-9599-DFAB-5D710A924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811999" y="1742455"/>
              <a:ext cx="274320" cy="274320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173B736-2A36-1DBF-9A5E-68377C20C5BE}"/>
                </a:ext>
              </a:extLst>
            </p:cNvPr>
            <p:cNvSpPr/>
            <p:nvPr/>
          </p:nvSpPr>
          <p:spPr>
            <a:xfrm>
              <a:off x="4118960" y="1828800"/>
              <a:ext cx="3987927" cy="1645920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27432" tIns="91440" rIns="91440" bIns="18288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Availability Zone</a:t>
              </a:r>
            </a:p>
          </p:txBody>
        </p:sp>
        <p:sp>
          <p:nvSpPr>
            <p:cNvPr id="1349" name="Rectangle 1348">
              <a:extLst>
                <a:ext uri="{FF2B5EF4-FFF2-40B4-BE49-F238E27FC236}">
                  <a16:creationId xmlns:a16="http://schemas.microsoft.com/office/drawing/2014/main" id="{3CFD52AF-D028-2F04-ABB1-B3310CE00685}"/>
                </a:ext>
              </a:extLst>
            </p:cNvPr>
            <p:cNvSpPr/>
            <p:nvPr/>
          </p:nvSpPr>
          <p:spPr>
            <a:xfrm>
              <a:off x="4124850" y="4373880"/>
              <a:ext cx="3982037" cy="1645920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27432" tIns="91440" bIns="18288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Availability Zone</a:t>
              </a:r>
            </a:p>
          </p:txBody>
        </p:sp>
        <p:sp>
          <p:nvSpPr>
            <p:cNvPr id="1351" name="Rectangle 1350">
              <a:extLst>
                <a:ext uri="{FF2B5EF4-FFF2-40B4-BE49-F238E27FC236}">
                  <a16:creationId xmlns:a16="http://schemas.microsoft.com/office/drawing/2014/main" id="{D7DED589-FA17-2619-CE62-36FCAABA66E8}"/>
                </a:ext>
              </a:extLst>
            </p:cNvPr>
            <p:cNvSpPr/>
            <p:nvPr/>
          </p:nvSpPr>
          <p:spPr>
            <a:xfrm>
              <a:off x="4355047" y="1897380"/>
              <a:ext cx="1152552" cy="1508760"/>
            </a:xfrm>
            <a:prstGeom prst="rect">
              <a:avLst/>
            </a:prstGeom>
            <a:solidFill>
              <a:srgbClr val="007CBC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r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private subnet</a:t>
              </a:r>
            </a:p>
          </p:txBody>
        </p:sp>
        <p:pic>
          <p:nvPicPr>
            <p:cNvPr id="1352" name="Graphic 1351">
              <a:extLst>
                <a:ext uri="{FF2B5EF4-FFF2-40B4-BE49-F238E27FC236}">
                  <a16:creationId xmlns:a16="http://schemas.microsoft.com/office/drawing/2014/main" id="{388552B1-A77D-473B-DE77-3B63D94BB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55047" y="1897380"/>
              <a:ext cx="274320" cy="27432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D24E905-A091-54A2-B214-1E7318AEFE5E}"/>
                </a:ext>
              </a:extLst>
            </p:cNvPr>
            <p:cNvGrpSpPr/>
            <p:nvPr/>
          </p:nvGrpSpPr>
          <p:grpSpPr>
            <a:xfrm>
              <a:off x="4373539" y="2362561"/>
              <a:ext cx="1115568" cy="741839"/>
              <a:chOff x="3429071" y="5562600"/>
              <a:chExt cx="1115568" cy="741839"/>
            </a:xfrm>
          </p:grpSpPr>
          <p:pic>
            <p:nvPicPr>
              <p:cNvPr id="20" name="Graphic 62">
                <a:extLst>
                  <a:ext uri="{FF2B5EF4-FFF2-40B4-BE49-F238E27FC236}">
                    <a16:creationId xmlns:a16="http://schemas.microsoft.com/office/drawing/2014/main" id="{9BD21158-4994-7C60-D14D-A2ADDE84A9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3975" y="556260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Box 16">
                <a:extLst>
                  <a:ext uri="{FF2B5EF4-FFF2-40B4-BE49-F238E27FC236}">
                    <a16:creationId xmlns:a16="http://schemas.microsoft.com/office/drawing/2014/main" id="{CA35116B-791F-514B-3DB8-E52B0E6FDF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71" y="5904329"/>
                <a:ext cx="111556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EC2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IBM TM1 Web</a:t>
                </a:r>
              </a:p>
            </p:txBody>
          </p:sp>
        </p:grpSp>
        <p:sp>
          <p:nvSpPr>
            <p:cNvPr id="1357" name="Rectangle 1356">
              <a:extLst>
                <a:ext uri="{FF2B5EF4-FFF2-40B4-BE49-F238E27FC236}">
                  <a16:creationId xmlns:a16="http://schemas.microsoft.com/office/drawing/2014/main" id="{3E3B184D-B9C1-1BDA-193B-0943A7602058}"/>
                </a:ext>
              </a:extLst>
            </p:cNvPr>
            <p:cNvSpPr/>
            <p:nvPr/>
          </p:nvSpPr>
          <p:spPr>
            <a:xfrm>
              <a:off x="5653916" y="1897380"/>
              <a:ext cx="2376772" cy="1508760"/>
            </a:xfrm>
            <a:prstGeom prst="rect">
              <a:avLst/>
            </a:prstGeom>
            <a:solidFill>
              <a:srgbClr val="007CBC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r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private subnet</a:t>
              </a:r>
            </a:p>
          </p:txBody>
        </p:sp>
        <p:pic>
          <p:nvPicPr>
            <p:cNvPr id="1358" name="Graphic 1357">
              <a:extLst>
                <a:ext uri="{FF2B5EF4-FFF2-40B4-BE49-F238E27FC236}">
                  <a16:creationId xmlns:a16="http://schemas.microsoft.com/office/drawing/2014/main" id="{37EF3284-948C-1A04-241E-B340ABC24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653916" y="1897380"/>
              <a:ext cx="274320" cy="274320"/>
            </a:xfrm>
            <a:prstGeom prst="rect">
              <a:avLst/>
            </a:prstGeom>
          </p:spPr>
        </p:pic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DAC7283-8AC1-A476-2D4A-C5F8B44856FC}"/>
                </a:ext>
              </a:extLst>
            </p:cNvPr>
            <p:cNvGrpSpPr/>
            <p:nvPr/>
          </p:nvGrpSpPr>
          <p:grpSpPr>
            <a:xfrm>
              <a:off x="5640015" y="2209800"/>
              <a:ext cx="1115568" cy="894600"/>
              <a:chOff x="3685032" y="5562600"/>
              <a:chExt cx="1115568" cy="894600"/>
            </a:xfrm>
          </p:grpSpPr>
          <p:pic>
            <p:nvPicPr>
              <p:cNvPr id="55" name="Graphic 60">
                <a:extLst>
                  <a:ext uri="{FF2B5EF4-FFF2-40B4-BE49-F238E27FC236}">
                    <a16:creationId xmlns:a16="http://schemas.microsoft.com/office/drawing/2014/main" id="{8C59FE5A-B6F4-DB23-7503-EB95FE873B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936" y="556260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TextBox 16">
                <a:extLst>
                  <a:ext uri="{FF2B5EF4-FFF2-40B4-BE49-F238E27FC236}">
                    <a16:creationId xmlns:a16="http://schemas.microsoft.com/office/drawing/2014/main" id="{5CBE13B4-6077-081B-0B47-F28584478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5032" y="5903202"/>
                <a:ext cx="1115568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EC2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IBM TM1 Server</a:t>
                </a:r>
              </a:p>
              <a:p>
                <a:pPr algn="ctr" eaLnBrk="1" hangingPunct="1"/>
                <a:r>
                  <a:rPr lang="en-US" altLang="en-US" sz="1000" i="1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primary</a:t>
                </a:r>
              </a:p>
            </p:txBody>
          </p:sp>
        </p:grpSp>
        <p:sp>
          <p:nvSpPr>
            <p:cNvPr id="1364" name="Rectangle 1363">
              <a:extLst>
                <a:ext uri="{FF2B5EF4-FFF2-40B4-BE49-F238E27FC236}">
                  <a16:creationId xmlns:a16="http://schemas.microsoft.com/office/drawing/2014/main" id="{9139F821-3D11-CBCD-390A-AED17555737C}"/>
                </a:ext>
              </a:extLst>
            </p:cNvPr>
            <p:cNvSpPr/>
            <p:nvPr/>
          </p:nvSpPr>
          <p:spPr>
            <a:xfrm>
              <a:off x="5658119" y="4434840"/>
              <a:ext cx="2372569" cy="1508760"/>
            </a:xfrm>
            <a:prstGeom prst="rect">
              <a:avLst/>
            </a:prstGeom>
            <a:solidFill>
              <a:srgbClr val="007CBC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r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       </a:t>
              </a:r>
            </a:p>
          </p:txBody>
        </p:sp>
        <p:pic>
          <p:nvPicPr>
            <p:cNvPr id="1365" name="Graphic 1364">
              <a:extLst>
                <a:ext uri="{FF2B5EF4-FFF2-40B4-BE49-F238E27FC236}">
                  <a16:creationId xmlns:a16="http://schemas.microsoft.com/office/drawing/2014/main" id="{F695A74D-8647-F809-3A02-50238BA1C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658119" y="4434840"/>
              <a:ext cx="274320" cy="274320"/>
            </a:xfrm>
            <a:prstGeom prst="rect">
              <a:avLst/>
            </a:prstGeom>
          </p:spPr>
        </p:pic>
        <p:sp>
          <p:nvSpPr>
            <p:cNvPr id="1366" name="Rectangle 1365">
              <a:extLst>
                <a:ext uri="{FF2B5EF4-FFF2-40B4-BE49-F238E27FC236}">
                  <a16:creationId xmlns:a16="http://schemas.microsoft.com/office/drawing/2014/main" id="{FEE3144A-DF92-5EF5-7196-4AFA4125FF9C}"/>
                </a:ext>
              </a:extLst>
            </p:cNvPr>
            <p:cNvSpPr/>
            <p:nvPr/>
          </p:nvSpPr>
          <p:spPr>
            <a:xfrm>
              <a:off x="4346558" y="4434840"/>
              <a:ext cx="1154797" cy="1508760"/>
            </a:xfrm>
            <a:prstGeom prst="rect">
              <a:avLst/>
            </a:prstGeom>
            <a:solidFill>
              <a:srgbClr val="007CBC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r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rgbClr val="5B9CD5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368" name="Graphic 1367">
              <a:extLst>
                <a:ext uri="{FF2B5EF4-FFF2-40B4-BE49-F238E27FC236}">
                  <a16:creationId xmlns:a16="http://schemas.microsoft.com/office/drawing/2014/main" id="{5775F401-104B-6EB6-F294-02881AAC7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46558" y="4434840"/>
              <a:ext cx="274320" cy="274320"/>
            </a:xfrm>
            <a:prstGeom prst="rect">
              <a:avLst/>
            </a:prstGeom>
          </p:spPr>
        </p:pic>
        <p:grpSp>
          <p:nvGrpSpPr>
            <p:cNvPr id="1369" name="Group 1368">
              <a:extLst>
                <a:ext uri="{FF2B5EF4-FFF2-40B4-BE49-F238E27FC236}">
                  <a16:creationId xmlns:a16="http://schemas.microsoft.com/office/drawing/2014/main" id="{84EAEA3C-CAAB-7720-C319-A1BF22342B5E}"/>
                </a:ext>
              </a:extLst>
            </p:cNvPr>
            <p:cNvGrpSpPr/>
            <p:nvPr/>
          </p:nvGrpSpPr>
          <p:grpSpPr>
            <a:xfrm>
              <a:off x="4373539" y="5125561"/>
              <a:ext cx="1115568" cy="741839"/>
              <a:chOff x="3429071" y="5562600"/>
              <a:chExt cx="1115568" cy="741839"/>
            </a:xfrm>
          </p:grpSpPr>
          <p:pic>
            <p:nvPicPr>
              <p:cNvPr id="1376" name="Graphic 62">
                <a:extLst>
                  <a:ext uri="{FF2B5EF4-FFF2-40B4-BE49-F238E27FC236}">
                    <a16:creationId xmlns:a16="http://schemas.microsoft.com/office/drawing/2014/main" id="{7A762620-7614-F4B1-AADD-0E48D80C78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3975" y="556260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77" name="TextBox 16">
                <a:extLst>
                  <a:ext uri="{FF2B5EF4-FFF2-40B4-BE49-F238E27FC236}">
                    <a16:creationId xmlns:a16="http://schemas.microsoft.com/office/drawing/2014/main" id="{CA8DC1CD-4F18-457E-F3D9-C0FA0DC7B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71" y="5904329"/>
                <a:ext cx="111556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EC2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IBM TM1 Web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23A6969-8A46-919B-320C-EF0AF915948B}"/>
                </a:ext>
              </a:extLst>
            </p:cNvPr>
            <p:cNvGrpSpPr/>
            <p:nvPr/>
          </p:nvGrpSpPr>
          <p:grpSpPr>
            <a:xfrm>
              <a:off x="5640015" y="4972800"/>
              <a:ext cx="1115568" cy="894600"/>
              <a:chOff x="3685032" y="5562600"/>
              <a:chExt cx="1115568" cy="894600"/>
            </a:xfrm>
          </p:grpSpPr>
          <p:pic>
            <p:nvPicPr>
              <p:cNvPr id="30" name="Graphic 60">
                <a:extLst>
                  <a:ext uri="{FF2B5EF4-FFF2-40B4-BE49-F238E27FC236}">
                    <a16:creationId xmlns:a16="http://schemas.microsoft.com/office/drawing/2014/main" id="{498175C6-AAC5-1DEC-6F54-E97994A512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936" y="556260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TextBox 16">
                <a:extLst>
                  <a:ext uri="{FF2B5EF4-FFF2-40B4-BE49-F238E27FC236}">
                    <a16:creationId xmlns:a16="http://schemas.microsoft.com/office/drawing/2014/main" id="{A22235CE-9AF0-9480-35A2-2B8B888D0D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5032" y="5903202"/>
                <a:ext cx="1115568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EC2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IBM TM1 Server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standby</a:t>
                </a:r>
              </a:p>
            </p:txBody>
          </p:sp>
        </p:grpSp>
        <p:grpSp>
          <p:nvGrpSpPr>
            <p:cNvPr id="1160" name="Group 1159">
              <a:extLst>
                <a:ext uri="{FF2B5EF4-FFF2-40B4-BE49-F238E27FC236}">
                  <a16:creationId xmlns:a16="http://schemas.microsoft.com/office/drawing/2014/main" id="{F84622AF-6F1F-0428-B665-580936B430C5}"/>
                </a:ext>
              </a:extLst>
            </p:cNvPr>
            <p:cNvGrpSpPr/>
            <p:nvPr/>
          </p:nvGrpSpPr>
          <p:grpSpPr>
            <a:xfrm>
              <a:off x="5530675" y="3507805"/>
              <a:ext cx="1334248" cy="576954"/>
              <a:chOff x="5522047" y="3521287"/>
              <a:chExt cx="1334248" cy="576954"/>
            </a:xfrm>
          </p:grpSpPr>
          <p:sp>
            <p:nvSpPr>
              <p:cNvPr id="1385" name="TextBox 25">
                <a:extLst>
                  <a:ext uri="{FF2B5EF4-FFF2-40B4-BE49-F238E27FC236}">
                    <a16:creationId xmlns:a16="http://schemas.microsoft.com/office/drawing/2014/main" id="{58BEAFC0-18C9-F214-EE62-EE40B7E58A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2047" y="3852020"/>
                <a:ext cx="133424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private hosted zone</a:t>
                </a:r>
              </a:p>
            </p:txBody>
          </p:sp>
          <p:pic>
            <p:nvPicPr>
              <p:cNvPr id="1388" name="Graphic 27">
                <a:extLst>
                  <a:ext uri="{FF2B5EF4-FFF2-40B4-BE49-F238E27FC236}">
                    <a16:creationId xmlns:a16="http://schemas.microsoft.com/office/drawing/2014/main" id="{3E128E68-28FC-E7A5-4B54-D46B9A6D5B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 bwMode="auto">
              <a:xfrm>
                <a:off x="6006291" y="3521287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62" name="Group 1461">
              <a:extLst>
                <a:ext uri="{FF2B5EF4-FFF2-40B4-BE49-F238E27FC236}">
                  <a16:creationId xmlns:a16="http://schemas.microsoft.com/office/drawing/2014/main" id="{E45F47F8-631D-B981-B98D-E21181914626}"/>
                </a:ext>
              </a:extLst>
            </p:cNvPr>
            <p:cNvGrpSpPr/>
            <p:nvPr/>
          </p:nvGrpSpPr>
          <p:grpSpPr>
            <a:xfrm>
              <a:off x="4369213" y="3810000"/>
              <a:ext cx="1124221" cy="596741"/>
              <a:chOff x="4209779" y="3663285"/>
              <a:chExt cx="1124221" cy="596741"/>
            </a:xfrm>
          </p:grpSpPr>
          <p:sp>
            <p:nvSpPr>
              <p:cNvPr id="1390" name="TextBox 19">
                <a:extLst>
                  <a:ext uri="{FF2B5EF4-FFF2-40B4-BE49-F238E27FC236}">
                    <a16:creationId xmlns:a16="http://schemas.microsoft.com/office/drawing/2014/main" id="{9ABD0AD9-B4A4-EFDC-CA18-E7C2E1CA5B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9779" y="4013805"/>
                <a:ext cx="1124221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ALB</a:t>
                </a:r>
              </a:p>
            </p:txBody>
          </p:sp>
          <p:pic>
            <p:nvPicPr>
              <p:cNvPr id="1391" name="Graphic 8">
                <a:extLst>
                  <a:ext uri="{FF2B5EF4-FFF2-40B4-BE49-F238E27FC236}">
                    <a16:creationId xmlns:a16="http://schemas.microsoft.com/office/drawing/2014/main" id="{B5F43890-3E15-8E5C-FF3E-C3CAFEE9F4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89009" y="3663285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44DAF87-89C3-B247-6BBC-2830BDA8EEB9}"/>
                </a:ext>
              </a:extLst>
            </p:cNvPr>
            <p:cNvGrpSpPr/>
            <p:nvPr/>
          </p:nvGrpSpPr>
          <p:grpSpPr>
            <a:xfrm>
              <a:off x="8175551" y="3663285"/>
              <a:ext cx="716850" cy="600706"/>
              <a:chOff x="3139843" y="3775230"/>
              <a:chExt cx="716850" cy="600706"/>
            </a:xfrm>
          </p:grpSpPr>
          <p:sp>
            <p:nvSpPr>
              <p:cNvPr id="1407" name="TextBox 18">
                <a:extLst>
                  <a:ext uri="{FF2B5EF4-FFF2-40B4-BE49-F238E27FC236}">
                    <a16:creationId xmlns:a16="http://schemas.microsoft.com/office/drawing/2014/main" id="{E7EE1575-068E-D168-269B-45A3365E4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9843" y="4129715"/>
                <a:ext cx="71685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snapshot</a:t>
                </a:r>
                <a:endParaRPr lang="en-US" alt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endParaRPr>
              </a:p>
            </p:txBody>
          </p:sp>
          <p:pic>
            <p:nvPicPr>
              <p:cNvPr id="64" name="Graphic 6">
                <a:extLst>
                  <a:ext uri="{FF2B5EF4-FFF2-40B4-BE49-F238E27FC236}">
                    <a16:creationId xmlns:a16="http://schemas.microsoft.com/office/drawing/2014/main" id="{8936A91A-8973-04DD-77B0-4F62E0ECBD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388" y="377523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C696CCF-6C0F-BEDD-1E3C-F8C4D107E04A}"/>
                </a:ext>
              </a:extLst>
            </p:cNvPr>
            <p:cNvGrpSpPr/>
            <p:nvPr/>
          </p:nvGrpSpPr>
          <p:grpSpPr>
            <a:xfrm>
              <a:off x="1862359" y="5596763"/>
              <a:ext cx="1391565" cy="575437"/>
              <a:chOff x="2678022" y="4501754"/>
              <a:chExt cx="1391565" cy="575437"/>
            </a:xfrm>
          </p:grpSpPr>
          <p:pic>
            <p:nvPicPr>
              <p:cNvPr id="67" name="Graphic 17">
                <a:extLst>
                  <a:ext uri="{FF2B5EF4-FFF2-40B4-BE49-F238E27FC236}">
                    <a16:creationId xmlns:a16="http://schemas.microsoft.com/office/drawing/2014/main" id="{96E0B3EA-E1D8-5409-10EE-26F95B5F8E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0924" y="4501754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" name="TextBox 9">
                <a:extLst>
                  <a:ext uri="{FF2B5EF4-FFF2-40B4-BE49-F238E27FC236}">
                    <a16:creationId xmlns:a16="http://schemas.microsoft.com/office/drawing/2014/main" id="{144BA958-F184-FDCB-1865-0F7124B29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8022" y="4830970"/>
                <a:ext cx="139156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CloudWatch</a:t>
                </a:r>
              </a:p>
            </p:txBody>
          </p:sp>
        </p:grpSp>
        <p:cxnSp>
          <p:nvCxnSpPr>
            <p:cNvPr id="70" name="Elbow Connector 69">
              <a:extLst>
                <a:ext uri="{FF2B5EF4-FFF2-40B4-BE49-F238E27FC236}">
                  <a16:creationId xmlns:a16="http://schemas.microsoft.com/office/drawing/2014/main" id="{4F782A6B-4FCE-3996-ECDD-834EF102E805}"/>
                </a:ext>
              </a:extLst>
            </p:cNvPr>
            <p:cNvCxnSpPr>
              <a:cxnSpLocks/>
              <a:stCxn id="67" idx="3"/>
              <a:endCxn id="31" idx="2"/>
            </p:cNvCxnSpPr>
            <p:nvPr/>
          </p:nvCxnSpPr>
          <p:spPr>
            <a:xfrm>
              <a:off x="2741021" y="5779643"/>
              <a:ext cx="3456778" cy="87757"/>
            </a:xfrm>
            <a:prstGeom prst="bentConnector4">
              <a:avLst>
                <a:gd name="adj1" fmla="val 27971"/>
                <a:gd name="adj2" fmla="val 458177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CF8CF23-CBD3-B4E0-59DE-675E6D92B7F8}"/>
                </a:ext>
              </a:extLst>
            </p:cNvPr>
            <p:cNvCxnSpPr>
              <a:cxnSpLocks/>
              <a:stCxn id="1388" idx="0"/>
              <a:endCxn id="56" idx="2"/>
            </p:cNvCxnSpPr>
            <p:nvPr/>
          </p:nvCxnSpPr>
          <p:spPr>
            <a:xfrm flipV="1">
              <a:off x="6197799" y="3104400"/>
              <a:ext cx="0" cy="403405"/>
            </a:xfrm>
            <a:prstGeom prst="straightConnector1">
              <a:avLst/>
            </a:prstGeom>
            <a:ln w="12700">
              <a:solidFill>
                <a:schemeClr val="tx2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ADF4DC8E-914A-CBCB-22BC-BA3DF7A1D3B5}"/>
                </a:ext>
              </a:extLst>
            </p:cNvPr>
            <p:cNvCxnSpPr>
              <a:cxnSpLocks/>
              <a:stCxn id="1385" idx="2"/>
              <a:endCxn id="30" idx="0"/>
            </p:cNvCxnSpPr>
            <p:nvPr/>
          </p:nvCxnSpPr>
          <p:spPr>
            <a:xfrm>
              <a:off x="6197799" y="4084759"/>
              <a:ext cx="0" cy="888041"/>
            </a:xfrm>
            <a:prstGeom prst="straightConnector1">
              <a:avLst/>
            </a:prstGeom>
            <a:ln w="12700">
              <a:solidFill>
                <a:schemeClr val="tx2"/>
              </a:solidFill>
              <a:prstDash val="dash"/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2932E95-6335-AEF3-716E-57D60BD93DC5}"/>
                </a:ext>
              </a:extLst>
            </p:cNvPr>
            <p:cNvCxnSpPr>
              <a:cxnSpLocks/>
              <a:stCxn id="1390" idx="2"/>
              <a:endCxn id="1376" idx="0"/>
            </p:cNvCxnSpPr>
            <p:nvPr/>
          </p:nvCxnSpPr>
          <p:spPr>
            <a:xfrm flipH="1">
              <a:off x="4931323" y="4406741"/>
              <a:ext cx="1" cy="718820"/>
            </a:xfrm>
            <a:prstGeom prst="straightConnector1">
              <a:avLst/>
            </a:prstGeom>
            <a:ln w="12700">
              <a:solidFill>
                <a:schemeClr val="tx2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Elbow Connector 97">
              <a:extLst>
                <a:ext uri="{FF2B5EF4-FFF2-40B4-BE49-F238E27FC236}">
                  <a16:creationId xmlns:a16="http://schemas.microsoft.com/office/drawing/2014/main" id="{5C43403A-6494-EBD6-DAC1-71049FC86275}"/>
                </a:ext>
              </a:extLst>
            </p:cNvPr>
            <p:cNvCxnSpPr>
              <a:cxnSpLocks/>
              <a:stCxn id="1391" idx="1"/>
              <a:endCxn id="1443" idx="2"/>
            </p:cNvCxnSpPr>
            <p:nvPr/>
          </p:nvCxnSpPr>
          <p:spPr>
            <a:xfrm rot="10800000">
              <a:off x="775029" y="3292586"/>
              <a:ext cx="3973415" cy="700294"/>
            </a:xfrm>
            <a:prstGeom prst="bentConnector2">
              <a:avLst/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Elbow Connector 102">
              <a:extLst>
                <a:ext uri="{FF2B5EF4-FFF2-40B4-BE49-F238E27FC236}">
                  <a16:creationId xmlns:a16="http://schemas.microsoft.com/office/drawing/2014/main" id="{21D5DF72-E8F4-7F8A-73CE-DD70E6E7A897}"/>
                </a:ext>
              </a:extLst>
            </p:cNvPr>
            <p:cNvCxnSpPr>
              <a:cxnSpLocks/>
              <a:stCxn id="139" idx="2"/>
              <a:endCxn id="20" idx="3"/>
            </p:cNvCxnSpPr>
            <p:nvPr/>
          </p:nvCxnSpPr>
          <p:spPr>
            <a:xfrm rot="10800000">
              <a:off x="5114203" y="2545442"/>
              <a:ext cx="915378" cy="99325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lbow Connector 105">
              <a:extLst>
                <a:ext uri="{FF2B5EF4-FFF2-40B4-BE49-F238E27FC236}">
                  <a16:creationId xmlns:a16="http://schemas.microsoft.com/office/drawing/2014/main" id="{CE118D11-8D29-E3E0-CEE0-5719DFFBCF93}"/>
                </a:ext>
              </a:extLst>
            </p:cNvPr>
            <p:cNvCxnSpPr>
              <a:cxnSpLocks/>
              <a:stCxn id="146" idx="2"/>
              <a:endCxn id="1376" idx="3"/>
            </p:cNvCxnSpPr>
            <p:nvPr/>
          </p:nvCxnSpPr>
          <p:spPr>
            <a:xfrm rot="10800000" flipV="1">
              <a:off x="5114203" y="3809555"/>
              <a:ext cx="915378" cy="149888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Elbow Connector 108">
              <a:extLst>
                <a:ext uri="{FF2B5EF4-FFF2-40B4-BE49-F238E27FC236}">
                  <a16:creationId xmlns:a16="http://schemas.microsoft.com/office/drawing/2014/main" id="{971ADF6B-62E1-8FE7-1D93-5912F6420A48}"/>
                </a:ext>
              </a:extLst>
            </p:cNvPr>
            <p:cNvCxnSpPr>
              <a:cxnSpLocks/>
              <a:stCxn id="1092" idx="1"/>
              <a:endCxn id="55" idx="3"/>
            </p:cNvCxnSpPr>
            <p:nvPr/>
          </p:nvCxnSpPr>
          <p:spPr>
            <a:xfrm rot="10800000" flipV="1">
              <a:off x="6380680" y="2091258"/>
              <a:ext cx="1018341" cy="30142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Elbow Connector 111">
              <a:extLst>
                <a:ext uri="{FF2B5EF4-FFF2-40B4-BE49-F238E27FC236}">
                  <a16:creationId xmlns:a16="http://schemas.microsoft.com/office/drawing/2014/main" id="{258B7D71-DC14-749A-4CB3-B2E75F896D98}"/>
                </a:ext>
              </a:extLst>
            </p:cNvPr>
            <p:cNvCxnSpPr>
              <a:cxnSpLocks/>
              <a:stCxn id="1103" idx="1"/>
              <a:endCxn id="55" idx="3"/>
            </p:cNvCxnSpPr>
            <p:nvPr/>
          </p:nvCxnSpPr>
          <p:spPr>
            <a:xfrm rot="10800000">
              <a:off x="6380680" y="2392680"/>
              <a:ext cx="1018341" cy="45720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Elbow Connector 114">
              <a:extLst>
                <a:ext uri="{FF2B5EF4-FFF2-40B4-BE49-F238E27FC236}">
                  <a16:creationId xmlns:a16="http://schemas.microsoft.com/office/drawing/2014/main" id="{B1E8F0A8-E6D7-DAAC-3003-618967BD55B3}"/>
                </a:ext>
              </a:extLst>
            </p:cNvPr>
            <p:cNvCxnSpPr>
              <a:cxnSpLocks/>
              <a:stCxn id="1113" idx="1"/>
              <a:endCxn id="30" idx="3"/>
            </p:cNvCxnSpPr>
            <p:nvPr/>
          </p:nvCxnSpPr>
          <p:spPr>
            <a:xfrm rot="10800000" flipV="1">
              <a:off x="6380680" y="4678680"/>
              <a:ext cx="1018341" cy="47700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Elbow Connector 117">
              <a:extLst>
                <a:ext uri="{FF2B5EF4-FFF2-40B4-BE49-F238E27FC236}">
                  <a16:creationId xmlns:a16="http://schemas.microsoft.com/office/drawing/2014/main" id="{19CA0DE0-68C8-DF62-5494-77BC9DB908AA}"/>
                </a:ext>
              </a:extLst>
            </p:cNvPr>
            <p:cNvCxnSpPr>
              <a:cxnSpLocks/>
              <a:stCxn id="1098" idx="1"/>
              <a:endCxn id="30" idx="3"/>
            </p:cNvCxnSpPr>
            <p:nvPr/>
          </p:nvCxnSpPr>
          <p:spPr>
            <a:xfrm rot="10800000">
              <a:off x="6380680" y="5155681"/>
              <a:ext cx="1018341" cy="24109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433830B7-3BC6-4041-3DBA-B9458DF4B6D0}"/>
                </a:ext>
              </a:extLst>
            </p:cNvPr>
            <p:cNvCxnSpPr>
              <a:cxnSpLocks/>
              <a:stCxn id="1102" idx="2"/>
              <a:endCxn id="1113" idx="0"/>
            </p:cNvCxnSpPr>
            <p:nvPr/>
          </p:nvCxnSpPr>
          <p:spPr>
            <a:xfrm flipH="1">
              <a:off x="7581900" y="3397220"/>
              <a:ext cx="1" cy="1098580"/>
            </a:xfrm>
            <a:prstGeom prst="straightConnector1">
              <a:avLst/>
            </a:prstGeom>
            <a:ln w="12700">
              <a:solidFill>
                <a:schemeClr val="tx2"/>
              </a:solidFill>
              <a:prstDash val="dash"/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Elbow Connector 125">
              <a:extLst>
                <a:ext uri="{FF2B5EF4-FFF2-40B4-BE49-F238E27FC236}">
                  <a16:creationId xmlns:a16="http://schemas.microsoft.com/office/drawing/2014/main" id="{645E1647-B7A5-FCC8-A7BA-84BA75E46AD6}"/>
                </a:ext>
              </a:extLst>
            </p:cNvPr>
            <p:cNvCxnSpPr>
              <a:cxnSpLocks/>
              <a:stCxn id="64" idx="0"/>
              <a:endCxn id="1092" idx="3"/>
            </p:cNvCxnSpPr>
            <p:nvPr/>
          </p:nvCxnSpPr>
          <p:spPr>
            <a:xfrm rot="16200000" flipV="1">
              <a:off x="7363365" y="2492674"/>
              <a:ext cx="1572026" cy="769196"/>
            </a:xfrm>
            <a:prstGeom prst="bentConnector2">
              <a:avLst/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Elbow Connector 1408">
              <a:extLst>
                <a:ext uri="{FF2B5EF4-FFF2-40B4-BE49-F238E27FC236}">
                  <a16:creationId xmlns:a16="http://schemas.microsoft.com/office/drawing/2014/main" id="{15D774AC-8F82-94C6-7613-8EAAD9429845}"/>
                </a:ext>
              </a:extLst>
            </p:cNvPr>
            <p:cNvCxnSpPr>
              <a:cxnSpLocks/>
              <a:stCxn id="1098" idx="3"/>
              <a:endCxn id="1407" idx="2"/>
            </p:cNvCxnSpPr>
            <p:nvPr/>
          </p:nvCxnSpPr>
          <p:spPr>
            <a:xfrm flipV="1">
              <a:off x="7764780" y="4263991"/>
              <a:ext cx="769196" cy="1132786"/>
            </a:xfrm>
            <a:prstGeom prst="bentConnector2">
              <a:avLst/>
            </a:prstGeom>
            <a:ln w="12700">
              <a:solidFill>
                <a:schemeClr val="tx2"/>
              </a:solidFill>
              <a:prstDash val="dash"/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2" name="Straight Arrow Connector 1411">
              <a:extLst>
                <a:ext uri="{FF2B5EF4-FFF2-40B4-BE49-F238E27FC236}">
                  <a16:creationId xmlns:a16="http://schemas.microsoft.com/office/drawing/2014/main" id="{695E4B70-487F-0AD6-64D5-778978552A2D}"/>
                </a:ext>
              </a:extLst>
            </p:cNvPr>
            <p:cNvCxnSpPr>
              <a:cxnSpLocks/>
              <a:stCxn id="67" idx="0"/>
              <a:endCxn id="1347" idx="2"/>
            </p:cNvCxnSpPr>
            <p:nvPr/>
          </p:nvCxnSpPr>
          <p:spPr>
            <a:xfrm flipV="1">
              <a:off x="2558141" y="5259851"/>
              <a:ext cx="3544" cy="336912"/>
            </a:xfrm>
            <a:prstGeom prst="straightConnector1">
              <a:avLst/>
            </a:prstGeom>
            <a:ln w="12700">
              <a:solidFill>
                <a:schemeClr val="tx2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5" name="Elbow Connector 1414">
              <a:extLst>
                <a:ext uri="{FF2B5EF4-FFF2-40B4-BE49-F238E27FC236}">
                  <a16:creationId xmlns:a16="http://schemas.microsoft.com/office/drawing/2014/main" id="{4E365DA2-0D9E-86F3-B1AC-A6F138778226}"/>
                </a:ext>
              </a:extLst>
            </p:cNvPr>
            <p:cNvCxnSpPr>
              <a:cxnSpLocks/>
              <a:stCxn id="5" idx="3"/>
              <a:endCxn id="1346" idx="1"/>
            </p:cNvCxnSpPr>
            <p:nvPr/>
          </p:nvCxnSpPr>
          <p:spPr>
            <a:xfrm rot="10800000" flipH="1" flipV="1">
              <a:off x="662873" y="2087880"/>
              <a:ext cx="1715931" cy="2768028"/>
            </a:xfrm>
            <a:prstGeom prst="bentConnector3">
              <a:avLst>
                <a:gd name="adj1" fmla="val -13322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Elbow Connector 1436">
              <a:extLst>
                <a:ext uri="{FF2B5EF4-FFF2-40B4-BE49-F238E27FC236}">
                  <a16:creationId xmlns:a16="http://schemas.microsoft.com/office/drawing/2014/main" id="{FB901A87-BFD2-60EC-0328-6F3AE5A2672B}"/>
                </a:ext>
              </a:extLst>
            </p:cNvPr>
            <p:cNvCxnSpPr>
              <a:cxnSpLocks/>
              <a:stCxn id="6" idx="2"/>
              <a:endCxn id="1050" idx="2"/>
            </p:cNvCxnSpPr>
            <p:nvPr/>
          </p:nvCxnSpPr>
          <p:spPr>
            <a:xfrm rot="5400000" flipH="1">
              <a:off x="1775427" y="2482524"/>
              <a:ext cx="2680" cy="1622805"/>
            </a:xfrm>
            <a:prstGeom prst="bentConnector3">
              <a:avLst>
                <a:gd name="adj1" fmla="val -22177724"/>
              </a:avLst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04DE2AB-9DC6-5455-D620-EB3B989E530C}"/>
                </a:ext>
              </a:extLst>
            </p:cNvPr>
            <p:cNvGrpSpPr/>
            <p:nvPr/>
          </p:nvGrpSpPr>
          <p:grpSpPr>
            <a:xfrm rot="5400000">
              <a:off x="5901670" y="3606392"/>
              <a:ext cx="388984" cy="135468"/>
              <a:chOff x="762000" y="3156742"/>
              <a:chExt cx="388984" cy="135468"/>
            </a:xfrm>
            <a:noFill/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66EE393-DF29-FA03-DC7A-88F76501B9B5}"/>
                  </a:ext>
                </a:extLst>
              </p:cNvPr>
              <p:cNvSpPr/>
              <p:nvPr/>
            </p:nvSpPr>
            <p:spPr>
              <a:xfrm>
                <a:off x="762000" y="3156742"/>
                <a:ext cx="118129" cy="1343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FF2B938D-AC3D-79F0-DFB4-E677FBC51F0B}"/>
                  </a:ext>
                </a:extLst>
              </p:cNvPr>
              <p:cNvSpPr/>
              <p:nvPr/>
            </p:nvSpPr>
            <p:spPr>
              <a:xfrm>
                <a:off x="897427" y="3157894"/>
                <a:ext cx="118129" cy="1343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E6ADC75C-164B-CA75-9839-B12FD1C22A18}"/>
                  </a:ext>
                </a:extLst>
              </p:cNvPr>
              <p:cNvSpPr/>
              <p:nvPr/>
            </p:nvSpPr>
            <p:spPr>
              <a:xfrm>
                <a:off x="1032855" y="3156742"/>
                <a:ext cx="118129" cy="1343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3" name="NumBox 1">
              <a:extLst>
                <a:ext uri="{FF2B5EF4-FFF2-40B4-BE49-F238E27FC236}">
                  <a16:creationId xmlns:a16="http://schemas.microsoft.com/office/drawing/2014/main" id="{E47D2918-01B1-D4D8-6A6A-10CBBA57368B}"/>
                </a:ext>
              </a:extLst>
            </p:cNvPr>
            <p:cNvSpPr/>
            <p:nvPr/>
          </p:nvSpPr>
          <p:spPr>
            <a:xfrm>
              <a:off x="1425909" y="3534161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1</a:t>
              </a:r>
            </a:p>
          </p:txBody>
        </p:sp>
        <p:sp>
          <p:nvSpPr>
            <p:cNvPr id="185" name="NumBox 2">
              <a:extLst>
                <a:ext uri="{FF2B5EF4-FFF2-40B4-BE49-F238E27FC236}">
                  <a16:creationId xmlns:a16="http://schemas.microsoft.com/office/drawing/2014/main" id="{D7AF1219-0722-CE75-0D5F-B6351F3BBB4D}"/>
                </a:ext>
              </a:extLst>
            </p:cNvPr>
            <p:cNvSpPr/>
            <p:nvPr/>
          </p:nvSpPr>
          <p:spPr>
            <a:xfrm>
              <a:off x="4406616" y="2373802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3</a:t>
              </a:r>
            </a:p>
          </p:txBody>
        </p:sp>
        <p:sp>
          <p:nvSpPr>
            <p:cNvPr id="186" name="NumBox 3">
              <a:extLst>
                <a:ext uri="{FF2B5EF4-FFF2-40B4-BE49-F238E27FC236}">
                  <a16:creationId xmlns:a16="http://schemas.microsoft.com/office/drawing/2014/main" id="{0DE6890F-8EE1-489D-6711-0C0C0648A32F}"/>
                </a:ext>
              </a:extLst>
            </p:cNvPr>
            <p:cNvSpPr/>
            <p:nvPr/>
          </p:nvSpPr>
          <p:spPr>
            <a:xfrm>
              <a:off x="6404821" y="3538437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4</a:t>
              </a:r>
            </a:p>
          </p:txBody>
        </p:sp>
        <p:sp>
          <p:nvSpPr>
            <p:cNvPr id="187" name="NumBox 4">
              <a:extLst>
                <a:ext uri="{FF2B5EF4-FFF2-40B4-BE49-F238E27FC236}">
                  <a16:creationId xmlns:a16="http://schemas.microsoft.com/office/drawing/2014/main" id="{B8E2166E-1F31-B379-5C26-EC7240AB9998}"/>
                </a:ext>
              </a:extLst>
            </p:cNvPr>
            <p:cNvSpPr/>
            <p:nvPr/>
          </p:nvSpPr>
          <p:spPr>
            <a:xfrm>
              <a:off x="6978763" y="1774657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6</a:t>
              </a:r>
            </a:p>
          </p:txBody>
        </p:sp>
        <p:sp>
          <p:nvSpPr>
            <p:cNvPr id="188" name="NumBox 5">
              <a:extLst>
                <a:ext uri="{FF2B5EF4-FFF2-40B4-BE49-F238E27FC236}">
                  <a16:creationId xmlns:a16="http://schemas.microsoft.com/office/drawing/2014/main" id="{73C6F57A-0745-8C2C-BEDD-416331F7975E}"/>
                </a:ext>
              </a:extLst>
            </p:cNvPr>
            <p:cNvSpPr/>
            <p:nvPr/>
          </p:nvSpPr>
          <p:spPr>
            <a:xfrm>
              <a:off x="8213936" y="2146785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7</a:t>
              </a:r>
            </a:p>
          </p:txBody>
        </p:sp>
        <p:sp>
          <p:nvSpPr>
            <p:cNvPr id="190" name="NumBox 6">
              <a:extLst>
                <a:ext uri="{FF2B5EF4-FFF2-40B4-BE49-F238E27FC236}">
                  <a16:creationId xmlns:a16="http://schemas.microsoft.com/office/drawing/2014/main" id="{855A7515-034B-56D3-5DCA-C899AD796FCE}"/>
                </a:ext>
              </a:extLst>
            </p:cNvPr>
            <p:cNvSpPr/>
            <p:nvPr/>
          </p:nvSpPr>
          <p:spPr>
            <a:xfrm>
              <a:off x="7643432" y="3787140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8</a:t>
              </a:r>
            </a:p>
          </p:txBody>
        </p:sp>
        <p:sp>
          <p:nvSpPr>
            <p:cNvPr id="191" name="NumBox 7">
              <a:extLst>
                <a:ext uri="{FF2B5EF4-FFF2-40B4-BE49-F238E27FC236}">
                  <a16:creationId xmlns:a16="http://schemas.microsoft.com/office/drawing/2014/main" id="{29D54626-9CC1-7157-38EF-C08CE0664489}"/>
                </a:ext>
              </a:extLst>
            </p:cNvPr>
            <p:cNvSpPr/>
            <p:nvPr/>
          </p:nvSpPr>
          <p:spPr>
            <a:xfrm>
              <a:off x="2771049" y="5382852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9</a:t>
              </a:r>
            </a:p>
          </p:txBody>
        </p:sp>
        <p:sp>
          <p:nvSpPr>
            <p:cNvPr id="1024" name="NumBox 8">
              <a:extLst>
                <a:ext uri="{FF2B5EF4-FFF2-40B4-BE49-F238E27FC236}">
                  <a16:creationId xmlns:a16="http://schemas.microsoft.com/office/drawing/2014/main" id="{23397883-7D95-4BC6-A7A9-F9C14BB93EEE}"/>
                </a:ext>
              </a:extLst>
            </p:cNvPr>
            <p:cNvSpPr/>
            <p:nvPr/>
          </p:nvSpPr>
          <p:spPr>
            <a:xfrm>
              <a:off x="395897" y="4898857"/>
              <a:ext cx="321309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10</a:t>
              </a:r>
            </a:p>
          </p:txBody>
        </p: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DEF45F97-625E-225A-F9A2-9EE622871BEF}"/>
                </a:ext>
              </a:extLst>
            </p:cNvPr>
            <p:cNvGrpSpPr/>
            <p:nvPr/>
          </p:nvGrpSpPr>
          <p:grpSpPr>
            <a:xfrm>
              <a:off x="683588" y="3158270"/>
              <a:ext cx="373216" cy="134316"/>
              <a:chOff x="918296" y="3157534"/>
              <a:chExt cx="373216" cy="134316"/>
            </a:xfrm>
            <a:noFill/>
          </p:grpSpPr>
          <p:sp>
            <p:nvSpPr>
              <p:cNvPr id="1443" name="Rectangle 1442">
                <a:extLst>
                  <a:ext uri="{FF2B5EF4-FFF2-40B4-BE49-F238E27FC236}">
                    <a16:creationId xmlns:a16="http://schemas.microsoft.com/office/drawing/2014/main" id="{ECB7729E-A487-ED8E-32FB-061DCBCA016D}"/>
                  </a:ext>
                </a:extLst>
              </p:cNvPr>
              <p:cNvSpPr/>
              <p:nvPr/>
            </p:nvSpPr>
            <p:spPr>
              <a:xfrm>
                <a:off x="918296" y="3157534"/>
                <a:ext cx="182880" cy="1343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877E0AEE-2411-1D85-B7B5-2FD76F9E82FB}"/>
                  </a:ext>
                </a:extLst>
              </p:cNvPr>
              <p:cNvSpPr/>
              <p:nvPr/>
            </p:nvSpPr>
            <p:spPr>
              <a:xfrm>
                <a:off x="1108632" y="3157534"/>
                <a:ext cx="182880" cy="1343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3" name="Group 1132">
              <a:extLst>
                <a:ext uri="{FF2B5EF4-FFF2-40B4-BE49-F238E27FC236}">
                  <a16:creationId xmlns:a16="http://schemas.microsoft.com/office/drawing/2014/main" id="{3310F51D-77BE-1A2E-80AF-4F5597B0B390}"/>
                </a:ext>
              </a:extLst>
            </p:cNvPr>
            <p:cNvGrpSpPr/>
            <p:nvPr/>
          </p:nvGrpSpPr>
          <p:grpSpPr>
            <a:xfrm>
              <a:off x="421670" y="3812223"/>
              <a:ext cx="848169" cy="748407"/>
              <a:chOff x="223882" y="3747283"/>
              <a:chExt cx="848169" cy="748407"/>
            </a:xfrm>
          </p:grpSpPr>
          <p:pic>
            <p:nvPicPr>
              <p:cNvPr id="1378" name="Graphic 18">
                <a:extLst>
                  <a:ext uri="{FF2B5EF4-FFF2-40B4-BE49-F238E27FC236}">
                    <a16:creationId xmlns:a16="http://schemas.microsoft.com/office/drawing/2014/main" id="{CEBD3EF5-E3B8-4A2A-CB1C-66D95E4349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086" y="3747283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79" name="TextBox 12">
                <a:extLst>
                  <a:ext uri="{FF2B5EF4-FFF2-40B4-BE49-F238E27FC236}">
                    <a16:creationId xmlns:a16="http://schemas.microsoft.com/office/drawing/2014/main" id="{CCED7E74-9D43-DB0E-64E6-9791C4026E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882" y="4095580"/>
                <a:ext cx="848169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AWS Direct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Connect</a:t>
                </a:r>
              </a:p>
            </p:txBody>
          </p:sp>
        </p:grpSp>
        <p:grpSp>
          <p:nvGrpSpPr>
            <p:cNvPr id="1384" name="Group 1383">
              <a:extLst>
                <a:ext uri="{FF2B5EF4-FFF2-40B4-BE49-F238E27FC236}">
                  <a16:creationId xmlns:a16="http://schemas.microsoft.com/office/drawing/2014/main" id="{047D8F69-E725-2676-CA54-8DE5951D198E}"/>
                </a:ext>
              </a:extLst>
            </p:cNvPr>
            <p:cNvGrpSpPr/>
            <p:nvPr/>
          </p:nvGrpSpPr>
          <p:grpSpPr>
            <a:xfrm>
              <a:off x="1835732" y="3810110"/>
              <a:ext cx="1440868" cy="596631"/>
              <a:chOff x="1431481" y="3775452"/>
              <a:chExt cx="1440868" cy="596631"/>
            </a:xfrm>
          </p:grpSpPr>
          <p:pic>
            <p:nvPicPr>
              <p:cNvPr id="1381" name="Graphic 7">
                <a:extLst>
                  <a:ext uri="{FF2B5EF4-FFF2-40B4-BE49-F238E27FC236}">
                    <a16:creationId xmlns:a16="http://schemas.microsoft.com/office/drawing/2014/main" id="{E2A23B6F-EDDC-0AA1-05DE-47943C4CFC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9035" y="3775452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83" name="TextBox 9">
                <a:extLst>
                  <a:ext uri="{FF2B5EF4-FFF2-40B4-BE49-F238E27FC236}">
                    <a16:creationId xmlns:a16="http://schemas.microsoft.com/office/drawing/2014/main" id="{F26F2836-FEAB-7061-D1F9-BA8C0C5695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1481" y="4125862"/>
                <a:ext cx="14408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AWS Transit Gateway</a:t>
                </a:r>
              </a:p>
            </p:txBody>
          </p:sp>
        </p:grpSp>
        <p:grpSp>
          <p:nvGrpSpPr>
            <p:cNvPr id="1093" name="Group 1092">
              <a:extLst>
                <a:ext uri="{FF2B5EF4-FFF2-40B4-BE49-F238E27FC236}">
                  <a16:creationId xmlns:a16="http://schemas.microsoft.com/office/drawing/2014/main" id="{B4CB9035-A41A-918C-27BD-ED1A52CA3427}"/>
                </a:ext>
              </a:extLst>
            </p:cNvPr>
            <p:cNvGrpSpPr/>
            <p:nvPr/>
          </p:nvGrpSpPr>
          <p:grpSpPr>
            <a:xfrm>
              <a:off x="7099083" y="1908379"/>
              <a:ext cx="965635" cy="729703"/>
              <a:chOff x="2996765" y="4592341"/>
              <a:chExt cx="965635" cy="729703"/>
            </a:xfrm>
          </p:grpSpPr>
          <p:sp>
            <p:nvSpPr>
              <p:cNvPr id="1091" name="TextBox 21">
                <a:extLst>
                  <a:ext uri="{FF2B5EF4-FFF2-40B4-BE49-F238E27FC236}">
                    <a16:creationId xmlns:a16="http://schemas.microsoft.com/office/drawing/2014/main" id="{1FA38A49-685F-0DD6-C8B6-A5EDD3C282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6765" y="4921934"/>
                <a:ext cx="96563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EBS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volumes</a:t>
                </a:r>
              </a:p>
            </p:txBody>
          </p:sp>
          <p:pic>
            <p:nvPicPr>
              <p:cNvPr id="1092" name="Graphic 24">
                <a:extLst>
                  <a:ext uri="{FF2B5EF4-FFF2-40B4-BE49-F238E27FC236}">
                    <a16:creationId xmlns:a16="http://schemas.microsoft.com/office/drawing/2014/main" id="{9053A329-A13C-0A43-AC44-0F8152A9A6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96702" y="4592341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96" name="Group 1095">
              <a:extLst>
                <a:ext uri="{FF2B5EF4-FFF2-40B4-BE49-F238E27FC236}">
                  <a16:creationId xmlns:a16="http://schemas.microsoft.com/office/drawing/2014/main" id="{2C9D9A37-BE00-8DA4-E5BA-07995F8BBBE4}"/>
                </a:ext>
              </a:extLst>
            </p:cNvPr>
            <p:cNvGrpSpPr/>
            <p:nvPr/>
          </p:nvGrpSpPr>
          <p:grpSpPr>
            <a:xfrm>
              <a:off x="7099083" y="5213897"/>
              <a:ext cx="965635" cy="729703"/>
              <a:chOff x="2996765" y="4592341"/>
              <a:chExt cx="965635" cy="729703"/>
            </a:xfrm>
          </p:grpSpPr>
          <p:sp>
            <p:nvSpPr>
              <p:cNvPr id="1097" name="TextBox 21">
                <a:extLst>
                  <a:ext uri="{FF2B5EF4-FFF2-40B4-BE49-F238E27FC236}">
                    <a16:creationId xmlns:a16="http://schemas.microsoft.com/office/drawing/2014/main" id="{AD0E1AC5-9F78-F118-7604-65A3EBFC1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6765" y="4921934"/>
                <a:ext cx="96563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EBS</a:t>
                </a:r>
              </a:p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volumes</a:t>
                </a:r>
              </a:p>
            </p:txBody>
          </p:sp>
          <p:pic>
            <p:nvPicPr>
              <p:cNvPr id="1098" name="Graphic 24">
                <a:extLst>
                  <a:ext uri="{FF2B5EF4-FFF2-40B4-BE49-F238E27FC236}">
                    <a16:creationId xmlns:a16="http://schemas.microsoft.com/office/drawing/2014/main" id="{FF69BBE3-DF30-7958-B983-355238AB7E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96702" y="4592341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04" name="Group 1103">
              <a:extLst>
                <a:ext uri="{FF2B5EF4-FFF2-40B4-BE49-F238E27FC236}">
                  <a16:creationId xmlns:a16="http://schemas.microsoft.com/office/drawing/2014/main" id="{3477FEB2-1186-067D-4FF9-C287ADC6BEC6}"/>
                </a:ext>
              </a:extLst>
            </p:cNvPr>
            <p:cNvGrpSpPr/>
            <p:nvPr/>
          </p:nvGrpSpPr>
          <p:grpSpPr>
            <a:xfrm>
              <a:off x="7125886" y="2667000"/>
              <a:ext cx="912029" cy="730220"/>
              <a:chOff x="2690196" y="4595567"/>
              <a:chExt cx="912029" cy="730220"/>
            </a:xfrm>
          </p:grpSpPr>
          <p:sp>
            <p:nvSpPr>
              <p:cNvPr id="1102" name="TextBox 22">
                <a:extLst>
                  <a:ext uri="{FF2B5EF4-FFF2-40B4-BE49-F238E27FC236}">
                    <a16:creationId xmlns:a16="http://schemas.microsoft.com/office/drawing/2014/main" id="{696C8058-50FF-C84A-8B64-6273DA4822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0196" y="4925677"/>
                <a:ext cx="912029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FSx File System</a:t>
                </a:r>
              </a:p>
            </p:txBody>
          </p:sp>
          <p:pic>
            <p:nvPicPr>
              <p:cNvPr id="1103" name="Graphic 23">
                <a:extLst>
                  <a:ext uri="{FF2B5EF4-FFF2-40B4-BE49-F238E27FC236}">
                    <a16:creationId xmlns:a16="http://schemas.microsoft.com/office/drawing/2014/main" id="{20FBD4E3-E124-383A-21CA-BD51BA664B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3330" y="4595567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E8400A42-0402-CAD6-2CCA-42FE405B06D3}"/>
                </a:ext>
              </a:extLst>
            </p:cNvPr>
            <p:cNvGrpSpPr/>
            <p:nvPr/>
          </p:nvGrpSpPr>
          <p:grpSpPr>
            <a:xfrm>
              <a:off x="7107328" y="4495800"/>
              <a:ext cx="949144" cy="730220"/>
              <a:chOff x="2690197" y="4595567"/>
              <a:chExt cx="949144" cy="730220"/>
            </a:xfrm>
          </p:grpSpPr>
          <p:sp>
            <p:nvSpPr>
              <p:cNvPr id="1112" name="TextBox 22">
                <a:extLst>
                  <a:ext uri="{FF2B5EF4-FFF2-40B4-BE49-F238E27FC236}">
                    <a16:creationId xmlns:a16="http://schemas.microsoft.com/office/drawing/2014/main" id="{5252FC18-5771-0FCF-D70F-D72B6E81B3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0197" y="4925677"/>
                <a:ext cx="94914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FSx File System</a:t>
                </a:r>
              </a:p>
            </p:txBody>
          </p:sp>
          <p:pic>
            <p:nvPicPr>
              <p:cNvPr id="1113" name="Graphic 23">
                <a:extLst>
                  <a:ext uri="{FF2B5EF4-FFF2-40B4-BE49-F238E27FC236}">
                    <a16:creationId xmlns:a16="http://schemas.microsoft.com/office/drawing/2014/main" id="{49B0DCBB-3354-EC12-F4E0-6582A64CC5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81889" y="4595567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26" name="NumBox 2">
              <a:extLst>
                <a:ext uri="{FF2B5EF4-FFF2-40B4-BE49-F238E27FC236}">
                  <a16:creationId xmlns:a16="http://schemas.microsoft.com/office/drawing/2014/main" id="{42F92D10-1A9E-0321-03BA-1CA1F92A0B9F}"/>
                </a:ext>
              </a:extLst>
            </p:cNvPr>
            <p:cNvSpPr/>
            <p:nvPr/>
          </p:nvSpPr>
          <p:spPr>
            <a:xfrm>
              <a:off x="2707194" y="3443859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2</a:t>
              </a:r>
            </a:p>
          </p:txBody>
        </p:sp>
        <p:cxnSp>
          <p:nvCxnSpPr>
            <p:cNvPr id="1151" name="Elbow Connector 1150">
              <a:extLst>
                <a:ext uri="{FF2B5EF4-FFF2-40B4-BE49-F238E27FC236}">
                  <a16:creationId xmlns:a16="http://schemas.microsoft.com/office/drawing/2014/main" id="{004B2DAE-B953-2580-B90B-6389AFEA2715}"/>
                </a:ext>
              </a:extLst>
            </p:cNvPr>
            <p:cNvCxnSpPr>
              <a:cxnSpLocks/>
              <a:stCxn id="144" idx="2"/>
              <a:endCxn id="7" idx="2"/>
            </p:cNvCxnSpPr>
            <p:nvPr/>
          </p:nvCxnSpPr>
          <p:spPr>
            <a:xfrm rot="10800000">
              <a:off x="3119249" y="3295267"/>
              <a:ext cx="2909181" cy="378861"/>
            </a:xfrm>
            <a:prstGeom prst="bentConnector2">
              <a:avLst/>
            </a:prstGeom>
            <a:ln w="12700">
              <a:solidFill>
                <a:schemeClr val="tx2"/>
              </a:solidFill>
              <a:headEnd type="arrow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4" name="Arc 1043">
              <a:extLst>
                <a:ext uri="{FF2B5EF4-FFF2-40B4-BE49-F238E27FC236}">
                  <a16:creationId xmlns:a16="http://schemas.microsoft.com/office/drawing/2014/main" id="{E1379C7B-89A9-B374-B675-44EB211C632A}"/>
                </a:ext>
              </a:extLst>
            </p:cNvPr>
            <p:cNvSpPr/>
            <p:nvPr/>
          </p:nvSpPr>
          <p:spPr>
            <a:xfrm rot="16200000">
              <a:off x="4854327" y="3613419"/>
              <a:ext cx="145050" cy="145050"/>
            </a:xfrm>
            <a:prstGeom prst="arc">
              <a:avLst>
                <a:gd name="adj1" fmla="val 16200000"/>
                <a:gd name="adj2" fmla="val 5427690"/>
              </a:avLst>
            </a:prstGeom>
            <a:solidFill>
              <a:srgbClr val="FAFAFA"/>
            </a:solidFill>
            <a:ln w="12700">
              <a:solidFill>
                <a:srgbClr val="545B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A07DB9D8-1EFF-9FAD-7AB0-D36A676BE1FB}"/>
                </a:ext>
              </a:extLst>
            </p:cNvPr>
            <p:cNvCxnSpPr>
              <a:cxnSpLocks/>
              <a:stCxn id="1391" idx="0"/>
              <a:endCxn id="21" idx="2"/>
            </p:cNvCxnSpPr>
            <p:nvPr/>
          </p:nvCxnSpPr>
          <p:spPr>
            <a:xfrm flipV="1">
              <a:off x="4931323" y="3104400"/>
              <a:ext cx="0" cy="705600"/>
            </a:xfrm>
            <a:prstGeom prst="straightConnector1">
              <a:avLst/>
            </a:prstGeom>
            <a:ln w="12700">
              <a:solidFill>
                <a:schemeClr val="tx2"/>
              </a:solidFill>
              <a:headEnd type="none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8" name="NumBox 4">
              <a:extLst>
                <a:ext uri="{FF2B5EF4-FFF2-40B4-BE49-F238E27FC236}">
                  <a16:creationId xmlns:a16="http://schemas.microsoft.com/office/drawing/2014/main" id="{029E9251-B9B3-931A-D60D-6CF51F6B45C6}"/>
                </a:ext>
              </a:extLst>
            </p:cNvPr>
            <p:cNvSpPr/>
            <p:nvPr/>
          </p:nvSpPr>
          <p:spPr>
            <a:xfrm>
              <a:off x="5712309" y="2240066"/>
              <a:ext cx="274320" cy="27432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t"/>
            <a:lstStyle/>
            <a:p>
              <a:pPr algn="ctr"/>
              <a:r>
                <a:rPr lang="en-US" sz="12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E42761-B8EE-1F01-F246-B516978F7810}"/>
                </a:ext>
              </a:extLst>
            </p:cNvPr>
            <p:cNvSpPr txBox="1"/>
            <p:nvPr/>
          </p:nvSpPr>
          <p:spPr>
            <a:xfrm>
              <a:off x="4296143" y="4706579"/>
              <a:ext cx="792742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private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subnet</a:t>
              </a:r>
            </a:p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356261-DB86-476D-4FCE-3E49D87F4E78}"/>
                </a:ext>
              </a:extLst>
            </p:cNvPr>
            <p:cNvSpPr txBox="1"/>
            <p:nvPr/>
          </p:nvSpPr>
          <p:spPr>
            <a:xfrm>
              <a:off x="5594323" y="4688369"/>
              <a:ext cx="792742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private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rgbClr val="5B9CD5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subnet</a:t>
              </a:r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424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49575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WS-architecture-icons">
      <a:dk1>
        <a:srgbClr val="232F3C"/>
      </a:dk1>
      <a:lt1>
        <a:srgbClr val="FAFAFA"/>
      </a:lt1>
      <a:dk2>
        <a:srgbClr val="545B63"/>
      </a:dk2>
      <a:lt2>
        <a:srgbClr val="E5ECEF"/>
      </a:lt2>
      <a:accent1>
        <a:srgbClr val="FF9900"/>
      </a:accent1>
      <a:accent2>
        <a:srgbClr val="F0613C"/>
      </a:accent2>
      <a:accent3>
        <a:srgbClr val="007CBD"/>
      </a:accent3>
      <a:accent4>
        <a:srgbClr val="00A0C8"/>
      </a:accent4>
      <a:accent5>
        <a:srgbClr val="1D8900"/>
      </a:accent5>
      <a:accent6>
        <a:srgbClr val="69AE34"/>
      </a:accent6>
      <a:hlink>
        <a:srgbClr val="007CBC"/>
      </a:hlink>
      <a:folHlink>
        <a:srgbClr val="007C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20777</TotalTime>
  <Words>187</Words>
  <Application>Microsoft Macintosh PowerPoint</Application>
  <PresentationFormat>Widescreen</PresentationFormat>
  <Paragraphs>60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Amazon Ember</vt:lpstr>
      <vt:lpstr>Arial</vt:lpstr>
      <vt:lpstr>Calibri</vt:lpstr>
      <vt:lpstr>Office Theme</vt:lpstr>
      <vt:lpstr>PowerPoint Presentation</vt:lpstr>
      <vt:lpstr>Resources</vt:lpstr>
    </vt:vector>
  </TitlesOfParts>
  <Manager/>
  <Company>Amazon.com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Planning Analytics with Watson on AWS</dc:title>
  <dc:subject/>
  <dc:creator>Amazon Web Services</dc:creator>
  <cp:keywords/>
  <dc:description/>
  <cp:lastModifiedBy>Kate Brierley</cp:lastModifiedBy>
  <cp:revision>198</cp:revision>
  <dcterms:created xsi:type="dcterms:W3CDTF">2018-02-11T04:20:17Z</dcterms:created>
  <dcterms:modified xsi:type="dcterms:W3CDTF">2023-05-11T18:15:16Z</dcterms:modified>
  <cp:category/>
</cp:coreProperties>
</file>