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76" r:id="rId2"/>
    <p:sldId id="27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bby Chang" initials="DC" lastIdx="8" clrIdx="0">
    <p:extLst>
      <p:ext uri="{19B8F6BF-5375-455C-9EA6-DF929625EA0E}">
        <p15:presenceInfo xmlns:p15="http://schemas.microsoft.com/office/powerpoint/2012/main" userId="Debby Ch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/>
    <p:restoredTop sz="94721"/>
  </p:normalViewPr>
  <p:slideViewPr>
    <p:cSldViewPr snapToGrid="0" snapToObjects="1">
      <p:cViewPr varScale="1">
        <p:scale>
          <a:sx n="103" d="100"/>
          <a:sy n="103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6B231-60EB-4C49-AAEF-269B5DFF8A47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86CF6-1F11-0F42-9224-21A256809A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34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quip-amazon.com/5XEtAzI2yYvC/Code-Sample-Events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developer initiates an activity in AWS CI/CD pipeline such as push code changes. These activities create Amazon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CloudWatch events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EventBridge event rule detects the CloudWatch events and sends the event data to an Amazon Kinesis Firehose Delivery Stream. One event rule per event source.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event rule is also created to capture event data from Amazon CloudWatch Synthetics Canary if customer has set up the canary – only needed for MTTR.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Firehose uses a Lambda function for data transformation. It extracts relevant data and sends it to an Amazon S3 bucket.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Athena database queries the S3 data and returns the query result to an Amazon QuickSight.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Amazon QuickSight obtains the query result and builds dashboard displays for the management team.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3B235-0EC1-A945-8A73-E24DD50E92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236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0B15-2441-8C40-A7FF-E2A903BA0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EDCD3-FE1E-3A42-A167-0D7548E86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A736C-3AF2-754D-B90D-CBD093139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6406-6A04-E148-9208-C65993B6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5A83A-851E-1A44-9FCE-6FFD4813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5C4C-80D1-964F-8C27-E6533D318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D3B0B-74C5-4245-AEBB-F2783844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75128-5C99-924A-8235-4D35BDF5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3A23-0936-5347-BCEE-94B0BBC5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E944D-764C-594E-89F2-A935820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3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914EC-30FA-784D-89FE-065ABF8A6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02DC6-75AF-934A-8CD0-3860E57B6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1C632-EFB6-984D-9E96-59FFF448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F414A-1C2C-F74E-966B-28ED8607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5928-0931-B243-805D-290462A0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54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B84D-AA29-BF47-A2C3-00F3CC6F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47C6-5414-4D49-B625-9F62F0182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F339C-0A28-6E45-9806-D043A1E2E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00151-3BFF-394D-AA82-5EC5D874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515EA-2174-8A4C-9226-DDCFAF19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A7A2B-22F6-B34E-AAAA-F650C35A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9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B524-B009-1849-954B-63F1A2B2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A1271-2C8E-744E-B3A6-F1F4D0BD5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C27E9-0BB9-684A-83E9-B98AEBE76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C2C89-FB2B-2848-9CBC-845ACD8AE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8A7B3-5BB6-F142-8991-B826A35EBC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F6A90-BCA7-A844-BDD1-229C01420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70EB13-5D11-5449-9512-61522443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89CFB-D3AA-5D40-8CD5-82FB72E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5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C06F-E9D1-9848-8730-019EDC09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6A42A-BD0A-6044-B98A-667A10B91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6F7CE-1782-F34B-8546-4418076A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4FECA-CEB6-EA48-989E-76920583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5ACDC-A542-1644-ACC8-03BEFDCE9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3CAD7-D680-3248-89AC-406C3A2F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4454D-3F33-CF4C-AAEA-B9C5C328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2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DC62-3092-4F47-B1CE-3F896D090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02A2-C681-EC4D-883E-EDD4C9F35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3D7A2-001A-E546-90B4-92D80CF48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D9759-F5A3-D041-9C49-871DE939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F5AD-6FC4-0546-BCC8-1996C15E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7A332-74A7-C049-9406-D84CFB5A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51D8-6D19-DF4B-9F98-C7AC0FFE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56044-1EBB-F64A-B5BC-EF7CA4262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5DFA7-FA61-E240-8E13-D17D1C0DA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96980-11CA-3B45-AE34-01194C85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CCDDE-3E46-2544-ACD5-1F7475EA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FCE0F-973C-2D41-A199-7D2984F7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3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80F3-24C0-CB47-9701-96650041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C93E1-0242-0D43-9778-62EBD48D1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8B7D1-6415-D741-8ED7-723B58CD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DD59-7593-9648-BF09-F82F663A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32E3-4EBB-0146-BCB3-694DD543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39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1C21A-B8BD-4146-8AD7-8E9448250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2FC8A-61FE-DB4B-8F2A-FE5EDE2F0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F5535-45FC-9A44-81C9-97555F81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02BD-3636-C34F-81A0-C5C670484C61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AC401-C660-EF4F-B64A-0D14A2C6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2AEFD-3CC8-8F44-9371-5A08F340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5F298-9AE0-F440-B542-5F54802A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FAE3-2B3B-D548-B56B-CE84E6538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3DF35-730C-C244-B98A-CB1C9F822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802BD-3636-C34F-81A0-C5C670484C61}" type="datetimeFigureOut">
              <a:rPr lang="en-US" smtClean="0"/>
              <a:t>4/17/23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F7E14-3D8F-1644-8351-8BCD9C2C7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80F83-AAFE-764D-9B87-A488A02AD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3FA04-4AF2-1744-AE26-E4FC07BCCC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1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4.sv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5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5" Type="http://schemas.openxmlformats.org/officeDocument/2006/relationships/hyperlink" Target="https://docs.aws.amazon.com/architecture-diagrams/latest/livestock-counting-at-the-edge/livestock-counting-at-the-edge.html" TargetMode="External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rchitecture/" TargetMode="External"/><Relationship Id="rId2" Type="http://schemas.openxmlformats.org/officeDocument/2006/relationships/hyperlink" Target="https://aws.amazon.com/architecture/icon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-feedback.aws.amazon.com/feedback.jsp?feedback_destination_id=a0d18259-7974-4e8f-8382-0a4be53f4374&amp;topic_url=http://docs.aws.amazon.com/en_us/architecture-diagrams/latest/high-performance-computing-on-aws/high-performance-computing-on-aws.html" TargetMode="External"/><Relationship Id="rId4" Type="http://schemas.openxmlformats.org/officeDocument/2006/relationships/hyperlink" Target="https://aws.amazon.com/architecture/well-architected/?wa-lens-whitepapers.sort-by=item.additionalFields.sortDate&amp;wa-lens-whitepapers.sort-order=des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1271BE9C-FDD5-DC4D-9BA5-3B7493EA2D8F}"/>
              </a:ext>
            </a:extLst>
          </p:cNvPr>
          <p:cNvSpPr txBox="1"/>
          <p:nvPr/>
        </p:nvSpPr>
        <p:spPr>
          <a:xfrm>
            <a:off x="95668" y="134489"/>
            <a:ext cx="62719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Livestock Counting at the Edge</a:t>
            </a:r>
          </a:p>
          <a:p>
            <a:r>
              <a:rPr lang="en-US" sz="14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Build a near real-time, automated counting application for livestock </a:t>
            </a:r>
          </a:p>
          <a:p>
            <a:endParaRPr lang="en-US" sz="2000" b="1" dirty="0"/>
          </a:p>
        </p:txBody>
      </p:sp>
      <p:pic>
        <p:nvPicPr>
          <p:cNvPr id="103" name="Graphic 102">
            <a:extLst>
              <a:ext uri="{FF2B5EF4-FFF2-40B4-BE49-F238E27FC236}">
                <a16:creationId xmlns:a16="http://schemas.microsoft.com/office/drawing/2014/main" id="{1DD42CEA-08C0-B743-AC84-1AA6A123B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392" y="6406198"/>
            <a:ext cx="585391" cy="348070"/>
          </a:xfrm>
          <a:prstGeom prst="rect">
            <a:avLst/>
          </a:prstGeom>
        </p:spPr>
      </p:pic>
      <p:sp>
        <p:nvSpPr>
          <p:cNvPr id="104" name="AWS copyright text">
            <a:extLst>
              <a:ext uri="{FF2B5EF4-FFF2-40B4-BE49-F238E27FC236}">
                <a16:creationId xmlns:a16="http://schemas.microsoft.com/office/drawing/2014/main" id="{E926D9DC-0FDF-1C44-85C5-53E31AA8B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619133"/>
            <a:ext cx="4036484" cy="14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x-none" sz="933" b="0" i="0">
                <a:solidFill>
                  <a:srgbClr val="7F7F7F"/>
                </a:solidFill>
                <a:latin typeface="Amazon Ember" charset="0"/>
                <a:ea typeface="Amazon Ember" charset="0"/>
                <a:cs typeface="Amazon Ember" charset="0"/>
              </a:rPr>
              <a:t>© 2023, </a:t>
            </a:r>
            <a:r>
              <a:rPr lang="en-US" altLang="x-none" sz="933" b="0" i="0" dirty="0">
                <a:solidFill>
                  <a:srgbClr val="7F7F7F"/>
                </a:solidFill>
                <a:latin typeface="Amazon Ember" charset="0"/>
                <a:ea typeface="Amazon Ember" charset="0"/>
                <a:cs typeface="Amazon Ember" charset="0"/>
              </a:rPr>
              <a:t>Amazon Web Services, Inc. or its affiliates.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BEBEF-567F-BD43-B598-F246075C6BF3}"/>
              </a:ext>
            </a:extLst>
          </p:cNvPr>
          <p:cNvSpPr txBox="1"/>
          <p:nvPr/>
        </p:nvSpPr>
        <p:spPr>
          <a:xfrm>
            <a:off x="95668" y="743128"/>
            <a:ext cx="486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 the architecture description, refer to the </a:t>
            </a:r>
            <a:r>
              <a:rPr lang="en-US" sz="1400" dirty="0">
                <a:hlinkClick r:id="rId5"/>
              </a:rPr>
              <a:t>full diagram</a:t>
            </a:r>
            <a:r>
              <a:rPr lang="en-US" sz="1400" dirty="0"/>
              <a:t>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03FDD3-5B52-CDFF-89CC-6C53EB485FE9}"/>
              </a:ext>
            </a:extLst>
          </p:cNvPr>
          <p:cNvSpPr/>
          <p:nvPr/>
        </p:nvSpPr>
        <p:spPr bwMode="auto">
          <a:xfrm>
            <a:off x="2380482" y="1460324"/>
            <a:ext cx="3041663" cy="4654548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rgbClr val="1E8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D08BD-BDB9-C093-772C-5FF6B57C6B59}"/>
              </a:ext>
            </a:extLst>
          </p:cNvPr>
          <p:cNvSpPr txBox="1"/>
          <p:nvPr/>
        </p:nvSpPr>
        <p:spPr>
          <a:xfrm>
            <a:off x="2707924" y="1466483"/>
            <a:ext cx="76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farm</a:t>
            </a:r>
          </a:p>
        </p:txBody>
      </p:sp>
      <p:pic>
        <p:nvPicPr>
          <p:cNvPr id="6" name="Graphic 17">
            <a:extLst>
              <a:ext uri="{FF2B5EF4-FFF2-40B4-BE49-F238E27FC236}">
                <a16:creationId xmlns:a16="http://schemas.microsoft.com/office/drawing/2014/main" id="{39523869-FBBC-973E-1475-F3C5C9EC0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2986106" y="2382347"/>
            <a:ext cx="348474" cy="348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DA5CDA-0873-67DF-6A56-3AB624019050}"/>
              </a:ext>
            </a:extLst>
          </p:cNvPr>
          <p:cNvSpPr txBox="1"/>
          <p:nvPr/>
        </p:nvSpPr>
        <p:spPr>
          <a:xfrm>
            <a:off x="2870408" y="2659557"/>
            <a:ext cx="76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camera</a:t>
            </a:r>
          </a:p>
        </p:txBody>
      </p:sp>
      <p:pic>
        <p:nvPicPr>
          <p:cNvPr id="8" name="Graphic 41">
            <a:extLst>
              <a:ext uri="{FF2B5EF4-FFF2-40B4-BE49-F238E27FC236}">
                <a16:creationId xmlns:a16="http://schemas.microsoft.com/office/drawing/2014/main" id="{9E82C1BA-6A34-C0F4-E745-B523AD01D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210" y="192012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D35DBA-70B7-3AD1-4829-9179EB27DD30}"/>
              </a:ext>
            </a:extLst>
          </p:cNvPr>
          <p:cNvSpPr txBox="1"/>
          <p:nvPr/>
        </p:nvSpPr>
        <p:spPr>
          <a:xfrm>
            <a:off x="4315150" y="2317351"/>
            <a:ext cx="762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IoT edge hardware 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F8FF-10EC-BFDD-A0E8-B8923D2339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7178" y="1466658"/>
            <a:ext cx="340173" cy="295946"/>
          </a:xfrm>
          <a:prstGeom prst="rect">
            <a:avLst/>
          </a:prstGeom>
        </p:spPr>
      </p:pic>
      <p:pic>
        <p:nvPicPr>
          <p:cNvPr id="11" name="Graphic 15">
            <a:extLst>
              <a:ext uri="{FF2B5EF4-FFF2-40B4-BE49-F238E27FC236}">
                <a16:creationId xmlns:a16="http://schemas.microsoft.com/office/drawing/2014/main" id="{73535100-AAD2-E72D-FF23-001061EE1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736" y="3699766"/>
            <a:ext cx="377776" cy="377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547CDF-87CC-9A14-4B95-DF01F6AD1490}"/>
              </a:ext>
            </a:extLst>
          </p:cNvPr>
          <p:cNvSpPr txBox="1"/>
          <p:nvPr/>
        </p:nvSpPr>
        <p:spPr>
          <a:xfrm>
            <a:off x="2774030" y="4061411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mobile client</a:t>
            </a:r>
          </a:p>
        </p:txBody>
      </p:sp>
      <p:pic>
        <p:nvPicPr>
          <p:cNvPr id="13" name="Graphic 22">
            <a:extLst>
              <a:ext uri="{FF2B5EF4-FFF2-40B4-BE49-F238E27FC236}">
                <a16:creationId xmlns:a16="http://schemas.microsoft.com/office/drawing/2014/main" id="{4D0177F1-D34E-19A0-8839-3BE51835F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2948540" y="5115268"/>
            <a:ext cx="3693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8CC76-4C0E-53D6-5D27-3C932F3E2D46}"/>
              </a:ext>
            </a:extLst>
          </p:cNvPr>
          <p:cNvSpPr txBox="1"/>
          <p:nvPr/>
        </p:nvSpPr>
        <p:spPr>
          <a:xfrm>
            <a:off x="2651947" y="5441449"/>
            <a:ext cx="9139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site operator</a:t>
            </a:r>
          </a:p>
        </p:txBody>
      </p:sp>
      <p:pic>
        <p:nvPicPr>
          <p:cNvPr id="15" name="Graphic 22">
            <a:extLst>
              <a:ext uri="{FF2B5EF4-FFF2-40B4-BE49-F238E27FC236}">
                <a16:creationId xmlns:a16="http://schemas.microsoft.com/office/drawing/2014/main" id="{FD84B583-1F6F-0D02-B2C2-3C768EE74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1600771" y="5097409"/>
            <a:ext cx="3693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1C2428-0FF1-BEEA-022D-FAEB252B2B46}"/>
              </a:ext>
            </a:extLst>
          </p:cNvPr>
          <p:cNvSpPr txBox="1"/>
          <p:nvPr/>
        </p:nvSpPr>
        <p:spPr>
          <a:xfrm>
            <a:off x="1409794" y="5408705"/>
            <a:ext cx="76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admin</a:t>
            </a:r>
          </a:p>
        </p:txBody>
      </p:sp>
      <p:pic>
        <p:nvPicPr>
          <p:cNvPr id="17" name="Graphic 24">
            <a:extLst>
              <a:ext uri="{FF2B5EF4-FFF2-40B4-BE49-F238E27FC236}">
                <a16:creationId xmlns:a16="http://schemas.microsoft.com/office/drawing/2014/main" id="{02388817-8CE1-4476-33AC-79BBDC8EC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576" y="3668576"/>
            <a:ext cx="3693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394581D-7C3C-75F4-7000-33E6BCC0F4FD}"/>
              </a:ext>
            </a:extLst>
          </p:cNvPr>
          <p:cNvSpPr txBox="1"/>
          <p:nvPr/>
        </p:nvSpPr>
        <p:spPr>
          <a:xfrm>
            <a:off x="1452235" y="3989863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internal application</a:t>
            </a:r>
          </a:p>
        </p:txBody>
      </p:sp>
      <p:pic>
        <p:nvPicPr>
          <p:cNvPr id="19" name="Graphic 17">
            <a:extLst>
              <a:ext uri="{FF2B5EF4-FFF2-40B4-BE49-F238E27FC236}">
                <a16:creationId xmlns:a16="http://schemas.microsoft.com/office/drawing/2014/main" id="{EBE7AB4C-2918-B6A6-A31F-72136611E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931" y="262989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07F8B76-43D4-18F4-58D2-32FD56392396}"/>
              </a:ext>
            </a:extLst>
          </p:cNvPr>
          <p:cNvSpPr txBox="1"/>
          <p:nvPr/>
        </p:nvSpPr>
        <p:spPr>
          <a:xfrm>
            <a:off x="1559980" y="3081301"/>
            <a:ext cx="76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office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A53FA7-264A-C83F-AB13-68AE2398BC1A}"/>
              </a:ext>
            </a:extLst>
          </p:cNvPr>
          <p:cNvSpPr/>
          <p:nvPr/>
        </p:nvSpPr>
        <p:spPr>
          <a:xfrm>
            <a:off x="4049785" y="2825182"/>
            <a:ext cx="1369005" cy="2946460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12">
            <a:extLst>
              <a:ext uri="{FF2B5EF4-FFF2-40B4-BE49-F238E27FC236}">
                <a16:creationId xmlns:a16="http://schemas.microsoft.com/office/drawing/2014/main" id="{6F8397DC-3C16-A88A-A5AD-640FA387F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208" y="4200651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A2E739A-9DA4-FB70-DA4A-CA741245EF6E}"/>
              </a:ext>
            </a:extLst>
          </p:cNvPr>
          <p:cNvSpPr txBox="1"/>
          <p:nvPr/>
        </p:nvSpPr>
        <p:spPr>
          <a:xfrm>
            <a:off x="5399095" y="4593144"/>
            <a:ext cx="76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internet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BEF874-EB6F-125A-F3C9-440FDAD6339D}"/>
              </a:ext>
            </a:extLst>
          </p:cNvPr>
          <p:cNvSpPr/>
          <p:nvPr/>
        </p:nvSpPr>
        <p:spPr>
          <a:xfrm>
            <a:off x="5911476" y="1421021"/>
            <a:ext cx="4239592" cy="46938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95102CC-4C29-4340-C6D3-4FCFCE98824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5922118" y="1424695"/>
            <a:ext cx="285357" cy="285357"/>
          </a:xfrm>
          <a:prstGeom prst="rect">
            <a:avLst/>
          </a:prstGeom>
        </p:spPr>
      </p:pic>
      <p:pic>
        <p:nvPicPr>
          <p:cNvPr id="26" name="Graphic 7">
            <a:extLst>
              <a:ext uri="{FF2B5EF4-FFF2-40B4-BE49-F238E27FC236}">
                <a16:creationId xmlns:a16="http://schemas.microsoft.com/office/drawing/2014/main" id="{00E67201-AFCA-B938-C62E-1C72DAD3F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20" y="330143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Graphic 13">
            <a:extLst>
              <a:ext uri="{FF2B5EF4-FFF2-40B4-BE49-F238E27FC236}">
                <a16:creationId xmlns:a16="http://schemas.microsoft.com/office/drawing/2014/main" id="{B19BD20F-C8D0-45A4-2C2D-A678EAC2E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511" y="4309816"/>
            <a:ext cx="377776" cy="377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347A5E7-6571-C801-B7E0-0CA755994A57}"/>
              </a:ext>
            </a:extLst>
          </p:cNvPr>
          <p:cNvSpPr txBox="1"/>
          <p:nvPr/>
        </p:nvSpPr>
        <p:spPr>
          <a:xfrm>
            <a:off x="4320177" y="378633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IoT Greengrass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57B5D1-D68D-D11C-D038-F51127F6EB20}"/>
              </a:ext>
            </a:extLst>
          </p:cNvPr>
          <p:cNvSpPr txBox="1"/>
          <p:nvPr/>
        </p:nvSpPr>
        <p:spPr>
          <a:xfrm>
            <a:off x="4120137" y="4673401"/>
            <a:ext cx="11818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Lambda function</a:t>
            </a:r>
            <a:b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</a:br>
            <a:r>
              <a:rPr lang="en-US" sz="900" i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counting application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85DD4A-EF6F-819F-3F25-E69D94520F8E}"/>
              </a:ext>
            </a:extLst>
          </p:cNvPr>
          <p:cNvSpPr/>
          <p:nvPr/>
        </p:nvSpPr>
        <p:spPr>
          <a:xfrm>
            <a:off x="8712948" y="1920125"/>
            <a:ext cx="1238299" cy="4123662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1BA4AD-D086-7110-9AF6-A44E762C14C9}"/>
              </a:ext>
            </a:extLst>
          </p:cNvPr>
          <p:cNvSpPr/>
          <p:nvPr/>
        </p:nvSpPr>
        <p:spPr>
          <a:xfrm>
            <a:off x="5922118" y="1935981"/>
            <a:ext cx="1244994" cy="4107815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A2519B-E812-7C9D-E023-7DAF9C5963A4}"/>
              </a:ext>
            </a:extLst>
          </p:cNvPr>
          <p:cNvSpPr/>
          <p:nvPr/>
        </p:nvSpPr>
        <p:spPr>
          <a:xfrm>
            <a:off x="7290188" y="1935982"/>
            <a:ext cx="1293083" cy="4107809"/>
          </a:xfrm>
          <a:prstGeom prst="rect">
            <a:avLst/>
          </a:prstGeom>
          <a:solidFill>
            <a:srgbClr val="5A6B86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Graphic 8">
            <a:extLst>
              <a:ext uri="{FF2B5EF4-FFF2-40B4-BE49-F238E27FC236}">
                <a16:creationId xmlns:a16="http://schemas.microsoft.com/office/drawing/2014/main" id="{CFF9605E-085D-70B2-F034-019C7BB06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641" y="2298272"/>
            <a:ext cx="453728" cy="453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9F45A3F-071C-3581-FD1E-0B4E2012608E}"/>
              </a:ext>
            </a:extLst>
          </p:cNvPr>
          <p:cNvSpPr txBox="1"/>
          <p:nvPr/>
        </p:nvSpPr>
        <p:spPr>
          <a:xfrm>
            <a:off x="6386165" y="27223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</a:t>
            </a:r>
          </a:p>
        </p:txBody>
      </p:sp>
      <p:pic>
        <p:nvPicPr>
          <p:cNvPr id="35" name="Graphic 8">
            <a:extLst>
              <a:ext uri="{FF2B5EF4-FFF2-40B4-BE49-F238E27FC236}">
                <a16:creationId xmlns:a16="http://schemas.microsoft.com/office/drawing/2014/main" id="{9728181F-5B13-843A-08D8-A1908172F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088" y="2281277"/>
            <a:ext cx="453728" cy="453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Graphic 26">
            <a:extLst>
              <a:ext uri="{FF2B5EF4-FFF2-40B4-BE49-F238E27FC236}">
                <a16:creationId xmlns:a16="http://schemas.microsoft.com/office/drawing/2014/main" id="{CAFF62F7-C2A8-6B9D-A034-2B3C6AF42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456" y="3312711"/>
            <a:ext cx="327583" cy="327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Graphic 30">
            <a:extLst>
              <a:ext uri="{FF2B5EF4-FFF2-40B4-BE49-F238E27FC236}">
                <a16:creationId xmlns:a16="http://schemas.microsoft.com/office/drawing/2014/main" id="{C40CD096-41EC-4717-49CC-032878A16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907" y="3929942"/>
            <a:ext cx="351372" cy="351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Graphic 22">
            <a:extLst>
              <a:ext uri="{FF2B5EF4-FFF2-40B4-BE49-F238E27FC236}">
                <a16:creationId xmlns:a16="http://schemas.microsoft.com/office/drawing/2014/main" id="{B83BE983-C4B5-32DD-9504-43FCC3C9E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581" y="4684688"/>
            <a:ext cx="450668" cy="450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Graphic 28">
            <a:extLst>
              <a:ext uri="{FF2B5EF4-FFF2-40B4-BE49-F238E27FC236}">
                <a16:creationId xmlns:a16="http://schemas.microsoft.com/office/drawing/2014/main" id="{CB53AF8C-21FE-A4AB-B75B-2D7CF573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7047" y="5454530"/>
            <a:ext cx="339811" cy="339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A4C49B7-4A1E-BA31-8151-6442F5D5BD29}"/>
              </a:ext>
            </a:extLst>
          </p:cNvPr>
          <p:cNvSpPr txBox="1"/>
          <p:nvPr/>
        </p:nvSpPr>
        <p:spPr>
          <a:xfrm>
            <a:off x="7533248" y="2708079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</a:t>
            </a:r>
          </a:p>
        </p:txBody>
      </p:sp>
      <p:pic>
        <p:nvPicPr>
          <p:cNvPr id="41" name="Graphic 16">
            <a:extLst>
              <a:ext uri="{FF2B5EF4-FFF2-40B4-BE49-F238E27FC236}">
                <a16:creationId xmlns:a16="http://schemas.microsoft.com/office/drawing/2014/main" id="{EC1A16FB-0BDD-9420-4485-5A332644E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3350" y="2078524"/>
            <a:ext cx="420412" cy="42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Graphic 6">
            <a:extLst>
              <a:ext uri="{FF2B5EF4-FFF2-40B4-BE49-F238E27FC236}">
                <a16:creationId xmlns:a16="http://schemas.microsoft.com/office/drawing/2014/main" id="{BAC15FB7-3C72-E373-3A34-750621D20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9237" y="2077783"/>
            <a:ext cx="409356" cy="409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Graphic 8">
            <a:extLst>
              <a:ext uri="{FF2B5EF4-FFF2-40B4-BE49-F238E27FC236}">
                <a16:creationId xmlns:a16="http://schemas.microsoft.com/office/drawing/2014/main" id="{7D745CFA-81E7-75EB-74CD-D8E231948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9058" y="2949535"/>
            <a:ext cx="453728" cy="453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Graphic 26">
            <a:extLst>
              <a:ext uri="{FF2B5EF4-FFF2-40B4-BE49-F238E27FC236}">
                <a16:creationId xmlns:a16="http://schemas.microsoft.com/office/drawing/2014/main" id="{2E756C22-B4C7-521F-47C4-F10CEBE7D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090" y="4002062"/>
            <a:ext cx="327583" cy="327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Graphic 7">
            <a:extLst>
              <a:ext uri="{FF2B5EF4-FFF2-40B4-BE49-F238E27FC236}">
                <a16:creationId xmlns:a16="http://schemas.microsoft.com/office/drawing/2014/main" id="{C8E41C81-E6A2-0F95-1F7E-9CCDE44FF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5431" y="5016230"/>
            <a:ext cx="453728" cy="453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593F908-1883-D71A-B94B-727239322704}"/>
              </a:ext>
            </a:extLst>
          </p:cNvPr>
          <p:cNvSpPr txBox="1"/>
          <p:nvPr/>
        </p:nvSpPr>
        <p:spPr>
          <a:xfrm>
            <a:off x="8960051" y="3357002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12B7AE-A5DC-1B94-884E-297437490710}"/>
              </a:ext>
            </a:extLst>
          </p:cNvPr>
          <p:cNvSpPr txBox="1"/>
          <p:nvPr/>
        </p:nvSpPr>
        <p:spPr>
          <a:xfrm>
            <a:off x="6393206" y="471012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AWS IoT Core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2F3730-8760-5C55-7611-618FD9DCAE84}"/>
              </a:ext>
            </a:extLst>
          </p:cNvPr>
          <p:cNvSpPr txBox="1"/>
          <p:nvPr/>
        </p:nvSpPr>
        <p:spPr>
          <a:xfrm>
            <a:off x="7552915" y="3599855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training notebook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A8715C-FFC6-7CCE-895E-11CBDDACA27B}"/>
              </a:ext>
            </a:extLst>
          </p:cNvPr>
          <p:cNvSpPr txBox="1"/>
          <p:nvPr/>
        </p:nvSpPr>
        <p:spPr>
          <a:xfrm>
            <a:off x="7850531" y="4212014"/>
            <a:ext cx="762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build, train, optimize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D2CAD6-0F6F-800C-E53E-C219BEF4F0B5}"/>
              </a:ext>
            </a:extLst>
          </p:cNvPr>
          <p:cNvSpPr txBox="1"/>
          <p:nvPr/>
        </p:nvSpPr>
        <p:spPr>
          <a:xfrm>
            <a:off x="8574821" y="2433955"/>
            <a:ext cx="76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video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E71CC9-8B65-F260-F47F-630499C0E689}"/>
              </a:ext>
            </a:extLst>
          </p:cNvPr>
          <p:cNvSpPr txBox="1"/>
          <p:nvPr/>
        </p:nvSpPr>
        <p:spPr>
          <a:xfrm>
            <a:off x="9289158" y="2427574"/>
            <a:ext cx="76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images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21EE71-2F55-DA87-09DF-920293B9FCA7}"/>
              </a:ext>
            </a:extLst>
          </p:cNvPr>
          <p:cNvSpPr txBox="1"/>
          <p:nvPr/>
        </p:nvSpPr>
        <p:spPr>
          <a:xfrm>
            <a:off x="7579228" y="508519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SageMaker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8CEA58-2E9A-E225-AF4E-CECAC225037B}"/>
              </a:ext>
            </a:extLst>
          </p:cNvPr>
          <p:cNvSpPr txBox="1"/>
          <p:nvPr/>
        </p:nvSpPr>
        <p:spPr>
          <a:xfrm>
            <a:off x="8886534" y="5495970"/>
            <a:ext cx="96705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Amazon SageMaker Ground Truth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C041A6-BBEC-585F-7D0A-2C312C686651}"/>
              </a:ext>
            </a:extLst>
          </p:cNvPr>
          <p:cNvSpPr txBox="1"/>
          <p:nvPr/>
        </p:nvSpPr>
        <p:spPr>
          <a:xfrm>
            <a:off x="7555729" y="5736602"/>
            <a:ext cx="76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model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9BE879-1EF0-60DF-962C-21E22573483E}"/>
              </a:ext>
            </a:extLst>
          </p:cNvPr>
          <p:cNvSpPr txBox="1"/>
          <p:nvPr/>
        </p:nvSpPr>
        <p:spPr>
          <a:xfrm>
            <a:off x="8978990" y="4271484"/>
            <a:ext cx="762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data processing notebook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16CD176-C9D3-CADF-F74B-A5F0CB4E2650}"/>
              </a:ext>
            </a:extLst>
          </p:cNvPr>
          <p:cNvCxnSpPr>
            <a:cxnSpLocks/>
          </p:cNvCxnSpPr>
          <p:nvPr/>
        </p:nvCxnSpPr>
        <p:spPr>
          <a:xfrm>
            <a:off x="3167624" y="2006807"/>
            <a:ext cx="0" cy="3693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BEAACAF-6C7E-CEF1-F2E7-49F514722928}"/>
              </a:ext>
            </a:extLst>
          </p:cNvPr>
          <p:cNvCxnSpPr>
            <a:cxnSpLocks/>
          </p:cNvCxnSpPr>
          <p:nvPr/>
        </p:nvCxnSpPr>
        <p:spPr>
          <a:xfrm>
            <a:off x="3161601" y="2006807"/>
            <a:ext cx="1203937" cy="0"/>
          </a:xfrm>
          <a:prstGeom prst="line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66EE098-F1B9-F1D9-BB41-E29C323E1DD8}"/>
              </a:ext>
            </a:extLst>
          </p:cNvPr>
          <p:cNvCxnSpPr>
            <a:cxnSpLocks/>
          </p:cNvCxnSpPr>
          <p:nvPr/>
        </p:nvCxnSpPr>
        <p:spPr>
          <a:xfrm flipH="1">
            <a:off x="4784386" y="2131775"/>
            <a:ext cx="22780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C4F59C2-EE1B-4758-750D-30CC001ABA8C}"/>
              </a:ext>
            </a:extLst>
          </p:cNvPr>
          <p:cNvCxnSpPr>
            <a:cxnSpLocks/>
          </p:cNvCxnSpPr>
          <p:nvPr/>
        </p:nvCxnSpPr>
        <p:spPr>
          <a:xfrm flipH="1">
            <a:off x="4143759" y="2148724"/>
            <a:ext cx="22780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DBFCE7-5A88-87AF-D908-C6B95931965F}"/>
              </a:ext>
            </a:extLst>
          </p:cNvPr>
          <p:cNvCxnSpPr>
            <a:cxnSpLocks/>
          </p:cNvCxnSpPr>
          <p:nvPr/>
        </p:nvCxnSpPr>
        <p:spPr>
          <a:xfrm>
            <a:off x="4143759" y="2148724"/>
            <a:ext cx="0" cy="676458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F2618CC-AB6C-0542-D494-01AADE2B8B71}"/>
              </a:ext>
            </a:extLst>
          </p:cNvPr>
          <p:cNvCxnSpPr>
            <a:cxnSpLocks/>
          </p:cNvCxnSpPr>
          <p:nvPr/>
        </p:nvCxnSpPr>
        <p:spPr>
          <a:xfrm>
            <a:off x="5012188" y="2131775"/>
            <a:ext cx="5278" cy="674573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A6614FA-1B6C-8115-860A-88439C43EC39}"/>
              </a:ext>
            </a:extLst>
          </p:cNvPr>
          <p:cNvSpPr txBox="1"/>
          <p:nvPr/>
        </p:nvSpPr>
        <p:spPr>
          <a:xfrm>
            <a:off x="4222179" y="2898265"/>
            <a:ext cx="97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Edge hardware components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A09AEF0-1289-BD3E-5B74-C08AE69BDDE6}"/>
              </a:ext>
            </a:extLst>
          </p:cNvPr>
          <p:cNvCxnSpPr>
            <a:cxnSpLocks/>
          </p:cNvCxnSpPr>
          <p:nvPr/>
        </p:nvCxnSpPr>
        <p:spPr>
          <a:xfrm>
            <a:off x="3269787" y="3883655"/>
            <a:ext cx="779998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E145DC3-37B7-54B5-408F-4193C5F8F7C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999483" y="3888654"/>
            <a:ext cx="979253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2B10C81-F5CB-D1D6-97D0-6D36D7A80179}"/>
              </a:ext>
            </a:extLst>
          </p:cNvPr>
          <p:cNvSpPr txBox="1"/>
          <p:nvPr/>
        </p:nvSpPr>
        <p:spPr>
          <a:xfrm>
            <a:off x="3126200" y="3411734"/>
            <a:ext cx="99739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visualize near real-time counts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F642B5C-4D63-4C92-0951-C1AD50113EB6}"/>
              </a:ext>
            </a:extLst>
          </p:cNvPr>
          <p:cNvSpPr/>
          <p:nvPr/>
        </p:nvSpPr>
        <p:spPr>
          <a:xfrm>
            <a:off x="2661905" y="3409968"/>
            <a:ext cx="92038" cy="444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5D3C91-19A6-E420-F074-9778E7FED7EF}"/>
              </a:ext>
            </a:extLst>
          </p:cNvPr>
          <p:cNvSpPr txBox="1"/>
          <p:nvPr/>
        </p:nvSpPr>
        <p:spPr>
          <a:xfrm>
            <a:off x="2272394" y="3348111"/>
            <a:ext cx="99739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upload near real-time counts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DAEF1CA-7FC2-39BE-C6E1-BEB1EC3375B4}"/>
              </a:ext>
            </a:extLst>
          </p:cNvPr>
          <p:cNvSpPr txBox="1"/>
          <p:nvPr/>
        </p:nvSpPr>
        <p:spPr>
          <a:xfrm>
            <a:off x="3244792" y="4560852"/>
            <a:ext cx="86535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start and stop counting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9E1A8E8-6410-55C8-F7E5-5E536E621A6E}"/>
              </a:ext>
            </a:extLst>
          </p:cNvPr>
          <p:cNvCxnSpPr>
            <a:cxnSpLocks/>
          </p:cNvCxnSpPr>
          <p:nvPr/>
        </p:nvCxnSpPr>
        <p:spPr>
          <a:xfrm>
            <a:off x="4620491" y="1743468"/>
            <a:ext cx="0" cy="1574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BE01802-2808-38BC-F3A2-3E847BA10F1F}"/>
              </a:ext>
            </a:extLst>
          </p:cNvPr>
          <p:cNvCxnSpPr>
            <a:cxnSpLocks/>
          </p:cNvCxnSpPr>
          <p:nvPr/>
        </p:nvCxnSpPr>
        <p:spPr>
          <a:xfrm>
            <a:off x="4620491" y="1755466"/>
            <a:ext cx="4345541" cy="0"/>
          </a:xfrm>
          <a:prstGeom prst="line">
            <a:avLst/>
          </a:prstGeom>
          <a:ln w="12700">
            <a:solidFill>
              <a:schemeClr val="tx1"/>
            </a:solidFill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A9071F7-9541-2C4D-93C1-CCBC93B789C2}"/>
              </a:ext>
            </a:extLst>
          </p:cNvPr>
          <p:cNvCxnSpPr>
            <a:cxnSpLocks/>
          </p:cNvCxnSpPr>
          <p:nvPr/>
        </p:nvCxnSpPr>
        <p:spPr>
          <a:xfrm>
            <a:off x="8966032" y="1743468"/>
            <a:ext cx="0" cy="157476"/>
          </a:xfrm>
          <a:prstGeom prst="line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B959803-6B58-797A-5A32-8B388A37B89F}"/>
              </a:ext>
            </a:extLst>
          </p:cNvPr>
          <p:cNvCxnSpPr>
            <a:cxnSpLocks/>
          </p:cNvCxnSpPr>
          <p:nvPr/>
        </p:nvCxnSpPr>
        <p:spPr>
          <a:xfrm>
            <a:off x="5428718" y="4591073"/>
            <a:ext cx="1285245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F0E17FD3-E97B-94E6-7EF4-DBF2195642E1}"/>
              </a:ext>
            </a:extLst>
          </p:cNvPr>
          <p:cNvSpPr txBox="1"/>
          <p:nvPr/>
        </p:nvSpPr>
        <p:spPr>
          <a:xfrm>
            <a:off x="5862304" y="4114544"/>
            <a:ext cx="76199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deploy mode and application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9CC242D-42D5-11F9-04E1-C509D9613B12}"/>
              </a:ext>
            </a:extLst>
          </p:cNvPr>
          <p:cNvSpPr txBox="1"/>
          <p:nvPr/>
        </p:nvSpPr>
        <p:spPr>
          <a:xfrm>
            <a:off x="6101418" y="1969617"/>
            <a:ext cx="8909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deploy mode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D78544-DFD8-6BD5-B604-002E8D48EB52}"/>
              </a:ext>
            </a:extLst>
          </p:cNvPr>
          <p:cNvSpPr txBox="1"/>
          <p:nvPr/>
        </p:nvSpPr>
        <p:spPr>
          <a:xfrm>
            <a:off x="7451784" y="1965448"/>
            <a:ext cx="10272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model training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37CF98D-C5B5-32A5-C93F-9FD893DA9F4D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6767165" y="3091649"/>
            <a:ext cx="0" cy="1116045"/>
          </a:xfrm>
          <a:prstGeom prst="line">
            <a:avLst/>
          </a:prstGeom>
          <a:ln w="12700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A43CC8F-832C-B2FB-9804-E3CCCDEB8B7E}"/>
              </a:ext>
            </a:extLst>
          </p:cNvPr>
          <p:cNvCxnSpPr>
            <a:cxnSpLocks/>
          </p:cNvCxnSpPr>
          <p:nvPr/>
        </p:nvCxnSpPr>
        <p:spPr>
          <a:xfrm flipV="1">
            <a:off x="7903997" y="3030882"/>
            <a:ext cx="0" cy="264323"/>
          </a:xfrm>
          <a:prstGeom prst="line">
            <a:avLst/>
          </a:prstGeom>
          <a:ln w="12700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397C643-8217-74D6-D1AA-AF8FD3BCAF3A}"/>
              </a:ext>
            </a:extLst>
          </p:cNvPr>
          <p:cNvCxnSpPr>
            <a:cxnSpLocks/>
          </p:cNvCxnSpPr>
          <p:nvPr/>
        </p:nvCxnSpPr>
        <p:spPr>
          <a:xfrm flipV="1">
            <a:off x="7903997" y="3969964"/>
            <a:ext cx="0" cy="639144"/>
          </a:xfrm>
          <a:prstGeom prst="line">
            <a:avLst/>
          </a:prstGeom>
          <a:ln w="12700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5322F4A-DBA1-87CE-BE75-5E16CFA1F021}"/>
              </a:ext>
            </a:extLst>
          </p:cNvPr>
          <p:cNvSpPr txBox="1"/>
          <p:nvPr/>
        </p:nvSpPr>
        <p:spPr>
          <a:xfrm>
            <a:off x="7991344" y="5353300"/>
            <a:ext cx="762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object detection model</a:t>
            </a:r>
          </a:p>
        </p:txBody>
      </p:sp>
      <p:pic>
        <p:nvPicPr>
          <p:cNvPr id="83" name="Graphic 6">
            <a:extLst>
              <a:ext uri="{FF2B5EF4-FFF2-40B4-BE49-F238E27FC236}">
                <a16:creationId xmlns:a16="http://schemas.microsoft.com/office/drawing/2014/main" id="{445F72DA-0629-355B-AD8F-13B1518DF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467" y="426264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D74EB5D-DC36-ED19-1D1F-AA642008075A}"/>
              </a:ext>
            </a:extLst>
          </p:cNvPr>
          <p:cNvCxnSpPr>
            <a:cxnSpLocks/>
          </p:cNvCxnSpPr>
          <p:nvPr/>
        </p:nvCxnSpPr>
        <p:spPr>
          <a:xfrm>
            <a:off x="8966032" y="2767197"/>
            <a:ext cx="69386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95FD21A-2A67-FBC5-5DD8-E9CFDA82F68E}"/>
              </a:ext>
            </a:extLst>
          </p:cNvPr>
          <p:cNvCxnSpPr>
            <a:cxnSpLocks/>
          </p:cNvCxnSpPr>
          <p:nvPr/>
        </p:nvCxnSpPr>
        <p:spPr>
          <a:xfrm>
            <a:off x="9310031" y="2762121"/>
            <a:ext cx="0" cy="157476"/>
          </a:xfrm>
          <a:prstGeom prst="line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336192D-9A43-D066-48C8-B55A14DE695D}"/>
              </a:ext>
            </a:extLst>
          </p:cNvPr>
          <p:cNvCxnSpPr>
            <a:cxnSpLocks/>
          </p:cNvCxnSpPr>
          <p:nvPr/>
        </p:nvCxnSpPr>
        <p:spPr>
          <a:xfrm>
            <a:off x="8966032" y="2609721"/>
            <a:ext cx="0" cy="1574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A529595-FD15-9BFD-FEBA-72CDFB9FA40D}"/>
              </a:ext>
            </a:extLst>
          </p:cNvPr>
          <p:cNvCxnSpPr>
            <a:cxnSpLocks/>
          </p:cNvCxnSpPr>
          <p:nvPr/>
        </p:nvCxnSpPr>
        <p:spPr>
          <a:xfrm>
            <a:off x="9649721" y="2609721"/>
            <a:ext cx="0" cy="1574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0BE672F-C35F-6201-40D3-C1D424D948D3}"/>
              </a:ext>
            </a:extLst>
          </p:cNvPr>
          <p:cNvCxnSpPr>
            <a:cxnSpLocks/>
          </p:cNvCxnSpPr>
          <p:nvPr/>
        </p:nvCxnSpPr>
        <p:spPr>
          <a:xfrm flipV="1">
            <a:off x="9368592" y="3722074"/>
            <a:ext cx="0" cy="264323"/>
          </a:xfrm>
          <a:prstGeom prst="line">
            <a:avLst/>
          </a:prstGeom>
          <a:ln w="12700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B8D1419-FD56-7437-36D5-B5B9B34258E4}"/>
              </a:ext>
            </a:extLst>
          </p:cNvPr>
          <p:cNvCxnSpPr>
            <a:cxnSpLocks/>
          </p:cNvCxnSpPr>
          <p:nvPr/>
        </p:nvCxnSpPr>
        <p:spPr>
          <a:xfrm flipV="1">
            <a:off x="9355646" y="4719845"/>
            <a:ext cx="0" cy="264323"/>
          </a:xfrm>
          <a:prstGeom prst="line">
            <a:avLst/>
          </a:prstGeom>
          <a:ln w="12700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AD3D855-05E2-171A-2F6F-7DA0C4502DAF}"/>
              </a:ext>
            </a:extLst>
          </p:cNvPr>
          <p:cNvCxnSpPr>
            <a:cxnSpLocks/>
          </p:cNvCxnSpPr>
          <p:nvPr/>
        </p:nvCxnSpPr>
        <p:spPr>
          <a:xfrm>
            <a:off x="8170316" y="2547187"/>
            <a:ext cx="495925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AB839A8-BDC4-91BF-A9D9-2352EC46C270}"/>
              </a:ext>
            </a:extLst>
          </p:cNvPr>
          <p:cNvCxnSpPr>
            <a:cxnSpLocks/>
          </p:cNvCxnSpPr>
          <p:nvPr/>
        </p:nvCxnSpPr>
        <p:spPr>
          <a:xfrm flipV="1">
            <a:off x="8666241" y="2547187"/>
            <a:ext cx="0" cy="2722677"/>
          </a:xfrm>
          <a:prstGeom prst="line">
            <a:avLst/>
          </a:prstGeom>
          <a:ln w="12700">
            <a:solidFill>
              <a:schemeClr val="tx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9FF87C5-A71C-B25D-087A-26B2E25F3A6C}"/>
              </a:ext>
            </a:extLst>
          </p:cNvPr>
          <p:cNvCxnSpPr>
            <a:cxnSpLocks/>
          </p:cNvCxnSpPr>
          <p:nvPr/>
        </p:nvCxnSpPr>
        <p:spPr>
          <a:xfrm flipH="1" flipV="1">
            <a:off x="8670000" y="5264051"/>
            <a:ext cx="429058" cy="666"/>
          </a:xfrm>
          <a:prstGeom prst="line">
            <a:avLst/>
          </a:prstGeom>
          <a:ln w="12700">
            <a:solidFill>
              <a:schemeClr val="tx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27FF710-0525-52C3-2854-148E7DC231FD}"/>
              </a:ext>
            </a:extLst>
          </p:cNvPr>
          <p:cNvCxnSpPr>
            <a:cxnSpLocks/>
          </p:cNvCxnSpPr>
          <p:nvPr/>
        </p:nvCxnSpPr>
        <p:spPr>
          <a:xfrm flipV="1">
            <a:off x="6984705" y="2537372"/>
            <a:ext cx="236117" cy="2216"/>
          </a:xfrm>
          <a:prstGeom prst="line">
            <a:avLst/>
          </a:prstGeom>
          <a:ln w="12700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9910D97-EFFE-E8D6-9CC3-C7B1057C5FF9}"/>
              </a:ext>
            </a:extLst>
          </p:cNvPr>
          <p:cNvCxnSpPr>
            <a:cxnSpLocks/>
          </p:cNvCxnSpPr>
          <p:nvPr/>
        </p:nvCxnSpPr>
        <p:spPr>
          <a:xfrm flipH="1" flipV="1">
            <a:off x="7220822" y="2532871"/>
            <a:ext cx="6343" cy="3101611"/>
          </a:xfrm>
          <a:prstGeom prst="line">
            <a:avLst/>
          </a:prstGeom>
          <a:ln w="12700">
            <a:solidFill>
              <a:schemeClr val="tx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0D9944D-7FE5-07A0-1D61-B083CFDEFFDF}"/>
              </a:ext>
            </a:extLst>
          </p:cNvPr>
          <p:cNvCxnSpPr>
            <a:cxnSpLocks/>
          </p:cNvCxnSpPr>
          <p:nvPr/>
        </p:nvCxnSpPr>
        <p:spPr>
          <a:xfrm flipH="1">
            <a:off x="7241260" y="5620318"/>
            <a:ext cx="49522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BE29D2F-8C04-A0FB-4584-899C54A4437D}"/>
              </a:ext>
            </a:extLst>
          </p:cNvPr>
          <p:cNvSpPr txBox="1"/>
          <p:nvPr/>
        </p:nvSpPr>
        <p:spPr>
          <a:xfrm>
            <a:off x="8811622" y="1892607"/>
            <a:ext cx="10658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data preparation</a:t>
            </a:r>
          </a:p>
        </p:txBody>
      </p:sp>
      <p:sp>
        <p:nvSpPr>
          <p:cNvPr id="97" name="NumBox 1">
            <a:extLst>
              <a:ext uri="{FF2B5EF4-FFF2-40B4-BE49-F238E27FC236}">
                <a16:creationId xmlns:a16="http://schemas.microsoft.com/office/drawing/2014/main" id="{5B37904A-FA8E-F784-0FB1-F0345A98D780}"/>
              </a:ext>
            </a:extLst>
          </p:cNvPr>
          <p:cNvSpPr/>
          <p:nvPr/>
        </p:nvSpPr>
        <p:spPr>
          <a:xfrm>
            <a:off x="9471535" y="1558874"/>
            <a:ext cx="27432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</a:t>
            </a:r>
          </a:p>
        </p:txBody>
      </p:sp>
      <p:sp>
        <p:nvSpPr>
          <p:cNvPr id="98" name="NumBox 2">
            <a:extLst>
              <a:ext uri="{FF2B5EF4-FFF2-40B4-BE49-F238E27FC236}">
                <a16:creationId xmlns:a16="http://schemas.microsoft.com/office/drawing/2014/main" id="{2FDE5D66-6528-5BAD-87CD-87A7F38EB7D9}"/>
              </a:ext>
            </a:extLst>
          </p:cNvPr>
          <p:cNvSpPr/>
          <p:nvPr/>
        </p:nvSpPr>
        <p:spPr>
          <a:xfrm>
            <a:off x="9596347" y="4015216"/>
            <a:ext cx="27432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</a:t>
            </a:r>
          </a:p>
        </p:txBody>
      </p:sp>
      <p:sp>
        <p:nvSpPr>
          <p:cNvPr id="99" name="NumBox 3">
            <a:extLst>
              <a:ext uri="{FF2B5EF4-FFF2-40B4-BE49-F238E27FC236}">
                <a16:creationId xmlns:a16="http://schemas.microsoft.com/office/drawing/2014/main" id="{AF32A076-4F8E-C9B5-5AA6-071A3C69D35B}"/>
              </a:ext>
            </a:extLst>
          </p:cNvPr>
          <p:cNvSpPr/>
          <p:nvPr/>
        </p:nvSpPr>
        <p:spPr>
          <a:xfrm>
            <a:off x="8177641" y="3344870"/>
            <a:ext cx="27432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</a:t>
            </a:r>
          </a:p>
        </p:txBody>
      </p:sp>
      <p:sp>
        <p:nvSpPr>
          <p:cNvPr id="100" name="NumBox 4">
            <a:extLst>
              <a:ext uri="{FF2B5EF4-FFF2-40B4-BE49-F238E27FC236}">
                <a16:creationId xmlns:a16="http://schemas.microsoft.com/office/drawing/2014/main" id="{DDBE7C73-1737-F522-9FE9-A528F95FE393}"/>
              </a:ext>
            </a:extLst>
          </p:cNvPr>
          <p:cNvSpPr/>
          <p:nvPr/>
        </p:nvSpPr>
        <p:spPr>
          <a:xfrm>
            <a:off x="8225492" y="4811847"/>
            <a:ext cx="27432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4</a:t>
            </a:r>
          </a:p>
        </p:txBody>
      </p:sp>
      <p:sp>
        <p:nvSpPr>
          <p:cNvPr id="101" name="NumBox 1">
            <a:extLst>
              <a:ext uri="{FF2B5EF4-FFF2-40B4-BE49-F238E27FC236}">
                <a16:creationId xmlns:a16="http://schemas.microsoft.com/office/drawing/2014/main" id="{17DA7EB8-7539-7360-8265-FA10FFF0EA7A}"/>
              </a:ext>
            </a:extLst>
          </p:cNvPr>
          <p:cNvSpPr/>
          <p:nvPr/>
        </p:nvSpPr>
        <p:spPr>
          <a:xfrm>
            <a:off x="6863974" y="3943884"/>
            <a:ext cx="27432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5</a:t>
            </a:r>
          </a:p>
        </p:txBody>
      </p:sp>
      <p:sp>
        <p:nvSpPr>
          <p:cNvPr id="102" name="NumBox 1">
            <a:extLst>
              <a:ext uri="{FF2B5EF4-FFF2-40B4-BE49-F238E27FC236}">
                <a16:creationId xmlns:a16="http://schemas.microsoft.com/office/drawing/2014/main" id="{EFF99916-91C8-DE6B-46F8-C091F1838DC5}"/>
              </a:ext>
            </a:extLst>
          </p:cNvPr>
          <p:cNvSpPr/>
          <p:nvPr/>
        </p:nvSpPr>
        <p:spPr>
          <a:xfrm>
            <a:off x="2810076" y="1900724"/>
            <a:ext cx="27432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F637D9D-2FA8-63EF-4D01-A6D609BF4109}"/>
              </a:ext>
            </a:extLst>
          </p:cNvPr>
          <p:cNvSpPr txBox="1"/>
          <p:nvPr/>
        </p:nvSpPr>
        <p:spPr>
          <a:xfrm>
            <a:off x="3194970" y="1811435"/>
            <a:ext cx="11121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live RDSP stream</a:t>
            </a:r>
          </a:p>
        </p:txBody>
      </p:sp>
      <p:sp>
        <p:nvSpPr>
          <p:cNvPr id="106" name="NumBox 1">
            <a:extLst>
              <a:ext uri="{FF2B5EF4-FFF2-40B4-BE49-F238E27FC236}">
                <a16:creationId xmlns:a16="http://schemas.microsoft.com/office/drawing/2014/main" id="{38FE3C2C-9360-4B14-9AFB-2E00F7F0C398}"/>
              </a:ext>
            </a:extLst>
          </p:cNvPr>
          <p:cNvSpPr/>
          <p:nvPr/>
        </p:nvSpPr>
        <p:spPr>
          <a:xfrm>
            <a:off x="4151240" y="4340384"/>
            <a:ext cx="27432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7</a:t>
            </a:r>
          </a:p>
        </p:txBody>
      </p:sp>
      <p:sp>
        <p:nvSpPr>
          <p:cNvPr id="107" name="NumBox 1">
            <a:extLst>
              <a:ext uri="{FF2B5EF4-FFF2-40B4-BE49-F238E27FC236}">
                <a16:creationId xmlns:a16="http://schemas.microsoft.com/office/drawing/2014/main" id="{B61E7189-0F2D-F551-ECAD-2E1293664069}"/>
              </a:ext>
            </a:extLst>
          </p:cNvPr>
          <p:cNvSpPr/>
          <p:nvPr/>
        </p:nvSpPr>
        <p:spPr>
          <a:xfrm>
            <a:off x="3575715" y="4316753"/>
            <a:ext cx="27432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8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765B444-777F-E7B1-1580-1BCCD56263AE}"/>
              </a:ext>
            </a:extLst>
          </p:cNvPr>
          <p:cNvCxnSpPr>
            <a:cxnSpLocks/>
          </p:cNvCxnSpPr>
          <p:nvPr/>
        </p:nvCxnSpPr>
        <p:spPr>
          <a:xfrm>
            <a:off x="3147657" y="4393350"/>
            <a:ext cx="0" cy="675333"/>
          </a:xfrm>
          <a:prstGeom prst="line">
            <a:avLst/>
          </a:prstGeom>
          <a:ln w="12700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NumBox 1">
            <a:extLst>
              <a:ext uri="{FF2B5EF4-FFF2-40B4-BE49-F238E27FC236}">
                <a16:creationId xmlns:a16="http://schemas.microsoft.com/office/drawing/2014/main" id="{3BC28886-8358-4F4D-1290-4A078B287ADF}"/>
              </a:ext>
            </a:extLst>
          </p:cNvPr>
          <p:cNvSpPr/>
          <p:nvPr/>
        </p:nvSpPr>
        <p:spPr>
          <a:xfrm>
            <a:off x="2574739" y="3943884"/>
            <a:ext cx="274320" cy="2743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9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ADEABA4-4A59-A14A-D6AF-A959442FD28E}"/>
              </a:ext>
            </a:extLst>
          </p:cNvPr>
          <p:cNvCxnSpPr>
            <a:cxnSpLocks/>
          </p:cNvCxnSpPr>
          <p:nvPr/>
        </p:nvCxnSpPr>
        <p:spPr>
          <a:xfrm>
            <a:off x="1764045" y="4321309"/>
            <a:ext cx="0" cy="675333"/>
          </a:xfrm>
          <a:prstGeom prst="line">
            <a:avLst/>
          </a:prstGeom>
          <a:ln w="12700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375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6148-E3E5-664B-8A24-89C2726A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401065"/>
            <a:ext cx="10515600" cy="982412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B9B0-CBBE-A041-9695-C3789648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all service icons, refer to </a:t>
            </a:r>
            <a:r>
              <a:rPr lang="en-US" dirty="0">
                <a:hlinkClick r:id="rId2"/>
              </a:rPr>
              <a:t>AWS Architecture Icons</a:t>
            </a:r>
            <a:r>
              <a:rPr lang="en-US" dirty="0"/>
              <a:t>.</a:t>
            </a:r>
          </a:p>
          <a:p>
            <a:r>
              <a:rPr lang="en-US" dirty="0"/>
              <a:t>For more architecture diagrams, refer to </a:t>
            </a:r>
            <a:r>
              <a:rPr lang="en-US" dirty="0">
                <a:hlinkClick r:id="rId3"/>
              </a:rPr>
              <a:t>AWS Architecture Center</a:t>
            </a:r>
            <a:r>
              <a:rPr lang="en-US" dirty="0"/>
              <a:t>.</a:t>
            </a:r>
          </a:p>
          <a:p>
            <a:r>
              <a:rPr lang="en-US" dirty="0"/>
              <a:t>For more AWS best practices, refer to </a:t>
            </a:r>
            <a:r>
              <a:rPr lang="en-US" dirty="0">
                <a:hlinkClick r:id="rId4"/>
              </a:rPr>
              <a:t>AWS Well-Architected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If you have suggestions about making this experience better, </a:t>
            </a:r>
            <a:r>
              <a:rPr lang="en-US" dirty="0">
                <a:hlinkClick r:id="rId5"/>
              </a:rPr>
              <a:t>provide feedback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C8BDD-2AC7-FD49-B718-D5C3842239D0}"/>
              </a:ext>
            </a:extLst>
          </p:cNvPr>
          <p:cNvSpPr txBox="1"/>
          <p:nvPr/>
        </p:nvSpPr>
        <p:spPr>
          <a:xfrm>
            <a:off x="673768" y="1174282"/>
            <a:ext cx="9731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get started with customizing your architecture diagram, refer to the following resources.</a:t>
            </a:r>
          </a:p>
        </p:txBody>
      </p:sp>
    </p:spTree>
    <p:extLst>
      <p:ext uri="{BB962C8B-B14F-4D97-AF65-F5344CB8AC3E}">
        <p14:creationId xmlns:p14="http://schemas.microsoft.com/office/powerpoint/2010/main" val="249575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58621</TotalTime>
  <Words>337</Words>
  <Application>Microsoft Macintosh PowerPoint</Application>
  <PresentationFormat>Widescreen</PresentationFormat>
  <Paragraphs>61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Amazon Ember</vt:lpstr>
      <vt:lpstr>Arial</vt:lpstr>
      <vt:lpstr>Calibri</vt:lpstr>
      <vt:lpstr>Calibri Light</vt:lpstr>
      <vt:lpstr>Office Theme</vt:lpstr>
      <vt:lpstr>PowerPoint Presentation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Computing on AWS</dc:title>
  <dc:subject/>
  <dc:creator>Amazon Web Services</dc:creator>
  <cp:keywords/>
  <dc:description/>
  <cp:lastModifiedBy>Lorelei Shannon</cp:lastModifiedBy>
  <cp:revision>99</cp:revision>
  <dcterms:created xsi:type="dcterms:W3CDTF">2020-07-21T19:38:25Z</dcterms:created>
  <dcterms:modified xsi:type="dcterms:W3CDTF">2023-04-18T03:58:21Z</dcterms:modified>
  <cp:category/>
</cp:coreProperties>
</file>