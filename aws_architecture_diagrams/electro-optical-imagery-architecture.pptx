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76" r:id="rId2"/>
    <p:sldId id="278" r:id="rId3"/>
    <p:sldId id="27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bby Chang" initials="DC" lastIdx="8" clrIdx="0">
    <p:extLst>
      <p:ext uri="{19B8F6BF-5375-455C-9EA6-DF929625EA0E}">
        <p15:presenceInfo xmlns:p15="http://schemas.microsoft.com/office/powerpoint/2012/main" userId="Debby Ch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29"/>
    <p:restoredTop sz="94721"/>
  </p:normalViewPr>
  <p:slideViewPr>
    <p:cSldViewPr snapToGrid="0" snapToObjects="1">
      <p:cViewPr varScale="1">
        <p:scale>
          <a:sx n="84" d="100"/>
          <a:sy n="84" d="100"/>
        </p:scale>
        <p:origin x="21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6B231-60EB-4C49-AAEF-269B5DFF8A47}" type="datetimeFigureOut">
              <a:rPr lang="en-US" smtClean="0"/>
              <a:t>12/12/22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86CF6-1F11-0F42-9224-21A256809A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34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quip-amazon.com/5XEtAzI2yYvC/Code-Sample-Event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quip-amazon.com/5XEtAzI2yYvC/Code-Sample-Events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developer initiates an activity in AWS CI/CD pipeline such as push code changes. These activities create Amazon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CloudWatch events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EventBridge event rule detects the CloudWatch events and sends the event data to an Amazon Kinesis Firehose Delivery Stream. One event rule per event source.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event rule is also created to capture event data from Amazon CloudWatch Synthetics Canary if customer has set up the canary – only needed for MTTR.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Firehose uses a Lambda function for data transformation. It extracts relevant data and sends it to an Amazon S3 bucket.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Athena database queries the S3 data and returns the query result to an Amazon QuickSight.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QuickSight obtains the query result and builds dashboard displays for the management team.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3B235-0EC1-A945-8A73-E24DD50E92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236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developer initiates an activity in AWS CI/CD pipeline such as push code changes. These activities create Amazon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CloudWatch events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EventBridge event rule detects the CloudWatch events and sends the event data to an Amazon Kinesis Firehose Delivery Stream. One event rule per event source.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event rule is also created to capture event data from Amazon CloudWatch Synthetics Canary if customer has set up the canary – only needed for MTTR.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Firehose uses a Lambda function for data transformation. It extracts relevant data and sends it to an Amazon S3 bucket.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Athena database queries the S3 data and returns the query result to an Amazon QuickSight.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QuickSight obtains the query result and builds dashboard displays for the management team.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3B235-0EC1-A945-8A73-E24DD50E928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369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0B15-2441-8C40-A7FF-E2A903BA0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EDCD3-FE1E-3A42-A167-0D7548E86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A736C-3AF2-754D-B90D-CBD09313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12/12/22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6406-6A04-E148-9208-C65993B6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5A83A-851E-1A44-9FCE-6FFD4813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5C4C-80D1-964F-8C27-E6533D31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3B0B-74C5-4245-AEBB-F2783844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75128-5C99-924A-8235-4D35BDF5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12/12/22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3A23-0936-5347-BCEE-94B0BBC5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E944D-764C-594E-89F2-A935820D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63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14EC-30FA-784D-89FE-065ABF8A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02DC6-75AF-934A-8CD0-3860E57B6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1C632-EFB6-984D-9E96-59FFF448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12/12/22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F414A-1C2C-F74E-966B-28ED8607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5928-0931-B243-805D-290462A0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4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B84D-AA29-BF47-A2C3-00F3CC6F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547C6-5414-4D49-B625-9F62F0182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F339C-0A28-6E45-9806-D043A1E2E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00151-3BFF-394D-AA82-5EC5D874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12/12/22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515EA-2174-8A4C-9226-DDCFAF19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A7A2B-22F6-B34E-AAAA-F650C35A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9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B524-B009-1849-954B-63F1A2B2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A1271-2C8E-744E-B3A6-F1F4D0BD5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C27E9-0BB9-684A-83E9-B98AEBE76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C2C89-FB2B-2848-9CBC-845ACD8AE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8A7B3-5BB6-F142-8991-B826A35EB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F6A90-BCA7-A844-BDD1-229C01420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12/12/22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0EB13-5D11-5449-9512-615224438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89CFB-D3AA-5D40-8CD5-82FB72E2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5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C06F-E9D1-9848-8730-019EDC09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6A42A-BD0A-6044-B98A-667A10B9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12/12/22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6F7CE-1782-F34B-8546-4418076A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4FECA-CEB6-EA48-989E-76920583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5ACDC-A542-1644-ACC8-03BEFDCE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12/12/22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3CAD7-D680-3248-89AC-406C3A2F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4454D-3F33-CF4C-AAEA-B9C5C3288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32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DC62-3092-4F47-B1CE-3F896D090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02A2-C681-EC4D-883E-EDD4C9F35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3D7A2-001A-E546-90B4-92D80CF48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D9759-F5A3-D041-9C49-871DE939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12/12/22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6F5AD-6FC4-0546-BCC8-1996C15E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7A332-74A7-C049-9406-D84CFB5A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51D8-6D19-DF4B-9F98-C7AC0FFE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56044-1EBB-F64A-B5BC-EF7CA4262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5DFA7-FA61-E240-8E13-D17D1C0D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96980-11CA-3B45-AE34-01194C85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12/12/22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CCDDE-3E46-2544-ACD5-1F7475EA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FCE0F-973C-2D41-A199-7D2984F7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3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80F3-24C0-CB47-9701-96650041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C93E1-0242-0D43-9778-62EBD48D1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8B7D1-6415-D741-8ED7-723B58CD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12/12/22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DD59-7593-9648-BF09-F82F663A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E32E3-4EBB-0146-BCB3-694DD543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9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1C21A-B8BD-4146-8AD7-8E9448250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2FC8A-61FE-DB4B-8F2A-FE5EDE2F0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F5535-45FC-9A44-81C9-97555F81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12/12/22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AC401-C660-EF4F-B64A-0D14A2C6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2AEFD-3CC8-8F44-9371-5A08F340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5F298-9AE0-F440-B542-5F54802A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FAE3-2B3B-D548-B56B-CE84E6538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3DF35-730C-C244-B98A-CB1C9F822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802BD-3636-C34F-81A0-C5C670484C61}" type="datetimeFigureOut">
              <a:rPr lang="en-US" smtClean="0"/>
              <a:t>12/12/22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F7E14-3D8F-1644-8351-8BCD9C2C7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80F83-AAFE-764D-9B87-A488A02AD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21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sv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5" Type="http://schemas.openxmlformats.org/officeDocument/2006/relationships/hyperlink" Target="https://docs.aws.amazon.com/architecture-diagrams/latest/electro-optical-imagery-architecture/electro-optical-imagery-architecture.html" TargetMode="External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.svg"/><Relationship Id="rId9" Type="http://schemas.openxmlformats.org/officeDocument/2006/relationships/image" Target="../media/image6.jpeg"/><Relationship Id="rId14" Type="http://schemas.openxmlformats.org/officeDocument/2006/relationships/image" Target="../media/image11.svg"/><Relationship Id="rId22" Type="http://schemas.openxmlformats.org/officeDocument/2006/relationships/image" Target="../media/image19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8.png"/><Relationship Id="rId18" Type="http://schemas.openxmlformats.org/officeDocument/2006/relationships/image" Target="../media/image13.svg"/><Relationship Id="rId26" Type="http://schemas.openxmlformats.org/officeDocument/2006/relationships/image" Target="../media/image23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6.jpeg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5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1.sv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4.svg"/><Relationship Id="rId24" Type="http://schemas.openxmlformats.org/officeDocument/2006/relationships/image" Target="../media/image21.png"/><Relationship Id="rId5" Type="http://schemas.openxmlformats.org/officeDocument/2006/relationships/hyperlink" Target="https://docs.aws.amazon.com/architecture-diagrams/latest/electro-optical-imagery-architecture/electro-optical-imagery-architecture.html" TargetMode="External"/><Relationship Id="rId15" Type="http://schemas.openxmlformats.org/officeDocument/2006/relationships/image" Target="../media/image10.png"/><Relationship Id="rId23" Type="http://schemas.openxmlformats.org/officeDocument/2006/relationships/image" Target="../media/image20.png"/><Relationship Id="rId10" Type="http://schemas.openxmlformats.org/officeDocument/2006/relationships/image" Target="../media/image3.pn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16.png"/><Relationship Id="rId14" Type="http://schemas.openxmlformats.org/officeDocument/2006/relationships/image" Target="../media/image9.png"/><Relationship Id="rId22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architecture/" TargetMode="External"/><Relationship Id="rId2" Type="http://schemas.openxmlformats.org/officeDocument/2006/relationships/hyperlink" Target="https://aws.amazon.com/architecture/icon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-feedback.aws.amazon.com/feedback.jsp?feedback_destination_id=a0d18259-7974-4e8f-8382-0a4be53f4374&amp;topic_url=http://docs.aws.amazon.com/en_us/architecture-diagrams/latest/high-performance-computing-on-aws/high-performance-computing-on-aws.html" TargetMode="External"/><Relationship Id="rId4" Type="http://schemas.openxmlformats.org/officeDocument/2006/relationships/hyperlink" Target="https://aws.amazon.com/architecture/well-architected/?wa-lens-whitepapers.sort-by=item.additionalFields.sortDate&amp;wa-lens-whitepapers.sort-order=des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1271BE9C-FDD5-DC4D-9BA5-3B7493EA2D8F}"/>
              </a:ext>
            </a:extLst>
          </p:cNvPr>
          <p:cNvSpPr txBox="1"/>
          <p:nvPr/>
        </p:nvSpPr>
        <p:spPr>
          <a:xfrm>
            <a:off x="95668" y="134489"/>
            <a:ext cx="6271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Electro-Optical Imagery Reference Architecture</a:t>
            </a:r>
          </a:p>
        </p:txBody>
      </p:sp>
      <p:pic>
        <p:nvPicPr>
          <p:cNvPr id="103" name="Graphic 102">
            <a:extLst>
              <a:ext uri="{FF2B5EF4-FFF2-40B4-BE49-F238E27FC236}">
                <a16:creationId xmlns:a16="http://schemas.microsoft.com/office/drawing/2014/main" id="{1DD42CEA-08C0-B743-AC84-1AA6A123B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92" y="6406198"/>
            <a:ext cx="585391" cy="348070"/>
          </a:xfrm>
          <a:prstGeom prst="rect">
            <a:avLst/>
          </a:prstGeom>
        </p:spPr>
      </p:pic>
      <p:sp>
        <p:nvSpPr>
          <p:cNvPr id="104" name="AWS copyright text">
            <a:extLst>
              <a:ext uri="{FF2B5EF4-FFF2-40B4-BE49-F238E27FC236}">
                <a16:creationId xmlns:a16="http://schemas.microsoft.com/office/drawing/2014/main" id="{E926D9DC-0FDF-1C44-85C5-53E31AA8B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619133"/>
            <a:ext cx="4036484" cy="14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933" b="0" i="0" dirty="0">
                <a:solidFill>
                  <a:srgbClr val="7F7F7F"/>
                </a:solidFill>
                <a:latin typeface="Amazon Ember" charset="0"/>
                <a:ea typeface="Amazon Ember" charset="0"/>
                <a:cs typeface="Amazon Ember" charset="0"/>
              </a:rPr>
              <a:t>© 2022, Amazon Web Services, Inc. or its affiliates.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BEBEF-567F-BD43-B598-F246075C6BF3}"/>
              </a:ext>
            </a:extLst>
          </p:cNvPr>
          <p:cNvSpPr txBox="1"/>
          <p:nvPr/>
        </p:nvSpPr>
        <p:spPr>
          <a:xfrm>
            <a:off x="101092" y="458980"/>
            <a:ext cx="486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For the architecture description, refer to the </a:t>
            </a:r>
            <a:r>
              <a:rPr lang="en-US" sz="1400" dirty="0">
                <a:hlinkClick r:id="rId5"/>
              </a:rPr>
              <a:t>full diagram</a:t>
            </a:r>
            <a:r>
              <a:rPr lang="en-US" sz="1400" dirty="0"/>
              <a:t>. </a:t>
            </a:r>
          </a:p>
        </p:txBody>
      </p:sp>
      <p:pic>
        <p:nvPicPr>
          <p:cNvPr id="2" name="Graphic 1" descr="Highway scene">
            <a:extLst>
              <a:ext uri="{FF2B5EF4-FFF2-40B4-BE49-F238E27FC236}">
                <a16:creationId xmlns:a16="http://schemas.microsoft.com/office/drawing/2014/main" id="{61AB185F-779B-D3A1-D234-8645ADF184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59527" y="4026462"/>
            <a:ext cx="310896" cy="3108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AD5DF83-FCC5-0A43-6DA3-0B8EFD252338}"/>
              </a:ext>
            </a:extLst>
          </p:cNvPr>
          <p:cNvSpPr/>
          <p:nvPr/>
        </p:nvSpPr>
        <p:spPr>
          <a:xfrm>
            <a:off x="8333958" y="4043059"/>
            <a:ext cx="1855505" cy="62724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C80C9-5243-DA9B-C0FB-6409D9051F4B}"/>
              </a:ext>
            </a:extLst>
          </p:cNvPr>
          <p:cNvSpPr txBox="1"/>
          <p:nvPr/>
        </p:nvSpPr>
        <p:spPr>
          <a:xfrm>
            <a:off x="9094509" y="4364656"/>
            <a:ext cx="1049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store post processed images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7E05E48-F10C-4346-0E60-8DC6352FC27E}"/>
              </a:ext>
            </a:extLst>
          </p:cNvPr>
          <p:cNvGrpSpPr/>
          <p:nvPr/>
        </p:nvGrpSpPr>
        <p:grpSpPr>
          <a:xfrm>
            <a:off x="10044200" y="3962322"/>
            <a:ext cx="253596" cy="234551"/>
            <a:chOff x="9120404" y="4286126"/>
            <a:chExt cx="356618" cy="329837"/>
          </a:xfrm>
        </p:grpSpPr>
        <p:sp>
          <p:nvSpPr>
            <p:cNvPr id="7" name="Rounded Rectangle 197">
              <a:extLst>
                <a:ext uri="{FF2B5EF4-FFF2-40B4-BE49-F238E27FC236}">
                  <a16:creationId xmlns:a16="http://schemas.microsoft.com/office/drawing/2014/main" id="{F0C04098-C574-A244-EFDD-072BDB6011CF}"/>
                </a:ext>
              </a:extLst>
            </p:cNvPr>
            <p:cNvSpPr/>
            <p:nvPr/>
          </p:nvSpPr>
          <p:spPr>
            <a:xfrm>
              <a:off x="9168599" y="4291010"/>
              <a:ext cx="269822" cy="276411"/>
            </a:xfrm>
            <a:prstGeom prst="roundRect">
              <a:avLst/>
            </a:prstGeom>
            <a:solidFill>
              <a:srgbClr val="007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8CA52F-4A70-0BBB-FECD-90EA86D18D98}"/>
                </a:ext>
              </a:extLst>
            </p:cNvPr>
            <p:cNvSpPr txBox="1"/>
            <p:nvPr/>
          </p:nvSpPr>
          <p:spPr>
            <a:xfrm>
              <a:off x="9120404" y="4286126"/>
              <a:ext cx="356618" cy="329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24" b="1" dirty="0">
                  <a:solidFill>
                    <a:schemeClr val="bg1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7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61E67A0-7006-DEDB-F5A7-BE9F9EF4FB26}"/>
              </a:ext>
            </a:extLst>
          </p:cNvPr>
          <p:cNvSpPr txBox="1"/>
          <p:nvPr/>
        </p:nvSpPr>
        <p:spPr>
          <a:xfrm>
            <a:off x="9462128" y="3425380"/>
            <a:ext cx="944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Complete Post Processing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EB85AC-781E-EE38-7331-9FFCEFF16835}"/>
              </a:ext>
            </a:extLst>
          </p:cNvPr>
          <p:cNvSpPr/>
          <p:nvPr/>
        </p:nvSpPr>
        <p:spPr>
          <a:xfrm>
            <a:off x="8130750" y="3029178"/>
            <a:ext cx="2254473" cy="71381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9D849C-5957-C9C4-2A5C-BC852A27FFD6}"/>
              </a:ext>
            </a:extLst>
          </p:cNvPr>
          <p:cNvSpPr/>
          <p:nvPr/>
        </p:nvSpPr>
        <p:spPr>
          <a:xfrm rot="16200000" flipH="1" flipV="1">
            <a:off x="998974" y="2519884"/>
            <a:ext cx="3992801" cy="2546515"/>
          </a:xfrm>
          <a:prstGeom prst="rect">
            <a:avLst/>
          </a:prstGeom>
          <a:noFill/>
          <a:ln w="12700">
            <a:solidFill>
              <a:srgbClr val="5A6B86">
                <a:alpha val="5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782" i="1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E7E323-7BB6-8325-8692-5543D969084A}"/>
              </a:ext>
            </a:extLst>
          </p:cNvPr>
          <p:cNvSpPr/>
          <p:nvPr/>
        </p:nvSpPr>
        <p:spPr>
          <a:xfrm>
            <a:off x="4389120" y="1759598"/>
            <a:ext cx="3534814" cy="4289269"/>
          </a:xfrm>
          <a:prstGeom prst="rect">
            <a:avLst/>
          </a:prstGeom>
          <a:noFill/>
          <a:ln w="12700">
            <a:solidFill>
              <a:srgbClr val="5A6B86">
                <a:alpha val="5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r>
              <a:rPr lang="en-US" sz="10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Inventory</a:t>
            </a:r>
          </a:p>
        </p:txBody>
      </p:sp>
      <p:pic>
        <p:nvPicPr>
          <p:cNvPr id="13" name="Graphic 20">
            <a:extLst>
              <a:ext uri="{FF2B5EF4-FFF2-40B4-BE49-F238E27FC236}">
                <a16:creationId xmlns:a16="http://schemas.microsoft.com/office/drawing/2014/main" id="{BECFB92D-62A0-5782-A6BD-FC4F98EDD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54" y="1796664"/>
            <a:ext cx="197147" cy="197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 descr="Image result for satellite vector">
            <a:extLst>
              <a:ext uri="{FF2B5EF4-FFF2-40B4-BE49-F238E27FC236}">
                <a16:creationId xmlns:a16="http://schemas.microsoft.com/office/drawing/2014/main" id="{064CA16D-6677-5390-30CB-0D70FE490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2468809" y="1124088"/>
            <a:ext cx="448599" cy="44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2E3EA9C-000D-2645-4ABD-293BC38F9F60}"/>
              </a:ext>
            </a:extLst>
          </p:cNvPr>
          <p:cNvSpPr txBox="1"/>
          <p:nvPr/>
        </p:nvSpPr>
        <p:spPr>
          <a:xfrm>
            <a:off x="2781008" y="1432925"/>
            <a:ext cx="585439" cy="212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2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Satellite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A55DA9B7-743E-9FE1-CF6F-5B7D9D251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8729" y="2080852"/>
            <a:ext cx="768530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sz="800" dirty="0"/>
              <a:t>Frames</a:t>
            </a:r>
          </a:p>
          <a:p>
            <a:r>
              <a:rPr lang="en-US" altLang="en-US" sz="800" dirty="0"/>
              <a:t>downlinked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0121CC-93E7-E45D-3013-A93491E338B8}"/>
              </a:ext>
            </a:extLst>
          </p:cNvPr>
          <p:cNvCxnSpPr>
            <a:cxnSpLocks/>
          </p:cNvCxnSpPr>
          <p:nvPr/>
        </p:nvCxnSpPr>
        <p:spPr>
          <a:xfrm flipH="1">
            <a:off x="2984007" y="2008951"/>
            <a:ext cx="0" cy="64008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F0923AF-9227-8929-53BE-CF5C9587003B}"/>
              </a:ext>
            </a:extLst>
          </p:cNvPr>
          <p:cNvSpPr/>
          <p:nvPr/>
        </p:nvSpPr>
        <p:spPr>
          <a:xfrm>
            <a:off x="8047442" y="1766588"/>
            <a:ext cx="2366198" cy="3034640"/>
          </a:xfrm>
          <a:prstGeom prst="rect">
            <a:avLst/>
          </a:prstGeom>
          <a:noFill/>
          <a:ln w="12700">
            <a:solidFill>
              <a:srgbClr val="5A6B86">
                <a:alpha val="5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r>
              <a:rPr lang="en-US" sz="10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Post Processing</a:t>
            </a:r>
          </a:p>
        </p:txBody>
      </p:sp>
      <p:cxnSp>
        <p:nvCxnSpPr>
          <p:cNvPr id="19" name="Straight Arrow Connector 296">
            <a:extLst>
              <a:ext uri="{FF2B5EF4-FFF2-40B4-BE49-F238E27FC236}">
                <a16:creationId xmlns:a16="http://schemas.microsoft.com/office/drawing/2014/main" id="{AFB8F484-FF5F-50A8-A470-980D6F18EF55}"/>
              </a:ext>
            </a:extLst>
          </p:cNvPr>
          <p:cNvCxnSpPr>
            <a:cxnSpLocks/>
            <a:stCxn id="81" idx="2"/>
            <a:endCxn id="10" idx="1"/>
          </p:cNvCxnSpPr>
          <p:nvPr/>
        </p:nvCxnSpPr>
        <p:spPr>
          <a:xfrm rot="5400000" flipH="1" flipV="1">
            <a:off x="5940550" y="2762652"/>
            <a:ext cx="1566767" cy="2813632"/>
          </a:xfrm>
          <a:prstGeom prst="bentConnector4">
            <a:avLst>
              <a:gd name="adj1" fmla="val -14591"/>
              <a:gd name="adj2" fmla="val 94510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9D6C1B3-BA74-8F12-CEF8-9303D3825F7D}"/>
              </a:ext>
            </a:extLst>
          </p:cNvPr>
          <p:cNvSpPr txBox="1"/>
          <p:nvPr/>
        </p:nvSpPr>
        <p:spPr>
          <a:xfrm>
            <a:off x="2984007" y="4658709"/>
            <a:ext cx="1080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Compute: </a:t>
            </a:r>
            <a:r>
              <a:rPr lang="en-US" sz="800" dirty="0" err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Demux</a:t>
            </a:r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/</a:t>
            </a:r>
          </a:p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Decryption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29BF57-7847-BDEE-2EC2-E42E6F5F1ED9}"/>
              </a:ext>
            </a:extLst>
          </p:cNvPr>
          <p:cNvSpPr txBox="1"/>
          <p:nvPr/>
        </p:nvSpPr>
        <p:spPr>
          <a:xfrm>
            <a:off x="2362552" y="1825978"/>
            <a:ext cx="12745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Signal Processing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D4DD6BE9-24F1-AB47-C7CD-B96841868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330" y="1342050"/>
            <a:ext cx="2618699" cy="21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sz="800" dirty="0"/>
              <a:t>Yes – flush buffers or// No – retry image capture</a:t>
            </a:r>
          </a:p>
        </p:txBody>
      </p:sp>
      <p:cxnSp>
        <p:nvCxnSpPr>
          <p:cNvPr id="23" name="Straight Arrow Connector 186">
            <a:extLst>
              <a:ext uri="{FF2B5EF4-FFF2-40B4-BE49-F238E27FC236}">
                <a16:creationId xmlns:a16="http://schemas.microsoft.com/office/drawing/2014/main" id="{CE089509-399F-75D8-725D-543FCF450BBD}"/>
              </a:ext>
            </a:extLst>
          </p:cNvPr>
          <p:cNvCxnSpPr>
            <a:cxnSpLocks/>
            <a:stCxn id="45" idx="3"/>
            <a:endCxn id="15" idx="3"/>
          </p:cNvCxnSpPr>
          <p:nvPr/>
        </p:nvCxnSpPr>
        <p:spPr>
          <a:xfrm flipH="1" flipV="1">
            <a:off x="3366447" y="1539269"/>
            <a:ext cx="4214394" cy="1789212"/>
          </a:xfrm>
          <a:prstGeom prst="bentConnector3">
            <a:avLst>
              <a:gd name="adj1" fmla="val -5424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186">
            <a:extLst>
              <a:ext uri="{FF2B5EF4-FFF2-40B4-BE49-F238E27FC236}">
                <a16:creationId xmlns:a16="http://schemas.microsoft.com/office/drawing/2014/main" id="{54413FDF-0AD7-8B16-A15E-6220D4CAB845}"/>
              </a:ext>
            </a:extLst>
          </p:cNvPr>
          <p:cNvCxnSpPr>
            <a:cxnSpLocks/>
            <a:stCxn id="69" idx="3"/>
            <a:endCxn id="51" idx="1"/>
          </p:cNvCxnSpPr>
          <p:nvPr/>
        </p:nvCxnSpPr>
        <p:spPr>
          <a:xfrm flipV="1">
            <a:off x="4144578" y="2338135"/>
            <a:ext cx="1073268" cy="1991721"/>
          </a:xfrm>
          <a:prstGeom prst="bentConnector3">
            <a:avLst>
              <a:gd name="adj1" fmla="val 27410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Highway scene">
            <a:extLst>
              <a:ext uri="{FF2B5EF4-FFF2-40B4-BE49-F238E27FC236}">
                <a16:creationId xmlns:a16="http://schemas.microsoft.com/office/drawing/2014/main" id="{D169ACA0-D3D8-C14B-7543-6CB331DBAA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9151" y="3088034"/>
            <a:ext cx="310896" cy="310896"/>
          </a:xfrm>
          <a:prstGeom prst="rect">
            <a:avLst/>
          </a:prstGeom>
        </p:spPr>
      </p:pic>
      <p:pic>
        <p:nvPicPr>
          <p:cNvPr id="26" name="Graphic 12">
            <a:extLst>
              <a:ext uri="{FF2B5EF4-FFF2-40B4-BE49-F238E27FC236}">
                <a16:creationId xmlns:a16="http://schemas.microsoft.com/office/drawing/2014/main" id="{428C195B-4893-0F10-A548-9BBF74AB4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67" y="3138579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EED290A-019C-543F-9F64-2ECAEF3261A0}"/>
              </a:ext>
            </a:extLst>
          </p:cNvPr>
          <p:cNvSpPr txBox="1"/>
          <p:nvPr/>
        </p:nvSpPr>
        <p:spPr>
          <a:xfrm>
            <a:off x="8758890" y="3475925"/>
            <a:ext cx="854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Lambda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0352FC-B76F-1CD7-258D-67B977BB40A8}"/>
              </a:ext>
            </a:extLst>
          </p:cNvPr>
          <p:cNvSpPr txBox="1"/>
          <p:nvPr/>
        </p:nvSpPr>
        <p:spPr>
          <a:xfrm>
            <a:off x="8037724" y="3486532"/>
            <a:ext cx="854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</a:t>
            </a:r>
            <a:r>
              <a:rPr lang="en-US" sz="800" dirty="0" err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Fargate</a:t>
            </a:r>
            <a:endParaRPr lang="en-US" sz="8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01ABA3-A51C-2483-9055-DD19BF413279}"/>
              </a:ext>
            </a:extLst>
          </p:cNvPr>
          <p:cNvSpPr txBox="1"/>
          <p:nvPr/>
        </p:nvSpPr>
        <p:spPr>
          <a:xfrm>
            <a:off x="8942860" y="5300429"/>
            <a:ext cx="6377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customer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C9D964-4C4E-6CE6-1E13-F29CF7F00061}"/>
              </a:ext>
            </a:extLst>
          </p:cNvPr>
          <p:cNvSpPr txBox="1"/>
          <p:nvPr/>
        </p:nvSpPr>
        <p:spPr>
          <a:xfrm>
            <a:off x="8308728" y="4348155"/>
            <a:ext cx="868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 Bucket</a:t>
            </a:r>
          </a:p>
        </p:txBody>
      </p:sp>
      <p:cxnSp>
        <p:nvCxnSpPr>
          <p:cNvPr id="31" name="Straight Arrow Connector 296">
            <a:extLst>
              <a:ext uri="{FF2B5EF4-FFF2-40B4-BE49-F238E27FC236}">
                <a16:creationId xmlns:a16="http://schemas.microsoft.com/office/drawing/2014/main" id="{7FDF335D-E5C2-6206-D897-79FB197BB1B6}"/>
              </a:ext>
            </a:extLst>
          </p:cNvPr>
          <p:cNvCxnSpPr>
            <a:cxnSpLocks/>
            <a:stCxn id="10" idx="2"/>
            <a:endCxn id="3" idx="0"/>
          </p:cNvCxnSpPr>
          <p:nvPr/>
        </p:nvCxnSpPr>
        <p:spPr>
          <a:xfrm>
            <a:off x="9257987" y="3742989"/>
            <a:ext cx="3724" cy="30007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19">
            <a:extLst>
              <a:ext uri="{FF2B5EF4-FFF2-40B4-BE49-F238E27FC236}">
                <a16:creationId xmlns:a16="http://schemas.microsoft.com/office/drawing/2014/main" id="{8F5CC56A-DE23-3DA5-90D0-91AA397B6ADD}"/>
              </a:ext>
            </a:extLst>
          </p:cNvPr>
          <p:cNvSpPr/>
          <p:nvPr/>
        </p:nvSpPr>
        <p:spPr>
          <a:xfrm>
            <a:off x="10217046" y="2916307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6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78B048E-0A97-7D92-0F44-BEFCF3321812}"/>
              </a:ext>
            </a:extLst>
          </p:cNvPr>
          <p:cNvGrpSpPr/>
          <p:nvPr/>
        </p:nvGrpSpPr>
        <p:grpSpPr>
          <a:xfrm>
            <a:off x="9397526" y="4950049"/>
            <a:ext cx="253596" cy="234551"/>
            <a:chOff x="9117212" y="4278710"/>
            <a:chExt cx="356620" cy="329837"/>
          </a:xfrm>
        </p:grpSpPr>
        <p:sp>
          <p:nvSpPr>
            <p:cNvPr id="34" name="Rounded Rectangle 197">
              <a:extLst>
                <a:ext uri="{FF2B5EF4-FFF2-40B4-BE49-F238E27FC236}">
                  <a16:creationId xmlns:a16="http://schemas.microsoft.com/office/drawing/2014/main" id="{752612E3-F605-338F-822F-F907C39F2AFA}"/>
                </a:ext>
              </a:extLst>
            </p:cNvPr>
            <p:cNvSpPr/>
            <p:nvPr/>
          </p:nvSpPr>
          <p:spPr>
            <a:xfrm>
              <a:off x="9168599" y="4291010"/>
              <a:ext cx="269822" cy="276411"/>
            </a:xfrm>
            <a:prstGeom prst="roundRect">
              <a:avLst/>
            </a:prstGeom>
            <a:solidFill>
              <a:srgbClr val="007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68869AD-8596-5091-34CC-3976F3009986}"/>
                </a:ext>
              </a:extLst>
            </p:cNvPr>
            <p:cNvSpPr txBox="1"/>
            <p:nvPr/>
          </p:nvSpPr>
          <p:spPr>
            <a:xfrm>
              <a:off x="9117212" y="4278710"/>
              <a:ext cx="356620" cy="329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24" b="1" dirty="0">
                  <a:solidFill>
                    <a:schemeClr val="bg1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8</a:t>
              </a:r>
            </a:p>
          </p:txBody>
        </p:sp>
      </p:grpSp>
      <p:pic>
        <p:nvPicPr>
          <p:cNvPr id="36" name="Graphic 63">
            <a:extLst>
              <a:ext uri="{FF2B5EF4-FFF2-40B4-BE49-F238E27FC236}">
                <a16:creationId xmlns:a16="http://schemas.microsoft.com/office/drawing/2014/main" id="{AC24D91B-0159-CA08-31F2-EE175A01F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745" y="4086950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Graphic 14">
            <a:extLst>
              <a:ext uri="{FF2B5EF4-FFF2-40B4-BE49-F238E27FC236}">
                <a16:creationId xmlns:a16="http://schemas.microsoft.com/office/drawing/2014/main" id="{6B5349CE-60EC-81F6-E028-9684E7968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1308" y="3138579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Graphic 6">
            <a:extLst>
              <a:ext uri="{FF2B5EF4-FFF2-40B4-BE49-F238E27FC236}">
                <a16:creationId xmlns:a16="http://schemas.microsoft.com/office/drawing/2014/main" id="{DB62910F-D18E-6DC2-7812-AAC3F5C70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 flipH="1">
            <a:off x="9106262" y="4993819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Straight Arrow Connector 296">
            <a:extLst>
              <a:ext uri="{FF2B5EF4-FFF2-40B4-BE49-F238E27FC236}">
                <a16:creationId xmlns:a16="http://schemas.microsoft.com/office/drawing/2014/main" id="{26DD263F-2A93-F8E0-A478-70B2007D1F6D}"/>
              </a:ext>
            </a:extLst>
          </p:cNvPr>
          <p:cNvCxnSpPr>
            <a:cxnSpLocks/>
            <a:stCxn id="3" idx="2"/>
            <a:endCxn id="38" idx="0"/>
          </p:cNvCxnSpPr>
          <p:nvPr/>
        </p:nvCxnSpPr>
        <p:spPr>
          <a:xfrm flipH="1">
            <a:off x="9261710" y="4670306"/>
            <a:ext cx="1" cy="323513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12">
            <a:extLst>
              <a:ext uri="{FF2B5EF4-FFF2-40B4-BE49-F238E27FC236}">
                <a16:creationId xmlns:a16="http://schemas.microsoft.com/office/drawing/2014/main" id="{174A1C51-26AB-8B5F-BAAF-9E0F009DE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339" y="2881930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15369A9-FF5B-B4B8-0431-5D19E6356576}"/>
              </a:ext>
            </a:extLst>
          </p:cNvPr>
          <p:cNvSpPr txBox="1"/>
          <p:nvPr/>
        </p:nvSpPr>
        <p:spPr>
          <a:xfrm>
            <a:off x="5391816" y="3229750"/>
            <a:ext cx="854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Lambda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5F90AE-47FA-3DCE-F139-E5E6341FA374}"/>
              </a:ext>
            </a:extLst>
          </p:cNvPr>
          <p:cNvSpPr txBox="1"/>
          <p:nvPr/>
        </p:nvSpPr>
        <p:spPr>
          <a:xfrm>
            <a:off x="4685212" y="3229750"/>
            <a:ext cx="8097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</a:t>
            </a:r>
            <a:r>
              <a:rPr lang="en-US" sz="800" dirty="0" err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Fargate</a:t>
            </a:r>
            <a:endParaRPr lang="en-US" sz="8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67831D-3FD7-80D4-F868-13990CDED515}"/>
              </a:ext>
            </a:extLst>
          </p:cNvPr>
          <p:cNvSpPr txBox="1"/>
          <p:nvPr/>
        </p:nvSpPr>
        <p:spPr>
          <a:xfrm>
            <a:off x="6746735" y="3142004"/>
            <a:ext cx="719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Process Raw Images and Perform QA Review</a:t>
            </a:r>
          </a:p>
        </p:txBody>
      </p:sp>
      <p:pic>
        <p:nvPicPr>
          <p:cNvPr id="44" name="Graphic 43" descr="Image">
            <a:extLst>
              <a:ext uri="{FF2B5EF4-FFF2-40B4-BE49-F238E27FC236}">
                <a16:creationId xmlns:a16="http://schemas.microsoft.com/office/drawing/2014/main" id="{F5B62E09-A75C-0B2D-30E7-5DBDAEB19A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34832" y="2881930"/>
            <a:ext cx="310896" cy="310896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9B8502E-2AF2-7E6C-57F7-9AA9AC4ADB07}"/>
              </a:ext>
            </a:extLst>
          </p:cNvPr>
          <p:cNvSpPr/>
          <p:nvPr/>
        </p:nvSpPr>
        <p:spPr>
          <a:xfrm>
            <a:off x="4711733" y="2807072"/>
            <a:ext cx="2869108" cy="104281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BFC8FC-1209-945F-8B45-00A7D9AEE748}"/>
              </a:ext>
            </a:extLst>
          </p:cNvPr>
          <p:cNvSpPr txBox="1"/>
          <p:nvPr/>
        </p:nvSpPr>
        <p:spPr>
          <a:xfrm>
            <a:off x="6127621" y="3229750"/>
            <a:ext cx="7041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Batch</a:t>
            </a:r>
          </a:p>
        </p:txBody>
      </p:sp>
      <p:sp>
        <p:nvSpPr>
          <p:cNvPr id="47" name="Rounded Rectangle 134">
            <a:extLst>
              <a:ext uri="{FF2B5EF4-FFF2-40B4-BE49-F238E27FC236}">
                <a16:creationId xmlns:a16="http://schemas.microsoft.com/office/drawing/2014/main" id="{5CB4D3AA-DF89-405D-8FFD-B9318DA98DEE}"/>
              </a:ext>
            </a:extLst>
          </p:cNvPr>
          <p:cNvSpPr/>
          <p:nvPr/>
        </p:nvSpPr>
        <p:spPr>
          <a:xfrm>
            <a:off x="7448453" y="2711656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3</a:t>
            </a:r>
          </a:p>
        </p:txBody>
      </p:sp>
      <p:pic>
        <p:nvPicPr>
          <p:cNvPr id="48" name="Graphic 6">
            <a:extLst>
              <a:ext uri="{FF2B5EF4-FFF2-40B4-BE49-F238E27FC236}">
                <a16:creationId xmlns:a16="http://schemas.microsoft.com/office/drawing/2014/main" id="{E5CA53DA-8D96-565C-8289-E1D413614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028" y="2881930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Graphic 14">
            <a:extLst>
              <a:ext uri="{FF2B5EF4-FFF2-40B4-BE49-F238E27FC236}">
                <a16:creationId xmlns:a16="http://schemas.microsoft.com/office/drawing/2014/main" id="{F13EAD1C-B24B-D277-0B10-D2C17CA2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4644" y="2881930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DE2148C-D632-4FBE-AC15-DB155F3DCFDA}"/>
              </a:ext>
            </a:extLst>
          </p:cNvPr>
          <p:cNvSpPr txBox="1"/>
          <p:nvPr/>
        </p:nvSpPr>
        <p:spPr>
          <a:xfrm>
            <a:off x="5225768" y="2342194"/>
            <a:ext cx="713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 Bucket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A16D4D-7D3C-220A-B3FA-23CB1887AED6}"/>
              </a:ext>
            </a:extLst>
          </p:cNvPr>
          <p:cNvSpPr/>
          <p:nvPr/>
        </p:nvSpPr>
        <p:spPr>
          <a:xfrm>
            <a:off x="5217846" y="2008951"/>
            <a:ext cx="1862309" cy="65836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52" name="Graphic 63">
            <a:extLst>
              <a:ext uri="{FF2B5EF4-FFF2-40B4-BE49-F238E27FC236}">
                <a16:creationId xmlns:a16="http://schemas.microsoft.com/office/drawing/2014/main" id="{3F82877E-6B7B-EF79-EDFB-C20C7D925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959" y="2058510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Graphic 52" descr="Image">
            <a:extLst>
              <a:ext uri="{FF2B5EF4-FFF2-40B4-BE49-F238E27FC236}">
                <a16:creationId xmlns:a16="http://schemas.microsoft.com/office/drawing/2014/main" id="{7076FFE3-D5C9-0556-A55D-A2809FC9BD3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78826" y="2050590"/>
            <a:ext cx="310896" cy="310896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59377D6-7AE5-357B-16F1-23B6AEB5BAD8}"/>
              </a:ext>
            </a:extLst>
          </p:cNvPr>
          <p:cNvSpPr txBox="1"/>
          <p:nvPr/>
        </p:nvSpPr>
        <p:spPr>
          <a:xfrm>
            <a:off x="5927828" y="2330870"/>
            <a:ext cx="1168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store raw images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3168CFA-C230-56A3-21F0-8AB215251340}"/>
              </a:ext>
            </a:extLst>
          </p:cNvPr>
          <p:cNvCxnSpPr>
            <a:cxnSpLocks/>
            <a:stCxn id="51" idx="2"/>
            <a:endCxn id="45" idx="0"/>
          </p:cNvCxnSpPr>
          <p:nvPr/>
        </p:nvCxnSpPr>
        <p:spPr>
          <a:xfrm flipH="1">
            <a:off x="6146287" y="2667319"/>
            <a:ext cx="2714" cy="139753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6">
            <a:extLst>
              <a:ext uri="{FF2B5EF4-FFF2-40B4-BE49-F238E27FC236}">
                <a16:creationId xmlns:a16="http://schemas.microsoft.com/office/drawing/2014/main" id="{41BC2C49-7D2E-09D9-9FD3-5CC2489F0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115" y="3872064"/>
            <a:ext cx="351087" cy="21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sz="800" dirty="0"/>
              <a:t>Yes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0724419-C0BF-7219-E9AF-808DDC5031B1}"/>
              </a:ext>
            </a:extLst>
          </p:cNvPr>
          <p:cNvGrpSpPr/>
          <p:nvPr/>
        </p:nvGrpSpPr>
        <p:grpSpPr>
          <a:xfrm>
            <a:off x="3451916" y="4335554"/>
            <a:ext cx="310896" cy="310896"/>
            <a:chOff x="1635778" y="3664902"/>
            <a:chExt cx="360885" cy="343522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F0206DB-34B5-0901-6F3F-D0A72E862205}"/>
                </a:ext>
              </a:extLst>
            </p:cNvPr>
            <p:cNvSpPr/>
            <p:nvPr/>
          </p:nvSpPr>
          <p:spPr>
            <a:xfrm>
              <a:off x="1635778" y="3664902"/>
              <a:ext cx="360885" cy="343522"/>
            </a:xfrm>
            <a:prstGeom prst="rect">
              <a:avLst/>
            </a:prstGeom>
            <a:noFill/>
            <a:ln w="952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57">
                <a:solidFill>
                  <a:schemeClr val="tx1"/>
                </a:solidFill>
              </a:endParaRPr>
            </a:p>
          </p:txBody>
        </p:sp>
        <p:sp>
          <p:nvSpPr>
            <p:cNvPr id="59" name="Freeform 86">
              <a:extLst>
                <a:ext uri="{FF2B5EF4-FFF2-40B4-BE49-F238E27FC236}">
                  <a16:creationId xmlns:a16="http://schemas.microsoft.com/office/drawing/2014/main" id="{6AB669E7-8CEC-DB26-8A00-47B3B5048AD3}"/>
                </a:ext>
              </a:extLst>
            </p:cNvPr>
            <p:cNvSpPr/>
            <p:nvPr/>
          </p:nvSpPr>
          <p:spPr>
            <a:xfrm rot="17443445">
              <a:off x="1681649" y="3746257"/>
              <a:ext cx="276137" cy="224201"/>
            </a:xfrm>
            <a:custGeom>
              <a:avLst/>
              <a:gdLst>
                <a:gd name="connsiteX0" fmla="*/ 0 w 3962400"/>
                <a:gd name="connsiteY0" fmla="*/ 180644 h 2835831"/>
                <a:gd name="connsiteX1" fmla="*/ 3657600 w 3962400"/>
                <a:gd name="connsiteY1" fmla="*/ 214510 h 2835831"/>
                <a:gd name="connsiteX2" fmla="*/ 835378 w 3962400"/>
                <a:gd name="connsiteY2" fmla="*/ 2325532 h 2835831"/>
                <a:gd name="connsiteX3" fmla="*/ 3962400 w 3962400"/>
                <a:gd name="connsiteY3" fmla="*/ 2833532 h 283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2400" h="2835831">
                  <a:moveTo>
                    <a:pt x="0" y="180644"/>
                  </a:moveTo>
                  <a:cubicBezTo>
                    <a:pt x="1759185" y="18836"/>
                    <a:pt x="3518370" y="-142971"/>
                    <a:pt x="3657600" y="214510"/>
                  </a:cubicBezTo>
                  <a:cubicBezTo>
                    <a:pt x="3796830" y="571991"/>
                    <a:pt x="784578" y="1889028"/>
                    <a:pt x="835378" y="2325532"/>
                  </a:cubicBezTo>
                  <a:cubicBezTo>
                    <a:pt x="886178" y="2762036"/>
                    <a:pt x="3413007" y="2852347"/>
                    <a:pt x="3962400" y="2833532"/>
                  </a:cubicBezTo>
                </a:path>
              </a:pathLst>
            </a:custGeom>
            <a:noFill/>
            <a:ln w="952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57">
                <a:solidFill>
                  <a:schemeClr val="tx1"/>
                </a:solidFill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A8045943-AD07-70DD-0ABF-FF292FEB0ACA}"/>
              </a:ext>
            </a:extLst>
          </p:cNvPr>
          <p:cNvSpPr txBox="1"/>
          <p:nvPr/>
        </p:nvSpPr>
        <p:spPr>
          <a:xfrm>
            <a:off x="1853409" y="3959756"/>
            <a:ext cx="13972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EC2 instance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1AC3DFB-ECB0-2413-D1CC-820C790E60EC}"/>
              </a:ext>
            </a:extLst>
          </p:cNvPr>
          <p:cNvSpPr/>
          <p:nvPr/>
        </p:nvSpPr>
        <p:spPr>
          <a:xfrm>
            <a:off x="1859440" y="2661199"/>
            <a:ext cx="2285140" cy="72583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62" name="Graphic 11">
            <a:extLst>
              <a:ext uri="{FF2B5EF4-FFF2-40B4-BE49-F238E27FC236}">
                <a16:creationId xmlns:a16="http://schemas.microsoft.com/office/drawing/2014/main" id="{572C1FDF-B7F5-1E69-FEE5-4B9A5EC18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561" y="2742994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" name="TextBox 6">
            <a:extLst>
              <a:ext uri="{FF2B5EF4-FFF2-40B4-BE49-F238E27FC236}">
                <a16:creationId xmlns:a16="http://schemas.microsoft.com/office/drawing/2014/main" id="{9E38AFAB-9C0D-D190-290B-11B055811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629" y="3047990"/>
            <a:ext cx="1262761" cy="21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/>
              <a:t>AWS Ground Station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32BB74-F50D-70B5-6205-C1431E7D0603}"/>
              </a:ext>
            </a:extLst>
          </p:cNvPr>
          <p:cNvSpPr txBox="1"/>
          <p:nvPr/>
        </p:nvSpPr>
        <p:spPr>
          <a:xfrm>
            <a:off x="3142749" y="3053322"/>
            <a:ext cx="956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Demodulation/</a:t>
            </a:r>
            <a:b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Decode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3F961EE-6228-B26D-A590-97C6981FBD84}"/>
              </a:ext>
            </a:extLst>
          </p:cNvPr>
          <p:cNvCxnSpPr>
            <a:cxnSpLocks/>
            <a:stCxn id="61" idx="2"/>
            <a:endCxn id="69" idx="0"/>
          </p:cNvCxnSpPr>
          <p:nvPr/>
        </p:nvCxnSpPr>
        <p:spPr>
          <a:xfrm flipH="1">
            <a:off x="3002009" y="3387030"/>
            <a:ext cx="1" cy="199939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D3770C1-4B1B-D072-9602-AB0CCB6DB43A}"/>
              </a:ext>
            </a:extLst>
          </p:cNvPr>
          <p:cNvSpPr txBox="1"/>
          <p:nvPr/>
        </p:nvSpPr>
        <p:spPr>
          <a:xfrm>
            <a:off x="3257968" y="4019960"/>
            <a:ext cx="7261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Record bits</a:t>
            </a:r>
          </a:p>
        </p:txBody>
      </p:sp>
      <p:sp>
        <p:nvSpPr>
          <p:cNvPr id="67" name="Rounded Rectangle 15">
            <a:extLst>
              <a:ext uri="{FF2B5EF4-FFF2-40B4-BE49-F238E27FC236}">
                <a16:creationId xmlns:a16="http://schemas.microsoft.com/office/drawing/2014/main" id="{AD38B687-F5DB-26A9-5915-6A18C0C3AFBD}"/>
              </a:ext>
            </a:extLst>
          </p:cNvPr>
          <p:cNvSpPr/>
          <p:nvPr/>
        </p:nvSpPr>
        <p:spPr>
          <a:xfrm>
            <a:off x="4044846" y="2553923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</a:t>
            </a:r>
          </a:p>
        </p:txBody>
      </p:sp>
      <p:pic>
        <p:nvPicPr>
          <p:cNvPr id="68" name="Graphic 17">
            <a:extLst>
              <a:ext uri="{FF2B5EF4-FFF2-40B4-BE49-F238E27FC236}">
                <a16:creationId xmlns:a16="http://schemas.microsoft.com/office/drawing/2014/main" id="{534C70EE-52F1-4E5B-1869-081AA6111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561" y="3673687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424E9BE4-A96F-187A-BAA1-B14D67AFF93F}"/>
              </a:ext>
            </a:extLst>
          </p:cNvPr>
          <p:cNvSpPr/>
          <p:nvPr/>
        </p:nvSpPr>
        <p:spPr>
          <a:xfrm>
            <a:off x="1859439" y="3586969"/>
            <a:ext cx="2285139" cy="1485773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B83873C-40A7-BDE8-5B59-353C799E2F69}"/>
              </a:ext>
            </a:extLst>
          </p:cNvPr>
          <p:cNvGrpSpPr/>
          <p:nvPr/>
        </p:nvGrpSpPr>
        <p:grpSpPr>
          <a:xfrm>
            <a:off x="3465594" y="2742994"/>
            <a:ext cx="310896" cy="310896"/>
            <a:chOff x="1635778" y="3664902"/>
            <a:chExt cx="360885" cy="343522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086CBFC-1D75-9A41-FA17-A2786FD61C19}"/>
                </a:ext>
              </a:extLst>
            </p:cNvPr>
            <p:cNvSpPr/>
            <p:nvPr/>
          </p:nvSpPr>
          <p:spPr>
            <a:xfrm>
              <a:off x="1635778" y="3664902"/>
              <a:ext cx="360885" cy="343522"/>
            </a:xfrm>
            <a:prstGeom prst="rect">
              <a:avLst/>
            </a:prstGeom>
            <a:noFill/>
            <a:ln w="952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57">
                <a:solidFill>
                  <a:schemeClr val="tx1"/>
                </a:solidFill>
              </a:endParaRPr>
            </a:p>
          </p:txBody>
        </p:sp>
        <p:sp>
          <p:nvSpPr>
            <p:cNvPr id="73" name="Freeform 86">
              <a:extLst>
                <a:ext uri="{FF2B5EF4-FFF2-40B4-BE49-F238E27FC236}">
                  <a16:creationId xmlns:a16="http://schemas.microsoft.com/office/drawing/2014/main" id="{9F3BD47C-3312-3888-1B4F-9AF43222275C}"/>
                </a:ext>
              </a:extLst>
            </p:cNvPr>
            <p:cNvSpPr/>
            <p:nvPr/>
          </p:nvSpPr>
          <p:spPr>
            <a:xfrm rot="17443445">
              <a:off x="1681649" y="3746257"/>
              <a:ext cx="276137" cy="224201"/>
            </a:xfrm>
            <a:custGeom>
              <a:avLst/>
              <a:gdLst>
                <a:gd name="connsiteX0" fmla="*/ 0 w 3962400"/>
                <a:gd name="connsiteY0" fmla="*/ 180644 h 2835831"/>
                <a:gd name="connsiteX1" fmla="*/ 3657600 w 3962400"/>
                <a:gd name="connsiteY1" fmla="*/ 214510 h 2835831"/>
                <a:gd name="connsiteX2" fmla="*/ 835378 w 3962400"/>
                <a:gd name="connsiteY2" fmla="*/ 2325532 h 2835831"/>
                <a:gd name="connsiteX3" fmla="*/ 3962400 w 3962400"/>
                <a:gd name="connsiteY3" fmla="*/ 2833532 h 283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2400" h="2835831">
                  <a:moveTo>
                    <a:pt x="0" y="180644"/>
                  </a:moveTo>
                  <a:cubicBezTo>
                    <a:pt x="1759185" y="18836"/>
                    <a:pt x="3518370" y="-142971"/>
                    <a:pt x="3657600" y="214510"/>
                  </a:cubicBezTo>
                  <a:cubicBezTo>
                    <a:pt x="3796830" y="571991"/>
                    <a:pt x="784578" y="1889028"/>
                    <a:pt x="835378" y="2325532"/>
                  </a:cubicBezTo>
                  <a:cubicBezTo>
                    <a:pt x="886178" y="2762036"/>
                    <a:pt x="3413007" y="2852347"/>
                    <a:pt x="3962400" y="2833532"/>
                  </a:cubicBezTo>
                </a:path>
              </a:pathLst>
            </a:custGeom>
            <a:noFill/>
            <a:ln w="952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57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77DBB1C-CD96-A92F-4AB8-5A2E041008AF}"/>
              </a:ext>
            </a:extLst>
          </p:cNvPr>
          <p:cNvGrpSpPr/>
          <p:nvPr/>
        </p:nvGrpSpPr>
        <p:grpSpPr>
          <a:xfrm>
            <a:off x="3465594" y="3701827"/>
            <a:ext cx="310896" cy="310896"/>
            <a:chOff x="1635778" y="3664902"/>
            <a:chExt cx="360885" cy="343522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FEDC876-341A-C6DC-AAD4-15CC7C984A5B}"/>
                </a:ext>
              </a:extLst>
            </p:cNvPr>
            <p:cNvSpPr/>
            <p:nvPr/>
          </p:nvSpPr>
          <p:spPr>
            <a:xfrm>
              <a:off x="1635778" y="3664902"/>
              <a:ext cx="360885" cy="343522"/>
            </a:xfrm>
            <a:prstGeom prst="rect">
              <a:avLst/>
            </a:prstGeom>
            <a:noFill/>
            <a:ln w="952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57">
                <a:solidFill>
                  <a:schemeClr val="tx1"/>
                </a:solidFill>
              </a:endParaRPr>
            </a:p>
          </p:txBody>
        </p:sp>
        <p:sp>
          <p:nvSpPr>
            <p:cNvPr id="76" name="Freeform 86">
              <a:extLst>
                <a:ext uri="{FF2B5EF4-FFF2-40B4-BE49-F238E27FC236}">
                  <a16:creationId xmlns:a16="http://schemas.microsoft.com/office/drawing/2014/main" id="{2435CE8F-0218-1D6B-AD10-A7665AEBB81A}"/>
                </a:ext>
              </a:extLst>
            </p:cNvPr>
            <p:cNvSpPr/>
            <p:nvPr/>
          </p:nvSpPr>
          <p:spPr>
            <a:xfrm rot="17443445">
              <a:off x="1681649" y="3746257"/>
              <a:ext cx="276137" cy="224201"/>
            </a:xfrm>
            <a:custGeom>
              <a:avLst/>
              <a:gdLst>
                <a:gd name="connsiteX0" fmla="*/ 0 w 3962400"/>
                <a:gd name="connsiteY0" fmla="*/ 180644 h 2835831"/>
                <a:gd name="connsiteX1" fmla="*/ 3657600 w 3962400"/>
                <a:gd name="connsiteY1" fmla="*/ 214510 h 2835831"/>
                <a:gd name="connsiteX2" fmla="*/ 835378 w 3962400"/>
                <a:gd name="connsiteY2" fmla="*/ 2325532 h 2835831"/>
                <a:gd name="connsiteX3" fmla="*/ 3962400 w 3962400"/>
                <a:gd name="connsiteY3" fmla="*/ 2833532 h 283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2400" h="2835831">
                  <a:moveTo>
                    <a:pt x="0" y="180644"/>
                  </a:moveTo>
                  <a:cubicBezTo>
                    <a:pt x="1759185" y="18836"/>
                    <a:pt x="3518370" y="-142971"/>
                    <a:pt x="3657600" y="214510"/>
                  </a:cubicBezTo>
                  <a:cubicBezTo>
                    <a:pt x="3796830" y="571991"/>
                    <a:pt x="784578" y="1889028"/>
                    <a:pt x="835378" y="2325532"/>
                  </a:cubicBezTo>
                  <a:cubicBezTo>
                    <a:pt x="886178" y="2762036"/>
                    <a:pt x="3413007" y="2852347"/>
                    <a:pt x="3962400" y="2833532"/>
                  </a:cubicBezTo>
                </a:path>
              </a:pathLst>
            </a:custGeom>
            <a:noFill/>
            <a:ln w="952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57">
                <a:solidFill>
                  <a:schemeClr val="tx1"/>
                </a:solidFill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8B75BD9E-138F-3585-8DA9-06597175994B}"/>
              </a:ext>
            </a:extLst>
          </p:cNvPr>
          <p:cNvSpPr txBox="1"/>
          <p:nvPr/>
        </p:nvSpPr>
        <p:spPr>
          <a:xfrm>
            <a:off x="4501152" y="4569476"/>
            <a:ext cx="705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 Bucket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9CE556F-2CA4-6275-2DFC-EFD2644A6611}"/>
              </a:ext>
            </a:extLst>
          </p:cNvPr>
          <p:cNvSpPr txBox="1"/>
          <p:nvPr/>
        </p:nvSpPr>
        <p:spPr>
          <a:xfrm>
            <a:off x="6037984" y="4569476"/>
            <a:ext cx="1034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DynamoDB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100F729-B47C-301E-8491-3086583B9856}"/>
              </a:ext>
            </a:extLst>
          </p:cNvPr>
          <p:cNvSpPr txBox="1"/>
          <p:nvPr/>
        </p:nvSpPr>
        <p:spPr>
          <a:xfrm>
            <a:off x="5666250" y="5710313"/>
            <a:ext cx="746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 Glacier</a:t>
            </a:r>
          </a:p>
        </p:txBody>
      </p:sp>
      <p:cxnSp>
        <p:nvCxnSpPr>
          <p:cNvPr id="80" name="Straight Arrow Connector 171">
            <a:extLst>
              <a:ext uri="{FF2B5EF4-FFF2-40B4-BE49-F238E27FC236}">
                <a16:creationId xmlns:a16="http://schemas.microsoft.com/office/drawing/2014/main" id="{FF9BEDFA-253C-70FA-C7DF-68FBB4D700DC}"/>
              </a:ext>
            </a:extLst>
          </p:cNvPr>
          <p:cNvCxnSpPr>
            <a:cxnSpLocks/>
            <a:stCxn id="45" idx="2"/>
            <a:endCxn id="81" idx="0"/>
          </p:cNvCxnSpPr>
          <p:nvPr/>
        </p:nvCxnSpPr>
        <p:spPr>
          <a:xfrm rot="5400000">
            <a:off x="5561091" y="3605918"/>
            <a:ext cx="341225" cy="829169"/>
          </a:xfrm>
          <a:prstGeom prst="bentConnector3">
            <a:avLst>
              <a:gd name="adj1" fmla="val 50000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9AD6C2CB-CBD4-CB54-A4B3-01155CC4E830}"/>
              </a:ext>
            </a:extLst>
          </p:cNvPr>
          <p:cNvSpPr/>
          <p:nvPr/>
        </p:nvSpPr>
        <p:spPr>
          <a:xfrm>
            <a:off x="4516540" y="4191115"/>
            <a:ext cx="1601155" cy="76173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8FE1E13-6995-E552-2606-D2515F3A6606}"/>
              </a:ext>
            </a:extLst>
          </p:cNvPr>
          <p:cNvSpPr/>
          <p:nvPr/>
        </p:nvSpPr>
        <p:spPr>
          <a:xfrm>
            <a:off x="6170912" y="4191115"/>
            <a:ext cx="1618750" cy="75219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cxnSp>
        <p:nvCxnSpPr>
          <p:cNvPr id="83" name="Straight Arrow Connector 171">
            <a:extLst>
              <a:ext uri="{FF2B5EF4-FFF2-40B4-BE49-F238E27FC236}">
                <a16:creationId xmlns:a16="http://schemas.microsoft.com/office/drawing/2014/main" id="{F3EC9008-0127-A7D7-B91C-6F9138AF9225}"/>
              </a:ext>
            </a:extLst>
          </p:cNvPr>
          <p:cNvCxnSpPr>
            <a:cxnSpLocks/>
            <a:stCxn id="45" idx="2"/>
            <a:endCxn id="82" idx="0"/>
          </p:cNvCxnSpPr>
          <p:nvPr/>
        </p:nvCxnSpPr>
        <p:spPr>
          <a:xfrm rot="16200000" flipH="1">
            <a:off x="6392675" y="3603502"/>
            <a:ext cx="341225" cy="834000"/>
          </a:xfrm>
          <a:prstGeom prst="bentConnector3">
            <a:avLst>
              <a:gd name="adj1" fmla="val 50000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461B1DF7-A0F9-CCB8-7A0B-F3AD115735E6}"/>
              </a:ext>
            </a:extLst>
          </p:cNvPr>
          <p:cNvSpPr txBox="1"/>
          <p:nvPr/>
        </p:nvSpPr>
        <p:spPr>
          <a:xfrm>
            <a:off x="6984352" y="4547405"/>
            <a:ext cx="953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store </a:t>
            </a:r>
          </a:p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metadata</a:t>
            </a:r>
          </a:p>
        </p:txBody>
      </p:sp>
      <p:pic>
        <p:nvPicPr>
          <p:cNvPr id="85" name="Graphic 23">
            <a:extLst>
              <a:ext uri="{FF2B5EF4-FFF2-40B4-BE49-F238E27FC236}">
                <a16:creationId xmlns:a16="http://schemas.microsoft.com/office/drawing/2014/main" id="{163383CB-56C3-B11B-D2D5-024068168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961" y="4251606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E27619FE-6C88-ADD2-1B1D-F4B9D4842515}"/>
              </a:ext>
            </a:extLst>
          </p:cNvPr>
          <p:cNvSpPr txBox="1"/>
          <p:nvPr/>
        </p:nvSpPr>
        <p:spPr>
          <a:xfrm>
            <a:off x="5028913" y="4512563"/>
            <a:ext cx="10762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Store preprocessed images</a:t>
            </a:r>
          </a:p>
        </p:txBody>
      </p:sp>
      <p:pic>
        <p:nvPicPr>
          <p:cNvPr id="87" name="Graphic 86" descr="Image">
            <a:extLst>
              <a:ext uri="{FF2B5EF4-FFF2-40B4-BE49-F238E27FC236}">
                <a16:creationId xmlns:a16="http://schemas.microsoft.com/office/drawing/2014/main" id="{B7C00155-E573-898E-EFC1-E447BD39B23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53642" y="4214820"/>
            <a:ext cx="310896" cy="310896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1654BD7F-39F6-42F2-58DA-5C5BD4795F07}"/>
              </a:ext>
            </a:extLst>
          </p:cNvPr>
          <p:cNvSpPr txBox="1"/>
          <p:nvPr/>
        </p:nvSpPr>
        <p:spPr>
          <a:xfrm>
            <a:off x="4592263" y="5644633"/>
            <a:ext cx="1115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 Glacier Deep Archive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D160C38-4CA1-C252-19D7-7581C71919D0}"/>
              </a:ext>
            </a:extLst>
          </p:cNvPr>
          <p:cNvSpPr/>
          <p:nvPr/>
        </p:nvSpPr>
        <p:spPr>
          <a:xfrm>
            <a:off x="4471960" y="5355871"/>
            <a:ext cx="3304762" cy="63179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90" name="Graphic 89" descr="Image">
            <a:extLst>
              <a:ext uri="{FF2B5EF4-FFF2-40B4-BE49-F238E27FC236}">
                <a16:creationId xmlns:a16="http://schemas.microsoft.com/office/drawing/2014/main" id="{86D59733-46EE-03C2-7E5B-F0773A8885B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73959" y="5375138"/>
            <a:ext cx="310896" cy="310896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544485E9-6E81-3BE5-9323-964CF83424C3}"/>
              </a:ext>
            </a:extLst>
          </p:cNvPr>
          <p:cNvSpPr txBox="1"/>
          <p:nvPr/>
        </p:nvSpPr>
        <p:spPr>
          <a:xfrm>
            <a:off x="6422222" y="5675013"/>
            <a:ext cx="14237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store preprocessed image with placement tags</a:t>
            </a:r>
          </a:p>
        </p:txBody>
      </p:sp>
      <p:cxnSp>
        <p:nvCxnSpPr>
          <p:cNvPr id="92" name="Straight Arrow Connector 278">
            <a:extLst>
              <a:ext uri="{FF2B5EF4-FFF2-40B4-BE49-F238E27FC236}">
                <a16:creationId xmlns:a16="http://schemas.microsoft.com/office/drawing/2014/main" id="{60C79BEE-D291-20BE-893F-5DA5B0732C5E}"/>
              </a:ext>
            </a:extLst>
          </p:cNvPr>
          <p:cNvCxnSpPr>
            <a:cxnSpLocks/>
            <a:stCxn id="81" idx="2"/>
            <a:endCxn id="89" idx="0"/>
          </p:cNvCxnSpPr>
          <p:nvPr/>
        </p:nvCxnSpPr>
        <p:spPr>
          <a:xfrm rot="16200000" flipH="1">
            <a:off x="5519219" y="4750749"/>
            <a:ext cx="403020" cy="807223"/>
          </a:xfrm>
          <a:prstGeom prst="bentConnector3">
            <a:avLst>
              <a:gd name="adj1" fmla="val 55893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Graphic 92" descr="Table">
            <a:extLst>
              <a:ext uri="{FF2B5EF4-FFF2-40B4-BE49-F238E27FC236}">
                <a16:creationId xmlns:a16="http://schemas.microsoft.com/office/drawing/2014/main" id="{BB3A6E37-311B-6DA5-B1E3-6F3F2C1F129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07088" y="4251606"/>
            <a:ext cx="310896" cy="310896"/>
          </a:xfrm>
          <a:prstGeom prst="rect">
            <a:avLst/>
          </a:prstGeom>
        </p:spPr>
      </p:pic>
      <p:sp>
        <p:nvSpPr>
          <p:cNvPr id="94" name="Rounded Rectangle 19">
            <a:extLst>
              <a:ext uri="{FF2B5EF4-FFF2-40B4-BE49-F238E27FC236}">
                <a16:creationId xmlns:a16="http://schemas.microsoft.com/office/drawing/2014/main" id="{DD6CBD67-9978-D4B8-BA7B-26648D15A5B6}"/>
              </a:ext>
            </a:extLst>
          </p:cNvPr>
          <p:cNvSpPr/>
          <p:nvPr/>
        </p:nvSpPr>
        <p:spPr>
          <a:xfrm>
            <a:off x="7694355" y="4113144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4</a:t>
            </a:r>
          </a:p>
        </p:txBody>
      </p:sp>
      <p:pic>
        <p:nvPicPr>
          <p:cNvPr id="95" name="Graphic 66">
            <a:extLst>
              <a:ext uri="{FF2B5EF4-FFF2-40B4-BE49-F238E27FC236}">
                <a16:creationId xmlns:a16="http://schemas.microsoft.com/office/drawing/2014/main" id="{36B5D803-6BAD-E1C9-C1B5-7347932D6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182" y="5383963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" name="Graphic 65">
            <a:extLst>
              <a:ext uri="{FF2B5EF4-FFF2-40B4-BE49-F238E27FC236}">
                <a16:creationId xmlns:a16="http://schemas.microsoft.com/office/drawing/2014/main" id="{0020864D-814A-E27E-E4EF-9C94FF76A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352" y="5373477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" name="Graphic 63">
            <a:extLst>
              <a:ext uri="{FF2B5EF4-FFF2-40B4-BE49-F238E27FC236}">
                <a16:creationId xmlns:a16="http://schemas.microsoft.com/office/drawing/2014/main" id="{C70BDB6A-035A-1C76-E8D4-F26E8E8CD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9" y="4243126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" name="Rounded Rectangle 15">
            <a:extLst>
              <a:ext uri="{FF2B5EF4-FFF2-40B4-BE49-F238E27FC236}">
                <a16:creationId xmlns:a16="http://schemas.microsoft.com/office/drawing/2014/main" id="{3B8215B7-6B30-47AF-9A82-BA25A5DD49B7}"/>
              </a:ext>
            </a:extLst>
          </p:cNvPr>
          <p:cNvSpPr/>
          <p:nvPr/>
        </p:nvSpPr>
        <p:spPr>
          <a:xfrm>
            <a:off x="4028162" y="3496833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</a:t>
            </a:r>
          </a:p>
        </p:txBody>
      </p:sp>
      <p:sp>
        <p:nvSpPr>
          <p:cNvPr id="99" name="Rounded Rectangle 19">
            <a:extLst>
              <a:ext uri="{FF2B5EF4-FFF2-40B4-BE49-F238E27FC236}">
                <a16:creationId xmlns:a16="http://schemas.microsoft.com/office/drawing/2014/main" id="{5075D778-9B80-50E6-E736-F92D26F614EF}"/>
              </a:ext>
            </a:extLst>
          </p:cNvPr>
          <p:cNvSpPr/>
          <p:nvPr/>
        </p:nvSpPr>
        <p:spPr>
          <a:xfrm>
            <a:off x="7687592" y="5256144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5</a:t>
            </a:r>
          </a:p>
        </p:txBody>
      </p:sp>
      <p:pic>
        <p:nvPicPr>
          <p:cNvPr id="100" name="Graphic 20">
            <a:extLst>
              <a:ext uri="{FF2B5EF4-FFF2-40B4-BE49-F238E27FC236}">
                <a16:creationId xmlns:a16="http://schemas.microsoft.com/office/drawing/2014/main" id="{56FF199E-7EBC-9DF1-F760-D2FC5AF75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757" y="1742665"/>
            <a:ext cx="197147" cy="197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" name="Graphic 20">
            <a:extLst>
              <a:ext uri="{FF2B5EF4-FFF2-40B4-BE49-F238E27FC236}">
                <a16:creationId xmlns:a16="http://schemas.microsoft.com/office/drawing/2014/main" id="{709B092B-FAC8-29DF-5AE1-3C170545B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431" y="1759598"/>
            <a:ext cx="197147" cy="197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4375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1271BE9C-FDD5-DC4D-9BA5-3B7493EA2D8F}"/>
              </a:ext>
            </a:extLst>
          </p:cNvPr>
          <p:cNvSpPr txBox="1"/>
          <p:nvPr/>
        </p:nvSpPr>
        <p:spPr>
          <a:xfrm>
            <a:off x="95668" y="134489"/>
            <a:ext cx="7744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Electro-Optical Imagery Reference Architecture – Classified Processing</a:t>
            </a:r>
          </a:p>
        </p:txBody>
      </p:sp>
      <p:pic>
        <p:nvPicPr>
          <p:cNvPr id="103" name="Graphic 102">
            <a:extLst>
              <a:ext uri="{FF2B5EF4-FFF2-40B4-BE49-F238E27FC236}">
                <a16:creationId xmlns:a16="http://schemas.microsoft.com/office/drawing/2014/main" id="{1DD42CEA-08C0-B743-AC84-1AA6A123B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92" y="6406198"/>
            <a:ext cx="585391" cy="348070"/>
          </a:xfrm>
          <a:prstGeom prst="rect">
            <a:avLst/>
          </a:prstGeom>
        </p:spPr>
      </p:pic>
      <p:sp>
        <p:nvSpPr>
          <p:cNvPr id="104" name="AWS copyright text">
            <a:extLst>
              <a:ext uri="{FF2B5EF4-FFF2-40B4-BE49-F238E27FC236}">
                <a16:creationId xmlns:a16="http://schemas.microsoft.com/office/drawing/2014/main" id="{E926D9DC-0FDF-1C44-85C5-53E31AA8B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619133"/>
            <a:ext cx="4036484" cy="14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933" b="0" i="0" dirty="0">
                <a:solidFill>
                  <a:srgbClr val="7F7F7F"/>
                </a:solidFill>
                <a:latin typeface="Amazon Ember" charset="0"/>
                <a:ea typeface="Amazon Ember" charset="0"/>
                <a:cs typeface="Amazon Ember" charset="0"/>
              </a:rPr>
              <a:t>© 2022, Amazon Web Services, Inc. or its affiliates.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BEBEF-567F-BD43-B598-F246075C6BF3}"/>
              </a:ext>
            </a:extLst>
          </p:cNvPr>
          <p:cNvSpPr txBox="1"/>
          <p:nvPr/>
        </p:nvSpPr>
        <p:spPr>
          <a:xfrm>
            <a:off x="101092" y="458980"/>
            <a:ext cx="486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For the architecture description, refer to the </a:t>
            </a:r>
            <a:r>
              <a:rPr lang="en-US" sz="1400" dirty="0">
                <a:hlinkClick r:id="rId5"/>
              </a:rPr>
              <a:t>full diagram</a:t>
            </a:r>
            <a:r>
              <a:rPr lang="en-US" sz="1400" dirty="0"/>
              <a:t>.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20C5315-3FFD-DE5F-653C-5576224F4DBC}"/>
              </a:ext>
            </a:extLst>
          </p:cNvPr>
          <p:cNvSpPr txBox="1"/>
          <p:nvPr/>
        </p:nvSpPr>
        <p:spPr>
          <a:xfrm>
            <a:off x="9349030" y="3433520"/>
            <a:ext cx="1104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Store Post Processed Images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C1B5504-B812-70AD-602F-E9130C42E1A2}"/>
              </a:ext>
            </a:extLst>
          </p:cNvPr>
          <p:cNvSpPr txBox="1"/>
          <p:nvPr/>
        </p:nvSpPr>
        <p:spPr>
          <a:xfrm>
            <a:off x="4233512" y="2259118"/>
            <a:ext cx="916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Store Raw Images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CB47BE6-551F-F55D-A29B-82DCD6062A61}"/>
              </a:ext>
            </a:extLst>
          </p:cNvPr>
          <p:cNvSpPr/>
          <p:nvPr/>
        </p:nvSpPr>
        <p:spPr>
          <a:xfrm flipH="1">
            <a:off x="3657600" y="5240304"/>
            <a:ext cx="6566732" cy="731170"/>
          </a:xfrm>
          <a:prstGeom prst="rect">
            <a:avLst/>
          </a:prstGeom>
          <a:solidFill>
            <a:schemeClr val="bg1">
              <a:lumMod val="90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/>
            <a:r>
              <a:rPr lang="en-US" sz="853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Optional </a:t>
            </a:r>
          </a:p>
          <a:p>
            <a:pPr algn="ctr"/>
            <a:r>
              <a:rPr lang="en-US" sz="853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Classified Processing</a:t>
            </a:r>
          </a:p>
          <a:p>
            <a:pPr algn="ctr"/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107" name="Graphic 20">
            <a:extLst>
              <a:ext uri="{FF2B5EF4-FFF2-40B4-BE49-F238E27FC236}">
                <a16:creationId xmlns:a16="http://schemas.microsoft.com/office/drawing/2014/main" id="{284F3C95-502E-61F5-7F50-E787724E8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801" y="1733085"/>
            <a:ext cx="197147" cy="197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Picture 2" descr="Image result for satellite vector">
            <a:extLst>
              <a:ext uri="{FF2B5EF4-FFF2-40B4-BE49-F238E27FC236}">
                <a16:creationId xmlns:a16="http://schemas.microsoft.com/office/drawing/2014/main" id="{44FA22CB-783E-BCF0-5DBC-B00A92AD4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2068150" y="1091248"/>
            <a:ext cx="448599" cy="44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C40E4398-5EE2-C5C3-1004-02DB4806360B}"/>
              </a:ext>
            </a:extLst>
          </p:cNvPr>
          <p:cNvSpPr txBox="1"/>
          <p:nvPr/>
        </p:nvSpPr>
        <p:spPr>
          <a:xfrm>
            <a:off x="2434237" y="1358661"/>
            <a:ext cx="585439" cy="212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2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Satellite</a:t>
            </a:r>
          </a:p>
        </p:txBody>
      </p:sp>
      <p:sp>
        <p:nvSpPr>
          <p:cNvPr id="110" name="TextBox 6">
            <a:extLst>
              <a:ext uri="{FF2B5EF4-FFF2-40B4-BE49-F238E27FC236}">
                <a16:creationId xmlns:a16="http://schemas.microsoft.com/office/drawing/2014/main" id="{653E6F00-16C2-FB26-5389-5F39904E6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391" y="1983992"/>
            <a:ext cx="768051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sz="800" dirty="0"/>
              <a:t>Frames</a:t>
            </a:r>
          </a:p>
          <a:p>
            <a:r>
              <a:rPr lang="en-US" altLang="en-US" sz="800" dirty="0"/>
              <a:t>downlinked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0BF35E6-B8D1-8FA3-E957-46C983F58849}"/>
              </a:ext>
            </a:extLst>
          </p:cNvPr>
          <p:cNvCxnSpPr>
            <a:cxnSpLocks/>
          </p:cNvCxnSpPr>
          <p:nvPr/>
        </p:nvCxnSpPr>
        <p:spPr>
          <a:xfrm flipH="1">
            <a:off x="2696556" y="1939291"/>
            <a:ext cx="0" cy="36576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EEF6E836-A7DF-58C1-416E-B6301FBB27AC}"/>
              </a:ext>
            </a:extLst>
          </p:cNvPr>
          <p:cNvSpPr txBox="1"/>
          <p:nvPr/>
        </p:nvSpPr>
        <p:spPr>
          <a:xfrm>
            <a:off x="1872874" y="3712352"/>
            <a:ext cx="844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EC2 instance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F5ABFDD-7BA7-1A33-1197-0E20B662035C}"/>
              </a:ext>
            </a:extLst>
          </p:cNvPr>
          <p:cNvSpPr/>
          <p:nvPr/>
        </p:nvSpPr>
        <p:spPr>
          <a:xfrm>
            <a:off x="1893407" y="2336617"/>
            <a:ext cx="1609740" cy="851392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114" name="Graphic 11">
            <a:extLst>
              <a:ext uri="{FF2B5EF4-FFF2-40B4-BE49-F238E27FC236}">
                <a16:creationId xmlns:a16="http://schemas.microsoft.com/office/drawing/2014/main" id="{0FE360CD-DCEF-D9D4-FB25-E9378DD56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919" y="2546037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" name="TextBox 6">
            <a:extLst>
              <a:ext uri="{FF2B5EF4-FFF2-40B4-BE49-F238E27FC236}">
                <a16:creationId xmlns:a16="http://schemas.microsoft.com/office/drawing/2014/main" id="{AB6E59CD-06AE-70CE-DC20-29212D7F8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599" y="2818658"/>
            <a:ext cx="915537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/>
              <a:t>AWS Ground Station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4958A0B-0416-AEC1-0052-CBCA0600013E}"/>
              </a:ext>
            </a:extLst>
          </p:cNvPr>
          <p:cNvSpPr txBox="1"/>
          <p:nvPr/>
        </p:nvSpPr>
        <p:spPr>
          <a:xfrm>
            <a:off x="2586717" y="2843463"/>
            <a:ext cx="956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Demodulation /</a:t>
            </a:r>
            <a:b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Decode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4F9DFEB-3D72-5365-AB7A-9A7B3F8E1888}"/>
              </a:ext>
            </a:extLst>
          </p:cNvPr>
          <p:cNvCxnSpPr>
            <a:cxnSpLocks/>
            <a:stCxn id="113" idx="2"/>
            <a:endCxn id="125" idx="0"/>
          </p:cNvCxnSpPr>
          <p:nvPr/>
        </p:nvCxnSpPr>
        <p:spPr>
          <a:xfrm flipH="1">
            <a:off x="2698103" y="3188009"/>
            <a:ext cx="174" cy="165333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F42A35B8-7009-2854-E004-6FE83FCA0203}"/>
              </a:ext>
            </a:extLst>
          </p:cNvPr>
          <p:cNvSpPr txBox="1"/>
          <p:nvPr/>
        </p:nvSpPr>
        <p:spPr>
          <a:xfrm>
            <a:off x="2634966" y="3777407"/>
            <a:ext cx="798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Record bits</a:t>
            </a:r>
          </a:p>
          <a:p>
            <a:pPr algn="ctr"/>
            <a:r>
              <a:rPr lang="en-US" sz="800" dirty="0" err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Demux</a:t>
            </a:r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/</a:t>
            </a:r>
          </a:p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Decryption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E84102F-ED59-79F3-3333-ED14C8104F90}"/>
              </a:ext>
            </a:extLst>
          </p:cNvPr>
          <p:cNvSpPr/>
          <p:nvPr/>
        </p:nvSpPr>
        <p:spPr>
          <a:xfrm>
            <a:off x="8142812" y="1750008"/>
            <a:ext cx="2287990" cy="2556091"/>
          </a:xfrm>
          <a:prstGeom prst="rect">
            <a:avLst/>
          </a:prstGeom>
          <a:noFill/>
          <a:ln w="12700">
            <a:solidFill>
              <a:srgbClr val="5A6B86">
                <a:alpha val="5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r>
              <a:rPr lang="en-US" sz="10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Post Processing</a:t>
            </a:r>
          </a:p>
        </p:txBody>
      </p:sp>
      <p:sp>
        <p:nvSpPr>
          <p:cNvPr id="120" name="Rounded Rectangle 15">
            <a:extLst>
              <a:ext uri="{FF2B5EF4-FFF2-40B4-BE49-F238E27FC236}">
                <a16:creationId xmlns:a16="http://schemas.microsoft.com/office/drawing/2014/main" id="{E0354D4D-FDD8-F54B-2D0A-78F331FBC10B}"/>
              </a:ext>
            </a:extLst>
          </p:cNvPr>
          <p:cNvSpPr/>
          <p:nvPr/>
        </p:nvSpPr>
        <p:spPr>
          <a:xfrm>
            <a:off x="3359670" y="2296462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</a:t>
            </a:r>
          </a:p>
        </p:txBody>
      </p:sp>
      <p:cxnSp>
        <p:nvCxnSpPr>
          <p:cNvPr id="121" name="Straight Arrow Connector 296">
            <a:extLst>
              <a:ext uri="{FF2B5EF4-FFF2-40B4-BE49-F238E27FC236}">
                <a16:creationId xmlns:a16="http://schemas.microsoft.com/office/drawing/2014/main" id="{C2D5CE5A-CD4E-DD35-5A9E-53CD8B0FD421}"/>
              </a:ext>
            </a:extLst>
          </p:cNvPr>
          <p:cNvCxnSpPr>
            <a:cxnSpLocks/>
            <a:stCxn id="163" idx="2"/>
            <a:endCxn id="141" idx="1"/>
          </p:cNvCxnSpPr>
          <p:nvPr/>
        </p:nvCxnSpPr>
        <p:spPr>
          <a:xfrm rot="5400000" flipH="1" flipV="1">
            <a:off x="5772171" y="1681040"/>
            <a:ext cx="1625877" cy="3318770"/>
          </a:xfrm>
          <a:prstGeom prst="bentConnector4">
            <a:avLst>
              <a:gd name="adj1" fmla="val -4033"/>
              <a:gd name="adj2" fmla="val 95260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71">
            <a:extLst>
              <a:ext uri="{FF2B5EF4-FFF2-40B4-BE49-F238E27FC236}">
                <a16:creationId xmlns:a16="http://schemas.microsoft.com/office/drawing/2014/main" id="{7D064F2D-EAC2-31DD-C6CC-0161D148291B}"/>
              </a:ext>
            </a:extLst>
          </p:cNvPr>
          <p:cNvCxnSpPr>
            <a:cxnSpLocks/>
            <a:stCxn id="125" idx="3"/>
            <a:endCxn id="185" idx="1"/>
          </p:cNvCxnSpPr>
          <p:nvPr/>
        </p:nvCxnSpPr>
        <p:spPr>
          <a:xfrm flipV="1">
            <a:off x="3501953" y="2551979"/>
            <a:ext cx="231200" cy="1473718"/>
          </a:xfrm>
          <a:prstGeom prst="bentConnector3">
            <a:avLst>
              <a:gd name="adj1" fmla="val 50000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D2C8A66-F758-6C63-C1C1-C4DAC823E117}"/>
              </a:ext>
            </a:extLst>
          </p:cNvPr>
          <p:cNvCxnSpPr>
            <a:cxnSpLocks/>
            <a:stCxn id="125" idx="2"/>
            <a:endCxn id="196" idx="0"/>
          </p:cNvCxnSpPr>
          <p:nvPr/>
        </p:nvCxnSpPr>
        <p:spPr>
          <a:xfrm flipH="1">
            <a:off x="2696556" y="4698051"/>
            <a:ext cx="1547" cy="165102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Graphic 17">
            <a:extLst>
              <a:ext uri="{FF2B5EF4-FFF2-40B4-BE49-F238E27FC236}">
                <a16:creationId xmlns:a16="http://schemas.microsoft.com/office/drawing/2014/main" id="{597DED55-F366-B5BF-9CA9-7E5E152AC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749" y="3426283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" name="Rectangle 124">
            <a:extLst>
              <a:ext uri="{FF2B5EF4-FFF2-40B4-BE49-F238E27FC236}">
                <a16:creationId xmlns:a16="http://schemas.microsoft.com/office/drawing/2014/main" id="{2480A3B6-6522-D19B-156A-0965726A010C}"/>
              </a:ext>
            </a:extLst>
          </p:cNvPr>
          <p:cNvSpPr/>
          <p:nvPr/>
        </p:nvSpPr>
        <p:spPr>
          <a:xfrm>
            <a:off x="1894252" y="3353342"/>
            <a:ext cx="1607701" cy="134470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26" name="Rounded Rectangle 15">
            <a:extLst>
              <a:ext uri="{FF2B5EF4-FFF2-40B4-BE49-F238E27FC236}">
                <a16:creationId xmlns:a16="http://schemas.microsoft.com/office/drawing/2014/main" id="{22380758-1300-DFC0-78AA-401E27EEA6C3}"/>
              </a:ext>
            </a:extLst>
          </p:cNvPr>
          <p:cNvSpPr/>
          <p:nvPr/>
        </p:nvSpPr>
        <p:spPr>
          <a:xfrm>
            <a:off x="10143616" y="5150295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4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37D311C-008B-1945-3B64-4B0BD87A308A}"/>
              </a:ext>
            </a:extLst>
          </p:cNvPr>
          <p:cNvSpPr/>
          <p:nvPr/>
        </p:nvSpPr>
        <p:spPr>
          <a:xfrm>
            <a:off x="1691474" y="1731024"/>
            <a:ext cx="1879423" cy="4021874"/>
          </a:xfrm>
          <a:prstGeom prst="rect">
            <a:avLst/>
          </a:prstGeom>
          <a:noFill/>
          <a:ln w="12700">
            <a:solidFill>
              <a:srgbClr val="5A6B86">
                <a:alpha val="5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r>
              <a:rPr lang="en-US" sz="10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Signal Processing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077F7CC-EC21-C18F-D98A-49CECA376C76}"/>
              </a:ext>
            </a:extLst>
          </p:cNvPr>
          <p:cNvSpPr/>
          <p:nvPr/>
        </p:nvSpPr>
        <p:spPr>
          <a:xfrm>
            <a:off x="3657601" y="1739962"/>
            <a:ext cx="4362424" cy="3259137"/>
          </a:xfrm>
          <a:prstGeom prst="rect">
            <a:avLst/>
          </a:prstGeom>
          <a:noFill/>
          <a:ln w="12700">
            <a:solidFill>
              <a:srgbClr val="5A6B86">
                <a:alpha val="5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r>
              <a:rPr lang="en-US" sz="10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Inventory</a:t>
            </a:r>
          </a:p>
        </p:txBody>
      </p:sp>
      <p:sp>
        <p:nvSpPr>
          <p:cNvPr id="129" name="TextBox 6">
            <a:extLst>
              <a:ext uri="{FF2B5EF4-FFF2-40B4-BE49-F238E27FC236}">
                <a16:creationId xmlns:a16="http://schemas.microsoft.com/office/drawing/2014/main" id="{9C38F4E0-B9E9-9273-B370-D335803C1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1389" y="1288797"/>
            <a:ext cx="2618699" cy="21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sz="800" dirty="0"/>
              <a:t>Yes – flush buffers or// No – retry image capture</a:t>
            </a:r>
          </a:p>
        </p:txBody>
      </p:sp>
      <p:cxnSp>
        <p:nvCxnSpPr>
          <p:cNvPr id="130" name="Straight Arrow Connector 186">
            <a:extLst>
              <a:ext uri="{FF2B5EF4-FFF2-40B4-BE49-F238E27FC236}">
                <a16:creationId xmlns:a16="http://schemas.microsoft.com/office/drawing/2014/main" id="{BDC16B26-2D22-BF94-0817-C15A46BC9226}"/>
              </a:ext>
            </a:extLst>
          </p:cNvPr>
          <p:cNvCxnSpPr>
            <a:cxnSpLocks/>
            <a:stCxn id="158" idx="3"/>
            <a:endCxn id="109" idx="3"/>
          </p:cNvCxnSpPr>
          <p:nvPr/>
        </p:nvCxnSpPr>
        <p:spPr>
          <a:xfrm flipH="1" flipV="1">
            <a:off x="3019676" y="1465005"/>
            <a:ext cx="4905152" cy="1089041"/>
          </a:xfrm>
          <a:prstGeom prst="bentConnector3">
            <a:avLst>
              <a:gd name="adj1" fmla="val -2348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" name="Graphic 130" descr="Highway scene">
            <a:extLst>
              <a:ext uri="{FF2B5EF4-FFF2-40B4-BE49-F238E27FC236}">
                <a16:creationId xmlns:a16="http://schemas.microsoft.com/office/drawing/2014/main" id="{40390AAC-5E11-A46F-0F42-79929D8E04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65823" y="2179700"/>
            <a:ext cx="310896" cy="310896"/>
          </a:xfrm>
          <a:prstGeom prst="rect">
            <a:avLst/>
          </a:prstGeom>
        </p:spPr>
      </p:pic>
      <p:pic>
        <p:nvPicPr>
          <p:cNvPr id="132" name="Graphic 12">
            <a:extLst>
              <a:ext uri="{FF2B5EF4-FFF2-40B4-BE49-F238E27FC236}">
                <a16:creationId xmlns:a16="http://schemas.microsoft.com/office/drawing/2014/main" id="{BD9F343C-8319-4D41-D48D-9535B1BA0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411" y="2279981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37D3E324-B90E-E58C-754A-481706D613EA}"/>
              </a:ext>
            </a:extLst>
          </p:cNvPr>
          <p:cNvSpPr txBox="1"/>
          <p:nvPr/>
        </p:nvSpPr>
        <p:spPr>
          <a:xfrm>
            <a:off x="8872634" y="2617327"/>
            <a:ext cx="854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Lambda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3DDB00E-3F88-E7F9-625D-3CF80038DF37}"/>
              </a:ext>
            </a:extLst>
          </p:cNvPr>
          <p:cNvSpPr txBox="1"/>
          <p:nvPr/>
        </p:nvSpPr>
        <p:spPr>
          <a:xfrm>
            <a:off x="8171128" y="2597072"/>
            <a:ext cx="854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</a:t>
            </a:r>
            <a:r>
              <a:rPr lang="en-US" sz="800" dirty="0" err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Fargate</a:t>
            </a:r>
            <a:endParaRPr lang="en-US" sz="8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0E147AC-0FE4-EBB8-D6C6-65C41C4D721C}"/>
              </a:ext>
            </a:extLst>
          </p:cNvPr>
          <p:cNvSpPr txBox="1"/>
          <p:nvPr/>
        </p:nvSpPr>
        <p:spPr>
          <a:xfrm>
            <a:off x="9448800" y="2517046"/>
            <a:ext cx="944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Complete Post Processing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7C0D5FE-C612-72F5-A0DC-37E1B3D19B23}"/>
              </a:ext>
            </a:extLst>
          </p:cNvPr>
          <p:cNvSpPr txBox="1"/>
          <p:nvPr/>
        </p:nvSpPr>
        <p:spPr>
          <a:xfrm>
            <a:off x="8915400" y="4783656"/>
            <a:ext cx="6377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Customer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01FB62D-425A-B450-7340-F4176FB0FCD3}"/>
              </a:ext>
            </a:extLst>
          </p:cNvPr>
          <p:cNvSpPr txBox="1"/>
          <p:nvPr/>
        </p:nvSpPr>
        <p:spPr>
          <a:xfrm>
            <a:off x="8122670" y="3418660"/>
            <a:ext cx="868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 Bucket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922EEB76-DFEA-6FC0-2D52-137401BA4ABC}"/>
              </a:ext>
            </a:extLst>
          </p:cNvPr>
          <p:cNvSpPr/>
          <p:nvPr/>
        </p:nvSpPr>
        <p:spPr>
          <a:xfrm>
            <a:off x="8254830" y="3113564"/>
            <a:ext cx="2080660" cy="1116263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139" name="Graphic 138" descr="Highway scene">
            <a:extLst>
              <a:ext uri="{FF2B5EF4-FFF2-40B4-BE49-F238E27FC236}">
                <a16:creationId xmlns:a16="http://schemas.microsoft.com/office/drawing/2014/main" id="{1B8BF6BD-59A1-6249-6AA8-D0C47CD1D6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77736" y="3087110"/>
            <a:ext cx="310896" cy="310896"/>
          </a:xfrm>
          <a:prstGeom prst="rect">
            <a:avLst/>
          </a:prstGeom>
        </p:spPr>
      </p:pic>
      <p:cxnSp>
        <p:nvCxnSpPr>
          <p:cNvPr id="140" name="Straight Arrow Connector 296">
            <a:extLst>
              <a:ext uri="{FF2B5EF4-FFF2-40B4-BE49-F238E27FC236}">
                <a16:creationId xmlns:a16="http://schemas.microsoft.com/office/drawing/2014/main" id="{A547104D-7F64-5EC3-CF81-D208687FBE95}"/>
              </a:ext>
            </a:extLst>
          </p:cNvPr>
          <p:cNvCxnSpPr>
            <a:cxnSpLocks/>
            <a:stCxn id="141" idx="2"/>
            <a:endCxn id="138" idx="0"/>
          </p:cNvCxnSpPr>
          <p:nvPr/>
        </p:nvCxnSpPr>
        <p:spPr>
          <a:xfrm>
            <a:off x="9268093" y="2884391"/>
            <a:ext cx="0" cy="229173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69764F2-89D3-C51F-B6CE-A3AB17298D0E}"/>
              </a:ext>
            </a:extLst>
          </p:cNvPr>
          <p:cNvSpPr/>
          <p:nvPr/>
        </p:nvSpPr>
        <p:spPr>
          <a:xfrm>
            <a:off x="8244495" y="2170580"/>
            <a:ext cx="2047196" cy="71381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C259193E-E812-2CF8-A90B-FAAA301D3A48}"/>
              </a:ext>
            </a:extLst>
          </p:cNvPr>
          <p:cNvGrpSpPr/>
          <p:nvPr/>
        </p:nvGrpSpPr>
        <p:grpSpPr>
          <a:xfrm>
            <a:off x="10196506" y="2996306"/>
            <a:ext cx="253596" cy="234551"/>
            <a:chOff x="9120404" y="4286126"/>
            <a:chExt cx="356618" cy="329837"/>
          </a:xfrm>
        </p:grpSpPr>
        <p:sp>
          <p:nvSpPr>
            <p:cNvPr id="143" name="Rounded Rectangle 197">
              <a:extLst>
                <a:ext uri="{FF2B5EF4-FFF2-40B4-BE49-F238E27FC236}">
                  <a16:creationId xmlns:a16="http://schemas.microsoft.com/office/drawing/2014/main" id="{BD010493-DE71-6F8A-80A3-1D0EC3125001}"/>
                </a:ext>
              </a:extLst>
            </p:cNvPr>
            <p:cNvSpPr/>
            <p:nvPr/>
          </p:nvSpPr>
          <p:spPr>
            <a:xfrm>
              <a:off x="9168599" y="4291010"/>
              <a:ext cx="269822" cy="276411"/>
            </a:xfrm>
            <a:prstGeom prst="roundRect">
              <a:avLst/>
            </a:prstGeom>
            <a:solidFill>
              <a:srgbClr val="007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A67332D-3CC2-82D4-7DE1-3B8592A8E457}"/>
                </a:ext>
              </a:extLst>
            </p:cNvPr>
            <p:cNvSpPr txBox="1"/>
            <p:nvPr/>
          </p:nvSpPr>
          <p:spPr>
            <a:xfrm>
              <a:off x="9120404" y="4286126"/>
              <a:ext cx="356618" cy="329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24" b="1" dirty="0">
                  <a:solidFill>
                    <a:schemeClr val="bg1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9</a:t>
              </a:r>
            </a:p>
          </p:txBody>
        </p:sp>
      </p:grpSp>
      <p:sp>
        <p:nvSpPr>
          <p:cNvPr id="145" name="Rounded Rectangle 19">
            <a:extLst>
              <a:ext uri="{FF2B5EF4-FFF2-40B4-BE49-F238E27FC236}">
                <a16:creationId xmlns:a16="http://schemas.microsoft.com/office/drawing/2014/main" id="{889750CE-EACC-1F95-5A99-330228350C52}"/>
              </a:ext>
            </a:extLst>
          </p:cNvPr>
          <p:cNvSpPr/>
          <p:nvPr/>
        </p:nvSpPr>
        <p:spPr>
          <a:xfrm>
            <a:off x="10212549" y="2072210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8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5765293-B64A-F08A-BDF4-407FB69CF609}"/>
              </a:ext>
            </a:extLst>
          </p:cNvPr>
          <p:cNvGrpSpPr/>
          <p:nvPr/>
        </p:nvGrpSpPr>
        <p:grpSpPr>
          <a:xfrm>
            <a:off x="9346875" y="4407878"/>
            <a:ext cx="541693" cy="239103"/>
            <a:chOff x="9124356" y="4278710"/>
            <a:chExt cx="589149" cy="329837"/>
          </a:xfrm>
        </p:grpSpPr>
        <p:sp>
          <p:nvSpPr>
            <p:cNvPr id="147" name="Rounded Rectangle 197">
              <a:extLst>
                <a:ext uri="{FF2B5EF4-FFF2-40B4-BE49-F238E27FC236}">
                  <a16:creationId xmlns:a16="http://schemas.microsoft.com/office/drawing/2014/main" id="{648D222E-65E1-0FE5-3E71-37840B6448A0}"/>
                </a:ext>
              </a:extLst>
            </p:cNvPr>
            <p:cNvSpPr/>
            <p:nvPr/>
          </p:nvSpPr>
          <p:spPr>
            <a:xfrm>
              <a:off x="9168599" y="4291010"/>
              <a:ext cx="269822" cy="276411"/>
            </a:xfrm>
            <a:prstGeom prst="roundRect">
              <a:avLst/>
            </a:prstGeom>
            <a:solidFill>
              <a:srgbClr val="007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4ADCD45-7A27-AE7E-ADAE-93D18E4C1073}"/>
                </a:ext>
              </a:extLst>
            </p:cNvPr>
            <p:cNvSpPr txBox="1"/>
            <p:nvPr/>
          </p:nvSpPr>
          <p:spPr>
            <a:xfrm>
              <a:off x="9124356" y="4278710"/>
              <a:ext cx="589149" cy="329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24" b="1" dirty="0">
                  <a:solidFill>
                    <a:schemeClr val="bg1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10</a:t>
              </a:r>
            </a:p>
          </p:txBody>
        </p:sp>
      </p:grpSp>
      <p:pic>
        <p:nvPicPr>
          <p:cNvPr id="149" name="Graphic 63">
            <a:extLst>
              <a:ext uri="{FF2B5EF4-FFF2-40B4-BE49-F238E27FC236}">
                <a16:creationId xmlns:a16="http://schemas.microsoft.com/office/drawing/2014/main" id="{E1571EC7-625B-5178-8BAE-A58319EB3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687" y="3157455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" name="Graphic 14">
            <a:extLst>
              <a:ext uri="{FF2B5EF4-FFF2-40B4-BE49-F238E27FC236}">
                <a16:creationId xmlns:a16="http://schemas.microsoft.com/office/drawing/2014/main" id="{7311B5F4-EB45-9B57-1F07-D6E5C7A3A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052" y="2279981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Graphic 6">
            <a:extLst>
              <a:ext uri="{FF2B5EF4-FFF2-40B4-BE49-F238E27FC236}">
                <a16:creationId xmlns:a16="http://schemas.microsoft.com/office/drawing/2014/main" id="{36F22EA0-19FD-107B-F1C8-C487DE8F6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 flipH="1">
            <a:off x="9147995" y="4535272"/>
            <a:ext cx="294330" cy="294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2" name="Straight Arrow Connector 296">
            <a:extLst>
              <a:ext uri="{FF2B5EF4-FFF2-40B4-BE49-F238E27FC236}">
                <a16:creationId xmlns:a16="http://schemas.microsoft.com/office/drawing/2014/main" id="{B406156C-1A3E-0BA0-BD5F-38145727EE11}"/>
              </a:ext>
            </a:extLst>
          </p:cNvPr>
          <p:cNvCxnSpPr>
            <a:cxnSpLocks/>
            <a:stCxn id="138" idx="2"/>
            <a:endCxn id="151" idx="0"/>
          </p:cNvCxnSpPr>
          <p:nvPr/>
        </p:nvCxnSpPr>
        <p:spPr>
          <a:xfrm>
            <a:off x="9295160" y="4229827"/>
            <a:ext cx="0" cy="305445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Graphic 12">
            <a:extLst>
              <a:ext uri="{FF2B5EF4-FFF2-40B4-BE49-F238E27FC236}">
                <a16:creationId xmlns:a16="http://schemas.microsoft.com/office/drawing/2014/main" id="{29E22404-AD0A-4AF6-BA01-B5C22C443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85" y="2109565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73C409F4-71BD-E8E8-01DB-6F6B80492999}"/>
              </a:ext>
            </a:extLst>
          </p:cNvPr>
          <p:cNvSpPr txBox="1"/>
          <p:nvPr/>
        </p:nvSpPr>
        <p:spPr>
          <a:xfrm>
            <a:off x="5898862" y="2457385"/>
            <a:ext cx="8544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Lambda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A1246AF-FBE2-CCE4-1734-24DDE092CB8B}"/>
              </a:ext>
            </a:extLst>
          </p:cNvPr>
          <p:cNvSpPr txBox="1"/>
          <p:nvPr/>
        </p:nvSpPr>
        <p:spPr>
          <a:xfrm>
            <a:off x="5257800" y="2457385"/>
            <a:ext cx="8097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</a:t>
            </a:r>
            <a:r>
              <a:rPr lang="en-US" sz="800" dirty="0" err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Fargate</a:t>
            </a:r>
            <a:endParaRPr lang="en-US" sz="8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5C46B27-1825-F48A-2A26-85C3449937EE}"/>
              </a:ext>
            </a:extLst>
          </p:cNvPr>
          <p:cNvSpPr txBox="1"/>
          <p:nvPr/>
        </p:nvSpPr>
        <p:spPr>
          <a:xfrm>
            <a:off x="7205249" y="2340328"/>
            <a:ext cx="719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Process Raw Images and Perform QA Review</a:t>
            </a:r>
          </a:p>
        </p:txBody>
      </p:sp>
      <p:pic>
        <p:nvPicPr>
          <p:cNvPr id="157" name="Graphic 156" descr="Image">
            <a:extLst>
              <a:ext uri="{FF2B5EF4-FFF2-40B4-BE49-F238E27FC236}">
                <a16:creationId xmlns:a16="http://schemas.microsoft.com/office/drawing/2014/main" id="{43158541-3617-72A4-A1D4-DD4B87F2283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41878" y="2109565"/>
            <a:ext cx="310896" cy="310896"/>
          </a:xfrm>
          <a:prstGeom prst="rect">
            <a:avLst/>
          </a:prstGeom>
        </p:spPr>
      </p:pic>
      <p:sp>
        <p:nvSpPr>
          <p:cNvPr id="158" name="Rectangle 157">
            <a:extLst>
              <a:ext uri="{FF2B5EF4-FFF2-40B4-BE49-F238E27FC236}">
                <a16:creationId xmlns:a16="http://schemas.microsoft.com/office/drawing/2014/main" id="{CDDF8E04-EC37-15EC-8668-45893E049FF5}"/>
              </a:ext>
            </a:extLst>
          </p:cNvPr>
          <p:cNvSpPr/>
          <p:nvPr/>
        </p:nvSpPr>
        <p:spPr>
          <a:xfrm>
            <a:off x="5339837" y="2034707"/>
            <a:ext cx="2584991" cy="103867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B8376F2-465B-4A04-180D-18341F2A5C8D}"/>
              </a:ext>
            </a:extLst>
          </p:cNvPr>
          <p:cNvSpPr txBox="1"/>
          <p:nvPr/>
        </p:nvSpPr>
        <p:spPr>
          <a:xfrm>
            <a:off x="3724237" y="3770507"/>
            <a:ext cx="705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 Bucket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A742433-457A-6765-FD49-8EA6C1029477}"/>
              </a:ext>
            </a:extLst>
          </p:cNvPr>
          <p:cNvSpPr txBox="1"/>
          <p:nvPr/>
        </p:nvSpPr>
        <p:spPr>
          <a:xfrm>
            <a:off x="6032034" y="3763442"/>
            <a:ext cx="1034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DynamoDB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7833B901-3F86-8733-5847-DCB3EA1D72D3}"/>
              </a:ext>
            </a:extLst>
          </p:cNvPr>
          <p:cNvSpPr txBox="1"/>
          <p:nvPr/>
        </p:nvSpPr>
        <p:spPr>
          <a:xfrm>
            <a:off x="5861697" y="4646982"/>
            <a:ext cx="746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 Glacier</a:t>
            </a:r>
          </a:p>
        </p:txBody>
      </p:sp>
      <p:cxnSp>
        <p:nvCxnSpPr>
          <p:cNvPr id="162" name="Straight Arrow Connector 171">
            <a:extLst>
              <a:ext uri="{FF2B5EF4-FFF2-40B4-BE49-F238E27FC236}">
                <a16:creationId xmlns:a16="http://schemas.microsoft.com/office/drawing/2014/main" id="{8CDDED8B-7D1F-65FC-BA95-FE20DD4B5572}"/>
              </a:ext>
            </a:extLst>
          </p:cNvPr>
          <p:cNvCxnSpPr>
            <a:cxnSpLocks/>
            <a:stCxn id="158" idx="2"/>
            <a:endCxn id="163" idx="0"/>
          </p:cNvCxnSpPr>
          <p:nvPr/>
        </p:nvCxnSpPr>
        <p:spPr>
          <a:xfrm rot="5400000">
            <a:off x="5619908" y="2379202"/>
            <a:ext cx="318242" cy="1706608"/>
          </a:xfrm>
          <a:prstGeom prst="bentConnector3">
            <a:avLst>
              <a:gd name="adj1" fmla="val 50000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44243349-CD8C-6C4C-5A93-FB1E0D1C926A}"/>
              </a:ext>
            </a:extLst>
          </p:cNvPr>
          <p:cNvSpPr/>
          <p:nvPr/>
        </p:nvSpPr>
        <p:spPr>
          <a:xfrm>
            <a:off x="3750322" y="3391627"/>
            <a:ext cx="2350806" cy="76173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4BACFFC8-3186-8E1E-936A-101798A5A008}"/>
              </a:ext>
            </a:extLst>
          </p:cNvPr>
          <p:cNvSpPr/>
          <p:nvPr/>
        </p:nvSpPr>
        <p:spPr>
          <a:xfrm>
            <a:off x="6210144" y="3392463"/>
            <a:ext cx="1629885" cy="75219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cxnSp>
        <p:nvCxnSpPr>
          <p:cNvPr id="165" name="Straight Arrow Connector 171">
            <a:extLst>
              <a:ext uri="{FF2B5EF4-FFF2-40B4-BE49-F238E27FC236}">
                <a16:creationId xmlns:a16="http://schemas.microsoft.com/office/drawing/2014/main" id="{79E3EB82-82AF-41F0-809D-E20386659C5D}"/>
              </a:ext>
            </a:extLst>
          </p:cNvPr>
          <p:cNvCxnSpPr>
            <a:cxnSpLocks/>
            <a:stCxn id="158" idx="2"/>
            <a:endCxn id="164" idx="0"/>
          </p:cNvCxnSpPr>
          <p:nvPr/>
        </p:nvCxnSpPr>
        <p:spPr>
          <a:xfrm rot="16200000" flipH="1">
            <a:off x="6669171" y="3036547"/>
            <a:ext cx="319078" cy="392754"/>
          </a:xfrm>
          <a:prstGeom prst="bentConnector3">
            <a:avLst>
              <a:gd name="adj1" fmla="val 50000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6F664D4D-BD16-BD9D-B1DC-986CD7D6DFD3}"/>
              </a:ext>
            </a:extLst>
          </p:cNvPr>
          <p:cNvSpPr txBox="1"/>
          <p:nvPr/>
        </p:nvSpPr>
        <p:spPr>
          <a:xfrm>
            <a:off x="6940601" y="3779655"/>
            <a:ext cx="947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Store </a:t>
            </a:r>
          </a:p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Metadata</a:t>
            </a:r>
          </a:p>
        </p:txBody>
      </p:sp>
      <p:pic>
        <p:nvPicPr>
          <p:cNvPr id="167" name="Graphic 23">
            <a:extLst>
              <a:ext uri="{FF2B5EF4-FFF2-40B4-BE49-F238E27FC236}">
                <a16:creationId xmlns:a16="http://schemas.microsoft.com/office/drawing/2014/main" id="{D6A30AE1-4F8F-6E06-DDF9-1D2690D03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554" y="3452118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A4F52EE4-379C-89B0-19A4-5C6953134E08}"/>
              </a:ext>
            </a:extLst>
          </p:cNvPr>
          <p:cNvSpPr txBox="1"/>
          <p:nvPr/>
        </p:nvSpPr>
        <p:spPr>
          <a:xfrm>
            <a:off x="5073434" y="3658706"/>
            <a:ext cx="1151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Store Pre </a:t>
            </a:r>
          </a:p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Processed Images</a:t>
            </a:r>
          </a:p>
        </p:txBody>
      </p:sp>
      <p:pic>
        <p:nvPicPr>
          <p:cNvPr id="169" name="Graphic 168" descr="Image">
            <a:extLst>
              <a:ext uri="{FF2B5EF4-FFF2-40B4-BE49-F238E27FC236}">
                <a16:creationId xmlns:a16="http://schemas.microsoft.com/office/drawing/2014/main" id="{C959EC58-CDA2-3916-AF0A-4D359DACDE2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61393" y="3438614"/>
            <a:ext cx="310896" cy="310896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532B1A05-8F4C-9924-D658-0565FA8F474E}"/>
              </a:ext>
            </a:extLst>
          </p:cNvPr>
          <p:cNvSpPr txBox="1"/>
          <p:nvPr/>
        </p:nvSpPr>
        <p:spPr>
          <a:xfrm>
            <a:off x="4920236" y="4629126"/>
            <a:ext cx="1115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 Glacier Deep Archive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E403F6C-EE51-5B08-DC22-B37B79A3449A}"/>
              </a:ext>
            </a:extLst>
          </p:cNvPr>
          <p:cNvSpPr/>
          <p:nvPr/>
        </p:nvSpPr>
        <p:spPr>
          <a:xfrm>
            <a:off x="3739803" y="4306104"/>
            <a:ext cx="4100226" cy="63179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172" name="Graphic 171" descr="Image">
            <a:extLst>
              <a:ext uri="{FF2B5EF4-FFF2-40B4-BE49-F238E27FC236}">
                <a16:creationId xmlns:a16="http://schemas.microsoft.com/office/drawing/2014/main" id="{9A77DAEC-4469-36B4-35FE-343611D81E2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54720" y="4312106"/>
            <a:ext cx="310896" cy="310896"/>
          </a:xfrm>
          <a:prstGeom prst="rect">
            <a:avLst/>
          </a:prstGeom>
        </p:spPr>
      </p:pic>
      <p:sp>
        <p:nvSpPr>
          <p:cNvPr id="173" name="TextBox 172">
            <a:extLst>
              <a:ext uri="{FF2B5EF4-FFF2-40B4-BE49-F238E27FC236}">
                <a16:creationId xmlns:a16="http://schemas.microsoft.com/office/drawing/2014/main" id="{614DF086-60CD-AA71-536D-8C2445C37058}"/>
              </a:ext>
            </a:extLst>
          </p:cNvPr>
          <p:cNvSpPr txBox="1"/>
          <p:nvPr/>
        </p:nvSpPr>
        <p:spPr>
          <a:xfrm>
            <a:off x="6480251" y="4588482"/>
            <a:ext cx="144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Store Preprocessed image with placement tags</a:t>
            </a:r>
          </a:p>
        </p:txBody>
      </p:sp>
      <p:cxnSp>
        <p:nvCxnSpPr>
          <p:cNvPr id="174" name="Straight Arrow Connector 278">
            <a:extLst>
              <a:ext uri="{FF2B5EF4-FFF2-40B4-BE49-F238E27FC236}">
                <a16:creationId xmlns:a16="http://schemas.microsoft.com/office/drawing/2014/main" id="{61BA9244-C27D-2A2F-BDF8-99A826D6746C}"/>
              </a:ext>
            </a:extLst>
          </p:cNvPr>
          <p:cNvCxnSpPr>
            <a:cxnSpLocks/>
            <a:stCxn id="163" idx="2"/>
            <a:endCxn id="171" idx="0"/>
          </p:cNvCxnSpPr>
          <p:nvPr/>
        </p:nvCxnSpPr>
        <p:spPr>
          <a:xfrm rot="16200000" flipH="1">
            <a:off x="5281450" y="3797637"/>
            <a:ext cx="152741" cy="864191"/>
          </a:xfrm>
          <a:prstGeom prst="bentConnector3">
            <a:avLst>
              <a:gd name="adj1" fmla="val 42226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Graphic 174" descr="Table">
            <a:extLst>
              <a:ext uri="{FF2B5EF4-FFF2-40B4-BE49-F238E27FC236}">
                <a16:creationId xmlns:a16="http://schemas.microsoft.com/office/drawing/2014/main" id="{6B8C6B69-E16B-11C3-87FC-11CABEF273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296065" y="3476557"/>
            <a:ext cx="310896" cy="310896"/>
          </a:xfrm>
          <a:prstGeom prst="rect">
            <a:avLst/>
          </a:prstGeom>
        </p:spPr>
      </p:pic>
      <p:sp>
        <p:nvSpPr>
          <p:cNvPr id="176" name="TextBox 175">
            <a:extLst>
              <a:ext uri="{FF2B5EF4-FFF2-40B4-BE49-F238E27FC236}">
                <a16:creationId xmlns:a16="http://schemas.microsoft.com/office/drawing/2014/main" id="{DE04C9E2-89D7-2500-0DC2-D6784AE935A0}"/>
              </a:ext>
            </a:extLst>
          </p:cNvPr>
          <p:cNvSpPr txBox="1"/>
          <p:nvPr/>
        </p:nvSpPr>
        <p:spPr>
          <a:xfrm>
            <a:off x="6634667" y="2457385"/>
            <a:ext cx="7041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Batch</a:t>
            </a:r>
          </a:p>
        </p:txBody>
      </p:sp>
      <p:sp>
        <p:nvSpPr>
          <p:cNvPr id="177" name="Rounded Rectangle 19">
            <a:extLst>
              <a:ext uri="{FF2B5EF4-FFF2-40B4-BE49-F238E27FC236}">
                <a16:creationId xmlns:a16="http://schemas.microsoft.com/office/drawing/2014/main" id="{9863F956-2E65-EE0F-4804-FCA3417D50D4}"/>
              </a:ext>
            </a:extLst>
          </p:cNvPr>
          <p:cNvSpPr/>
          <p:nvPr/>
        </p:nvSpPr>
        <p:spPr>
          <a:xfrm>
            <a:off x="7732926" y="3408968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6</a:t>
            </a:r>
          </a:p>
        </p:txBody>
      </p:sp>
      <p:sp>
        <p:nvSpPr>
          <p:cNvPr id="178" name="Rounded Rectangle 134">
            <a:extLst>
              <a:ext uri="{FF2B5EF4-FFF2-40B4-BE49-F238E27FC236}">
                <a16:creationId xmlns:a16="http://schemas.microsoft.com/office/drawing/2014/main" id="{FB9239D8-61BE-0CAC-64F3-A1BAECAC6E6A}"/>
              </a:ext>
            </a:extLst>
          </p:cNvPr>
          <p:cNvSpPr/>
          <p:nvPr/>
        </p:nvSpPr>
        <p:spPr>
          <a:xfrm>
            <a:off x="7792441" y="1939291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5</a:t>
            </a:r>
          </a:p>
        </p:txBody>
      </p:sp>
      <p:pic>
        <p:nvPicPr>
          <p:cNvPr id="179" name="Graphic 6">
            <a:extLst>
              <a:ext uri="{FF2B5EF4-FFF2-40B4-BE49-F238E27FC236}">
                <a16:creationId xmlns:a16="http://schemas.microsoft.com/office/drawing/2014/main" id="{24581DB7-F7B5-B612-D227-FF3891FE0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074" y="2109565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0" name="Graphic 14">
            <a:extLst>
              <a:ext uri="{FF2B5EF4-FFF2-40B4-BE49-F238E27FC236}">
                <a16:creationId xmlns:a16="http://schemas.microsoft.com/office/drawing/2014/main" id="{33D7ED84-40CF-CE88-545F-CF733EABA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232" y="2109565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1" name="Graphic 66">
            <a:extLst>
              <a:ext uri="{FF2B5EF4-FFF2-40B4-BE49-F238E27FC236}">
                <a16:creationId xmlns:a16="http://schemas.microsoft.com/office/drawing/2014/main" id="{03507DF2-BA3B-4B9E-EBE5-EA8C38494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524" y="4387155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2" name="Graphic 65">
            <a:extLst>
              <a:ext uri="{FF2B5EF4-FFF2-40B4-BE49-F238E27FC236}">
                <a16:creationId xmlns:a16="http://schemas.microsoft.com/office/drawing/2014/main" id="{15F33C62-4696-B8FD-E42E-6B53831A3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325" y="4357970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3" name="Graphic 63">
            <a:extLst>
              <a:ext uri="{FF2B5EF4-FFF2-40B4-BE49-F238E27FC236}">
                <a16:creationId xmlns:a16="http://schemas.microsoft.com/office/drawing/2014/main" id="{4B7BF8A6-CD79-27BD-FFAF-AC02F2A6B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84" y="3444157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625085F4-2D41-B300-EB9D-FBAB530BFFEB}"/>
              </a:ext>
            </a:extLst>
          </p:cNvPr>
          <p:cNvSpPr txBox="1"/>
          <p:nvPr/>
        </p:nvSpPr>
        <p:spPr>
          <a:xfrm>
            <a:off x="3726644" y="2374546"/>
            <a:ext cx="713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 Bucket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CAED9292-33D3-762A-30BF-F21A63CDBB48}"/>
              </a:ext>
            </a:extLst>
          </p:cNvPr>
          <p:cNvSpPr/>
          <p:nvPr/>
        </p:nvSpPr>
        <p:spPr>
          <a:xfrm>
            <a:off x="3733153" y="2031410"/>
            <a:ext cx="1478746" cy="104113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186" name="Graphic 63">
            <a:extLst>
              <a:ext uri="{FF2B5EF4-FFF2-40B4-BE49-F238E27FC236}">
                <a16:creationId xmlns:a16="http://schemas.microsoft.com/office/drawing/2014/main" id="{52DC73B1-E8FD-703B-68D2-5DB1D07BE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835" y="2090862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7" name="Graphic 186" descr="Image">
            <a:extLst>
              <a:ext uri="{FF2B5EF4-FFF2-40B4-BE49-F238E27FC236}">
                <a16:creationId xmlns:a16="http://schemas.microsoft.com/office/drawing/2014/main" id="{4A92F802-CB06-B764-4B4F-382CE634181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14343" y="2027300"/>
            <a:ext cx="310896" cy="310896"/>
          </a:xfrm>
          <a:prstGeom prst="rect">
            <a:avLst/>
          </a:prstGeom>
        </p:spPr>
      </p:pic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4619C804-4A3B-4F87-7F0B-7437F28C3165}"/>
              </a:ext>
            </a:extLst>
          </p:cNvPr>
          <p:cNvCxnSpPr>
            <a:cxnSpLocks/>
            <a:stCxn id="185" idx="3"/>
            <a:endCxn id="158" idx="1"/>
          </p:cNvCxnSpPr>
          <p:nvPr/>
        </p:nvCxnSpPr>
        <p:spPr>
          <a:xfrm>
            <a:off x="5211899" y="2551979"/>
            <a:ext cx="127938" cy="2067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6">
            <a:extLst>
              <a:ext uri="{FF2B5EF4-FFF2-40B4-BE49-F238E27FC236}">
                <a16:creationId xmlns:a16="http://schemas.microsoft.com/office/drawing/2014/main" id="{E02EC0E4-A4E1-6495-8177-596065B7D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6346" y="3098919"/>
            <a:ext cx="351087" cy="21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sz="800" dirty="0"/>
              <a:t>Yes</a:t>
            </a: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ECDBF6A-3D1C-C6B9-E3A1-BD882200CA7A}"/>
              </a:ext>
            </a:extLst>
          </p:cNvPr>
          <p:cNvGrpSpPr/>
          <p:nvPr/>
        </p:nvGrpSpPr>
        <p:grpSpPr>
          <a:xfrm>
            <a:off x="2909562" y="2533135"/>
            <a:ext cx="310896" cy="310896"/>
            <a:chOff x="1635778" y="3664902"/>
            <a:chExt cx="360885" cy="343522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4B3B7219-AD6A-6D59-1C8C-9528E9BC50EC}"/>
                </a:ext>
              </a:extLst>
            </p:cNvPr>
            <p:cNvSpPr/>
            <p:nvPr/>
          </p:nvSpPr>
          <p:spPr>
            <a:xfrm>
              <a:off x="1635778" y="3664902"/>
              <a:ext cx="360885" cy="343522"/>
            </a:xfrm>
            <a:prstGeom prst="rect">
              <a:avLst/>
            </a:prstGeom>
            <a:noFill/>
            <a:ln w="952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57">
                <a:solidFill>
                  <a:schemeClr val="tx1"/>
                </a:solidFill>
              </a:endParaRPr>
            </a:p>
          </p:txBody>
        </p:sp>
        <p:sp>
          <p:nvSpPr>
            <p:cNvPr id="192" name="Freeform 86">
              <a:extLst>
                <a:ext uri="{FF2B5EF4-FFF2-40B4-BE49-F238E27FC236}">
                  <a16:creationId xmlns:a16="http://schemas.microsoft.com/office/drawing/2014/main" id="{732EF87A-337A-3BCC-2736-1294ECB3E3CC}"/>
                </a:ext>
              </a:extLst>
            </p:cNvPr>
            <p:cNvSpPr/>
            <p:nvPr/>
          </p:nvSpPr>
          <p:spPr>
            <a:xfrm rot="17443445">
              <a:off x="1681649" y="3746257"/>
              <a:ext cx="276137" cy="224201"/>
            </a:xfrm>
            <a:custGeom>
              <a:avLst/>
              <a:gdLst>
                <a:gd name="connsiteX0" fmla="*/ 0 w 3962400"/>
                <a:gd name="connsiteY0" fmla="*/ 180644 h 2835831"/>
                <a:gd name="connsiteX1" fmla="*/ 3657600 w 3962400"/>
                <a:gd name="connsiteY1" fmla="*/ 214510 h 2835831"/>
                <a:gd name="connsiteX2" fmla="*/ 835378 w 3962400"/>
                <a:gd name="connsiteY2" fmla="*/ 2325532 h 2835831"/>
                <a:gd name="connsiteX3" fmla="*/ 3962400 w 3962400"/>
                <a:gd name="connsiteY3" fmla="*/ 2833532 h 283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2400" h="2835831">
                  <a:moveTo>
                    <a:pt x="0" y="180644"/>
                  </a:moveTo>
                  <a:cubicBezTo>
                    <a:pt x="1759185" y="18836"/>
                    <a:pt x="3518370" y="-142971"/>
                    <a:pt x="3657600" y="214510"/>
                  </a:cubicBezTo>
                  <a:cubicBezTo>
                    <a:pt x="3796830" y="571991"/>
                    <a:pt x="784578" y="1889028"/>
                    <a:pt x="835378" y="2325532"/>
                  </a:cubicBezTo>
                  <a:cubicBezTo>
                    <a:pt x="886178" y="2762036"/>
                    <a:pt x="3413007" y="2852347"/>
                    <a:pt x="3962400" y="2833532"/>
                  </a:cubicBezTo>
                </a:path>
              </a:pathLst>
            </a:custGeom>
            <a:noFill/>
            <a:ln w="952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57">
                <a:solidFill>
                  <a:schemeClr val="tx1"/>
                </a:solidFill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452903B3-08C2-6990-4302-79E37CAD6BCB}"/>
              </a:ext>
            </a:extLst>
          </p:cNvPr>
          <p:cNvGrpSpPr/>
          <p:nvPr/>
        </p:nvGrpSpPr>
        <p:grpSpPr>
          <a:xfrm>
            <a:off x="2911392" y="3441718"/>
            <a:ext cx="310896" cy="310896"/>
            <a:chOff x="1635778" y="3664902"/>
            <a:chExt cx="360885" cy="343522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00F51084-E079-4244-DD08-44F7AC5388FA}"/>
                </a:ext>
              </a:extLst>
            </p:cNvPr>
            <p:cNvSpPr/>
            <p:nvPr/>
          </p:nvSpPr>
          <p:spPr>
            <a:xfrm>
              <a:off x="1635778" y="3664902"/>
              <a:ext cx="360885" cy="343522"/>
            </a:xfrm>
            <a:prstGeom prst="rect">
              <a:avLst/>
            </a:prstGeom>
            <a:noFill/>
            <a:ln w="952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57">
                <a:solidFill>
                  <a:schemeClr val="tx1"/>
                </a:solidFill>
              </a:endParaRPr>
            </a:p>
          </p:txBody>
        </p:sp>
        <p:sp>
          <p:nvSpPr>
            <p:cNvPr id="195" name="Freeform 86">
              <a:extLst>
                <a:ext uri="{FF2B5EF4-FFF2-40B4-BE49-F238E27FC236}">
                  <a16:creationId xmlns:a16="http://schemas.microsoft.com/office/drawing/2014/main" id="{52DD48F5-48D6-FC74-3206-F4FBBEB7D8AE}"/>
                </a:ext>
              </a:extLst>
            </p:cNvPr>
            <p:cNvSpPr/>
            <p:nvPr/>
          </p:nvSpPr>
          <p:spPr>
            <a:xfrm rot="17443445">
              <a:off x="1681649" y="3746257"/>
              <a:ext cx="276137" cy="224201"/>
            </a:xfrm>
            <a:custGeom>
              <a:avLst/>
              <a:gdLst>
                <a:gd name="connsiteX0" fmla="*/ 0 w 3962400"/>
                <a:gd name="connsiteY0" fmla="*/ 180644 h 2835831"/>
                <a:gd name="connsiteX1" fmla="*/ 3657600 w 3962400"/>
                <a:gd name="connsiteY1" fmla="*/ 214510 h 2835831"/>
                <a:gd name="connsiteX2" fmla="*/ 835378 w 3962400"/>
                <a:gd name="connsiteY2" fmla="*/ 2325532 h 2835831"/>
                <a:gd name="connsiteX3" fmla="*/ 3962400 w 3962400"/>
                <a:gd name="connsiteY3" fmla="*/ 2833532 h 283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2400" h="2835831">
                  <a:moveTo>
                    <a:pt x="0" y="180644"/>
                  </a:moveTo>
                  <a:cubicBezTo>
                    <a:pt x="1759185" y="18836"/>
                    <a:pt x="3518370" y="-142971"/>
                    <a:pt x="3657600" y="214510"/>
                  </a:cubicBezTo>
                  <a:cubicBezTo>
                    <a:pt x="3796830" y="571991"/>
                    <a:pt x="784578" y="1889028"/>
                    <a:pt x="835378" y="2325532"/>
                  </a:cubicBezTo>
                  <a:cubicBezTo>
                    <a:pt x="886178" y="2762036"/>
                    <a:pt x="3413007" y="2852347"/>
                    <a:pt x="3962400" y="2833532"/>
                  </a:cubicBezTo>
                </a:path>
              </a:pathLst>
            </a:custGeom>
            <a:noFill/>
            <a:ln w="952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57">
                <a:solidFill>
                  <a:schemeClr val="tx1"/>
                </a:solidFill>
              </a:endParaRPr>
            </a:p>
          </p:txBody>
        </p:sp>
      </p:grpSp>
      <p:sp>
        <p:nvSpPr>
          <p:cNvPr id="196" name="Rectangle 195">
            <a:extLst>
              <a:ext uri="{FF2B5EF4-FFF2-40B4-BE49-F238E27FC236}">
                <a16:creationId xmlns:a16="http://schemas.microsoft.com/office/drawing/2014/main" id="{A096FE9E-5A4D-6C05-3A9D-4692FC1144FB}"/>
              </a:ext>
            </a:extLst>
          </p:cNvPr>
          <p:cNvSpPr/>
          <p:nvPr/>
        </p:nvSpPr>
        <p:spPr>
          <a:xfrm>
            <a:off x="1885905" y="4863153"/>
            <a:ext cx="1621302" cy="82013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5024"/>
          <a:lstStyle/>
          <a:p>
            <a:pPr algn="ctr">
              <a:defRPr/>
            </a:pPr>
            <a:endParaRPr lang="en-US" sz="853" dirty="0">
              <a:solidFill>
                <a:schemeClr val="tx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E494D6F-9575-D2AC-1F0E-F6D2FEDEE364}"/>
              </a:ext>
            </a:extLst>
          </p:cNvPr>
          <p:cNvSpPr txBox="1"/>
          <p:nvPr/>
        </p:nvSpPr>
        <p:spPr>
          <a:xfrm>
            <a:off x="1639342" y="5290512"/>
            <a:ext cx="1406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Quantum</a:t>
            </a:r>
          </a:p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Ledger Database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EA53568-B981-FFDA-BCBE-49B54C4B6ABC}"/>
              </a:ext>
            </a:extLst>
          </p:cNvPr>
          <p:cNvSpPr/>
          <p:nvPr/>
        </p:nvSpPr>
        <p:spPr>
          <a:xfrm>
            <a:off x="3043188" y="4968374"/>
            <a:ext cx="360885" cy="343522"/>
          </a:xfrm>
          <a:prstGeom prst="rect">
            <a:avLst/>
          </a:prstGeom>
          <a:noFill/>
          <a:ln w="952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57">
              <a:solidFill>
                <a:schemeClr val="tx1"/>
              </a:solidFill>
            </a:endParaRPr>
          </a:p>
        </p:txBody>
      </p:sp>
      <p:sp>
        <p:nvSpPr>
          <p:cNvPr id="199" name="Freeform 86">
            <a:extLst>
              <a:ext uri="{FF2B5EF4-FFF2-40B4-BE49-F238E27FC236}">
                <a16:creationId xmlns:a16="http://schemas.microsoft.com/office/drawing/2014/main" id="{3D47D6F1-A1C6-63E7-A329-973D48CE2FD5}"/>
              </a:ext>
            </a:extLst>
          </p:cNvPr>
          <p:cNvSpPr/>
          <p:nvPr/>
        </p:nvSpPr>
        <p:spPr>
          <a:xfrm rot="17443445">
            <a:off x="3083193" y="5025077"/>
            <a:ext cx="276137" cy="224201"/>
          </a:xfrm>
          <a:custGeom>
            <a:avLst/>
            <a:gdLst>
              <a:gd name="connsiteX0" fmla="*/ 0 w 3962400"/>
              <a:gd name="connsiteY0" fmla="*/ 180644 h 2835831"/>
              <a:gd name="connsiteX1" fmla="*/ 3657600 w 3962400"/>
              <a:gd name="connsiteY1" fmla="*/ 214510 h 2835831"/>
              <a:gd name="connsiteX2" fmla="*/ 835378 w 3962400"/>
              <a:gd name="connsiteY2" fmla="*/ 2325532 h 2835831"/>
              <a:gd name="connsiteX3" fmla="*/ 3962400 w 3962400"/>
              <a:gd name="connsiteY3" fmla="*/ 2833532 h 283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62400" h="2835831">
                <a:moveTo>
                  <a:pt x="0" y="180644"/>
                </a:moveTo>
                <a:cubicBezTo>
                  <a:pt x="1759185" y="18836"/>
                  <a:pt x="3518370" y="-142971"/>
                  <a:pt x="3657600" y="214510"/>
                </a:cubicBezTo>
                <a:cubicBezTo>
                  <a:pt x="3796830" y="571991"/>
                  <a:pt x="784578" y="1889028"/>
                  <a:pt x="835378" y="2325532"/>
                </a:cubicBezTo>
                <a:cubicBezTo>
                  <a:pt x="886178" y="2762036"/>
                  <a:pt x="3413007" y="2852347"/>
                  <a:pt x="3962400" y="2833532"/>
                </a:cubicBezTo>
              </a:path>
            </a:pathLst>
          </a:custGeom>
          <a:noFill/>
          <a:ln w="952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57">
              <a:solidFill>
                <a:schemeClr val="tx1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58195109-E9B4-2965-B096-1FF97239CB73}"/>
              </a:ext>
            </a:extLst>
          </p:cNvPr>
          <p:cNvSpPr txBox="1"/>
          <p:nvPr/>
        </p:nvSpPr>
        <p:spPr>
          <a:xfrm>
            <a:off x="2795833" y="5314596"/>
            <a:ext cx="807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Provenance Service</a:t>
            </a:r>
          </a:p>
        </p:txBody>
      </p:sp>
      <p:sp>
        <p:nvSpPr>
          <p:cNvPr id="201" name="Rounded Rectangle 15">
            <a:extLst>
              <a:ext uri="{FF2B5EF4-FFF2-40B4-BE49-F238E27FC236}">
                <a16:creationId xmlns:a16="http://schemas.microsoft.com/office/drawing/2014/main" id="{B316FF67-6469-559A-8CB3-30B6CC76B0AD}"/>
              </a:ext>
            </a:extLst>
          </p:cNvPr>
          <p:cNvSpPr/>
          <p:nvPr/>
        </p:nvSpPr>
        <p:spPr>
          <a:xfrm>
            <a:off x="3352800" y="4770500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3</a:t>
            </a:r>
          </a:p>
        </p:txBody>
      </p:sp>
      <p:pic>
        <p:nvPicPr>
          <p:cNvPr id="202" name="Graphic 25">
            <a:extLst>
              <a:ext uri="{FF2B5EF4-FFF2-40B4-BE49-F238E27FC236}">
                <a16:creationId xmlns:a16="http://schemas.microsoft.com/office/drawing/2014/main" id="{1544B48A-3C8F-F1A7-3A27-5F3109F5C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427" y="4948713"/>
            <a:ext cx="362861" cy="362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" name="Rounded Rectangle 15">
            <a:extLst>
              <a:ext uri="{FF2B5EF4-FFF2-40B4-BE49-F238E27FC236}">
                <a16:creationId xmlns:a16="http://schemas.microsoft.com/office/drawing/2014/main" id="{1D4D4BFF-E1D9-1E20-A6C3-16B0DAC08F93}"/>
              </a:ext>
            </a:extLst>
          </p:cNvPr>
          <p:cNvSpPr/>
          <p:nvPr/>
        </p:nvSpPr>
        <p:spPr>
          <a:xfrm>
            <a:off x="3373696" y="3344827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</a:t>
            </a:r>
          </a:p>
        </p:txBody>
      </p: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F45ECB3D-81CA-3B53-D130-AE7B378F16B5}"/>
              </a:ext>
            </a:extLst>
          </p:cNvPr>
          <p:cNvCxnSpPr>
            <a:cxnSpLocks/>
            <a:stCxn id="128" idx="2"/>
          </p:cNvCxnSpPr>
          <p:nvPr/>
        </p:nvCxnSpPr>
        <p:spPr>
          <a:xfrm>
            <a:off x="5838813" y="4999099"/>
            <a:ext cx="0" cy="274122"/>
          </a:xfrm>
          <a:prstGeom prst="straightConnector1">
            <a:avLst/>
          </a:prstGeom>
          <a:ln w="12700">
            <a:solidFill>
              <a:srgbClr val="545B64"/>
            </a:solidFill>
            <a:prstDash val="dash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Rounded Rectangle 19">
            <a:extLst>
              <a:ext uri="{FF2B5EF4-FFF2-40B4-BE49-F238E27FC236}">
                <a16:creationId xmlns:a16="http://schemas.microsoft.com/office/drawing/2014/main" id="{ECC23220-38E6-1971-CE22-4AC90AD972EB}"/>
              </a:ext>
            </a:extLst>
          </p:cNvPr>
          <p:cNvSpPr/>
          <p:nvPr/>
        </p:nvSpPr>
        <p:spPr>
          <a:xfrm>
            <a:off x="7751219" y="4203402"/>
            <a:ext cx="191874" cy="196559"/>
          </a:xfrm>
          <a:prstGeom prst="roundRect">
            <a:avLst/>
          </a:prstGeom>
          <a:solidFill>
            <a:srgbClr val="007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24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7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34FB9AF5-5714-E05D-BFBC-E0FDA2652649}"/>
              </a:ext>
            </a:extLst>
          </p:cNvPr>
          <p:cNvSpPr txBox="1"/>
          <p:nvPr/>
        </p:nvSpPr>
        <p:spPr>
          <a:xfrm>
            <a:off x="3611697" y="5231799"/>
            <a:ext cx="1807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Cross Domain Solution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2D6E0663-F28D-AF71-3729-094D79D99102}"/>
              </a:ext>
            </a:extLst>
          </p:cNvPr>
          <p:cNvCxnSpPr>
            <a:cxnSpLocks/>
          </p:cNvCxnSpPr>
          <p:nvPr/>
        </p:nvCxnSpPr>
        <p:spPr>
          <a:xfrm flipH="1">
            <a:off x="8402591" y="4229827"/>
            <a:ext cx="22461" cy="1018748"/>
          </a:xfrm>
          <a:prstGeom prst="straightConnector1">
            <a:avLst/>
          </a:prstGeom>
          <a:ln w="12700">
            <a:solidFill>
              <a:srgbClr val="545B64"/>
            </a:solidFill>
            <a:prstDash val="dash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8" name="Graphic 7">
            <a:extLst>
              <a:ext uri="{FF2B5EF4-FFF2-40B4-BE49-F238E27FC236}">
                <a16:creationId xmlns:a16="http://schemas.microsoft.com/office/drawing/2014/main" id="{386B9E79-C0B2-6FBD-BC1C-877C54D46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622" y="4023248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" name="Graphic 7">
            <a:extLst>
              <a:ext uri="{FF2B5EF4-FFF2-40B4-BE49-F238E27FC236}">
                <a16:creationId xmlns:a16="http://schemas.microsoft.com/office/drawing/2014/main" id="{211955D5-9C56-0219-517B-3F6AF37BE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708" y="3574267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0" name="Graphic 7">
            <a:extLst>
              <a:ext uri="{FF2B5EF4-FFF2-40B4-BE49-F238E27FC236}">
                <a16:creationId xmlns:a16="http://schemas.microsoft.com/office/drawing/2014/main" id="{C1FBD960-E7C2-26EA-116C-D600396E3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143" y="4337598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1" name="Graphic 7">
            <a:extLst>
              <a:ext uri="{FF2B5EF4-FFF2-40B4-BE49-F238E27FC236}">
                <a16:creationId xmlns:a16="http://schemas.microsoft.com/office/drawing/2014/main" id="{B58CF801-992E-8485-4814-DEE614CE1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916" y="3464717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2" name="Graphic 7">
            <a:extLst>
              <a:ext uri="{FF2B5EF4-FFF2-40B4-BE49-F238E27FC236}">
                <a16:creationId xmlns:a16="http://schemas.microsoft.com/office/drawing/2014/main" id="{0CD54605-0A85-5B4A-5D00-8631929DA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925" y="2693205"/>
            <a:ext cx="310896" cy="310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5EC20909-E4F2-0D8F-715F-92C445287F9A}"/>
              </a:ext>
            </a:extLst>
          </p:cNvPr>
          <p:cNvSpPr txBox="1"/>
          <p:nvPr/>
        </p:nvSpPr>
        <p:spPr>
          <a:xfrm>
            <a:off x="1807704" y="4299838"/>
            <a:ext cx="1063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Key Management Service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A22E56F-332E-B177-AE40-10E61FCC1EB9}"/>
              </a:ext>
            </a:extLst>
          </p:cNvPr>
          <p:cNvSpPr txBox="1"/>
          <p:nvPr/>
        </p:nvSpPr>
        <p:spPr>
          <a:xfrm>
            <a:off x="4083283" y="2661557"/>
            <a:ext cx="1180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Key Management Service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A71914A-6AF0-A9C9-C802-2C828056BF06}"/>
              </a:ext>
            </a:extLst>
          </p:cNvPr>
          <p:cNvSpPr txBox="1"/>
          <p:nvPr/>
        </p:nvSpPr>
        <p:spPr>
          <a:xfrm>
            <a:off x="8815182" y="3842915"/>
            <a:ext cx="1180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Key Management Service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2705B2EB-EE03-C93E-80CA-7CA334CC5D51}"/>
              </a:ext>
            </a:extLst>
          </p:cNvPr>
          <p:cNvSpPr txBox="1"/>
          <p:nvPr/>
        </p:nvSpPr>
        <p:spPr>
          <a:xfrm>
            <a:off x="4185056" y="3785409"/>
            <a:ext cx="1180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Key Management Service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EE6407E7-2B12-B436-1D96-8CB3CDD5D890}"/>
              </a:ext>
            </a:extLst>
          </p:cNvPr>
          <p:cNvSpPr txBox="1"/>
          <p:nvPr/>
        </p:nvSpPr>
        <p:spPr>
          <a:xfrm>
            <a:off x="3741765" y="4620989"/>
            <a:ext cx="1180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Key Management Service</a:t>
            </a:r>
          </a:p>
        </p:txBody>
      </p:sp>
      <p:pic>
        <p:nvPicPr>
          <p:cNvPr id="218" name="Graphic 20">
            <a:extLst>
              <a:ext uri="{FF2B5EF4-FFF2-40B4-BE49-F238E27FC236}">
                <a16:creationId xmlns:a16="http://schemas.microsoft.com/office/drawing/2014/main" id="{05787D38-8D4F-3D30-341F-3BCE52BB5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012" y="1738210"/>
            <a:ext cx="197147" cy="197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9" name="Graphic 20">
            <a:extLst>
              <a:ext uri="{FF2B5EF4-FFF2-40B4-BE49-F238E27FC236}">
                <a16:creationId xmlns:a16="http://schemas.microsoft.com/office/drawing/2014/main" id="{F36C02C1-673C-9C45-2390-B775E1531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650" y="1743267"/>
            <a:ext cx="197147" cy="197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5823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6148-E3E5-664B-8A24-89C2726A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8" y="401065"/>
            <a:ext cx="10515600" cy="982412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B9B0-CBBE-A041-9695-C3789648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all service icons, refer to </a:t>
            </a:r>
            <a:r>
              <a:rPr lang="en-US" dirty="0">
                <a:hlinkClick r:id="rId2"/>
              </a:rPr>
              <a:t>AWS Architecture Icons</a:t>
            </a:r>
            <a:r>
              <a:rPr lang="en-US" dirty="0"/>
              <a:t>.</a:t>
            </a:r>
          </a:p>
          <a:p>
            <a:r>
              <a:rPr lang="en-US" dirty="0"/>
              <a:t>For more architecture diagrams, refer to </a:t>
            </a:r>
            <a:r>
              <a:rPr lang="en-US" dirty="0">
                <a:hlinkClick r:id="rId3"/>
              </a:rPr>
              <a:t>AWS Architecture Center</a:t>
            </a:r>
            <a:r>
              <a:rPr lang="en-US" dirty="0"/>
              <a:t>.</a:t>
            </a:r>
          </a:p>
          <a:p>
            <a:r>
              <a:rPr lang="en-US" dirty="0"/>
              <a:t>For more AWS best practices, refer to </a:t>
            </a:r>
            <a:r>
              <a:rPr lang="en-US" dirty="0">
                <a:hlinkClick r:id="rId4"/>
              </a:rPr>
              <a:t>AWS Well-Architected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you have suggestions about making this experience better, </a:t>
            </a:r>
            <a:r>
              <a:rPr lang="en-US" dirty="0">
                <a:hlinkClick r:id="rId5"/>
              </a:rPr>
              <a:t>provide feedback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C8BDD-2AC7-FD49-B718-D5C3842239D0}"/>
              </a:ext>
            </a:extLst>
          </p:cNvPr>
          <p:cNvSpPr txBox="1"/>
          <p:nvPr/>
        </p:nvSpPr>
        <p:spPr>
          <a:xfrm>
            <a:off x="673768" y="1174282"/>
            <a:ext cx="973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get started with customizing your architecture diagram, refer to the following resources.</a:t>
            </a:r>
          </a:p>
        </p:txBody>
      </p:sp>
    </p:spTree>
    <p:extLst>
      <p:ext uri="{BB962C8B-B14F-4D97-AF65-F5344CB8AC3E}">
        <p14:creationId xmlns:p14="http://schemas.microsoft.com/office/powerpoint/2010/main" val="249575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58612</TotalTime>
  <Words>646</Words>
  <Application>Microsoft Macintosh PowerPoint</Application>
  <PresentationFormat>Widescreen</PresentationFormat>
  <Paragraphs>125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Amazon Ember</vt:lpstr>
      <vt:lpstr>Arial</vt:lpstr>
      <vt:lpstr>Calibri</vt:lpstr>
      <vt:lpstr>Calibri Light</vt:lpstr>
      <vt:lpstr>Office Theme</vt:lpstr>
      <vt:lpstr>PowerPoint Presentation</vt:lpstr>
      <vt:lpstr>PowerPoint Presentation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Electro-Optical Imagery Reference Architecture</dc:title>
  <dc:subject/>
  <dc:creator>Amazon Web Services</dc:creator>
  <cp:keywords/>
  <dc:description/>
  <cp:lastModifiedBy>Janelle Nolan</cp:lastModifiedBy>
  <cp:revision>97</cp:revision>
  <dcterms:created xsi:type="dcterms:W3CDTF">2020-07-21T19:38:25Z</dcterms:created>
  <dcterms:modified xsi:type="dcterms:W3CDTF">2022-12-12T20:02:11Z</dcterms:modified>
  <cp:category/>
</cp:coreProperties>
</file>