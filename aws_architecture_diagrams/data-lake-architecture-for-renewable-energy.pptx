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76" r:id="rId2"/>
    <p:sldId id="27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bby Chang" initials="DC" lastIdx="8" clrIdx="0">
    <p:extLst>
      <p:ext uri="{19B8F6BF-5375-455C-9EA6-DF929625EA0E}">
        <p15:presenceInfo xmlns:p15="http://schemas.microsoft.com/office/powerpoint/2012/main" userId="Debby Ch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C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956"/>
    <p:restoredTop sz="94721"/>
  </p:normalViewPr>
  <p:slideViewPr>
    <p:cSldViewPr snapToGrid="0" snapToObjects="1">
      <p:cViewPr varScale="1">
        <p:scale>
          <a:sx n="75" d="100"/>
          <a:sy n="75" d="100"/>
        </p:scale>
        <p:origin x="184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E6B231-60EB-4C49-AAEF-269B5DFF8A47}" type="datetimeFigureOut">
              <a:rPr lang="en-US" smtClean="0"/>
              <a:t>5/4/23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686CF6-1F11-0F42-9224-21A256809A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734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quip-amazon.com/5XEtAzI2yYvC/Code-Sample-Events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developer initiates an activity in AWS CI/CD pipeline such as push code changes. These activities create Amazon </a:t>
            </a:r>
            <a:r>
              <a:rPr lang="en-US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CloudWatch events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Amazon EventBridge event rule detects the CloudWatch events and sends the event data to an Amazon Kinesis Firehose Delivery Stream. One event rule per event source.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event rule is also created to capture event data from Amazon CloudWatch Synthetics Canary if customer has set up the canary – only needed for MTTR.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Firehose uses a Lambda function for data transformation. It extracts relevant data and sends it to an Amazon S3 bucket.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Amazon Athena database queries the S3 data and returns the query result to an Amazon QuickSight.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Amazon QuickSight obtains the query result and builds dashboard displays for the management team.</a:t>
            </a:r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3B235-0EC1-A945-8A73-E24DD50E928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236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70B15-2441-8C40-A7FF-E2A903BA09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FEDCD3-FE1E-3A42-A167-0D7548E860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A736C-3AF2-754D-B90D-CBD093139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5/4/23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46406-6A04-E148-9208-C65993B69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5A83A-851E-1A44-9FCE-6FFD4813A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65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85C4C-80D1-964F-8C27-E6533D318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D3B0B-74C5-4245-AEBB-F27838447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75128-5C99-924A-8235-4D35BDF56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5/4/23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3A23-0936-5347-BCEE-94B0BBC5E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E944D-764C-594E-89F2-A935820DC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634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914EC-30FA-784D-89FE-065ABF8A6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902DC6-75AF-934A-8CD0-3860E57B6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1C632-EFB6-984D-9E96-59FFF4489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5/4/23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F414A-1C2C-F74E-966B-28ED86075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65928-0931-B243-805D-290462A0E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54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9B84D-AA29-BF47-A2C3-00F3CC6F5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547C6-5414-4D49-B625-9F62F01829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7F339C-0A28-6E45-9806-D043A1E2E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000151-3BFF-394D-AA82-5EC5D874D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5/4/23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A515EA-2174-8A4C-9226-DDCFAF19D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8A7A2B-22F6-B34E-AAAA-F650C35AA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797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5B524-B009-1849-954B-63F1A2B25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A1271-2C8E-744E-B3A6-F1F4D0BD5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0C27E9-0BB9-684A-83E9-B98AEBE76C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8C2C89-FB2B-2848-9CBC-845ACD8AE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18A7B3-5BB6-F142-8991-B826A35EBC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7F6A90-BCA7-A844-BDD1-229C01420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5/4/23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70EB13-5D11-5449-9512-615224438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989CFB-D3AA-5D40-8CD5-82FB72E23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552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4C06F-E9D1-9848-8730-019EDC09A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F6A42A-BD0A-6044-B98A-667A10B91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5/4/23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66F7CE-1782-F34B-8546-4418076A0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A4FECA-CEB6-EA48-989E-769205836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83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25ACDC-A542-1644-ACC8-03BEFDCE9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5/4/23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73CAD7-D680-3248-89AC-406C3A2FB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4454D-3F33-CF4C-AAEA-B9C5C3288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323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DC62-3092-4F47-B1CE-3F896D090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C02A2-C681-EC4D-883E-EDD4C9F35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B3D7A2-001A-E546-90B4-92D80CF484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D9759-F5A3-D041-9C49-871DE9391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5/4/23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16F5AD-6FC4-0546-BCC8-1996C15EB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97A332-74A7-C049-9406-D84CFB5A0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8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A51D8-6D19-DF4B-9F98-C7AC0FFEE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D56044-1EBB-F64A-B5BC-EF7CA42620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45DFA7-FA61-E240-8E13-D17D1C0DAB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96980-11CA-3B45-AE34-01194C85E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5/4/23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3CCDDE-3E46-2544-ACD5-1F7475EA9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5FCE0F-973C-2D41-A199-7D2984F73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736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A80F3-24C0-CB47-9701-966500419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4C93E1-0242-0D43-9778-62EBD48D13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8B7D1-6415-D741-8ED7-723B58CDB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5/4/23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EDD59-7593-9648-BF09-F82F663A9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E32E3-4EBB-0146-BCB3-694DD5433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394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D1C21A-B8BD-4146-8AD7-8E9448250F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22FC8A-61FE-DB4B-8F2A-FE5EDE2F03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F5535-45FC-9A44-81C9-97555F81D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5/4/23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AC401-C660-EF4F-B64A-0D14A2C67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2AEFD-3CC8-8F44-9371-5A08F3407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368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15F298-9AE0-F440-B542-5F54802A7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9FAE3-2B3B-D548-B56B-CE84E6538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3DF35-730C-C244-B98A-CB1C9F822F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D802BD-3636-C34F-81A0-C5C670484C61}" type="datetimeFigureOut">
              <a:rPr lang="en-US" smtClean="0"/>
              <a:t>5/4/23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F7E14-3D8F-1644-8351-8BCD9C2C76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80F83-AAFE-764D-9B87-A488A02ADD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210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26" Type="http://schemas.openxmlformats.org/officeDocument/2006/relationships/image" Target="../media/image23.png"/><Relationship Id="rId3" Type="http://schemas.openxmlformats.org/officeDocument/2006/relationships/image" Target="../media/image1.png"/><Relationship Id="rId21" Type="http://schemas.openxmlformats.org/officeDocument/2006/relationships/image" Target="../media/image18.png"/><Relationship Id="rId34" Type="http://schemas.openxmlformats.org/officeDocument/2006/relationships/image" Target="../media/image31.sv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5" Type="http://schemas.openxmlformats.org/officeDocument/2006/relationships/image" Target="../media/image22.png"/><Relationship Id="rId33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29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24" Type="http://schemas.openxmlformats.org/officeDocument/2006/relationships/image" Target="../media/image21.png"/><Relationship Id="rId32" Type="http://schemas.openxmlformats.org/officeDocument/2006/relationships/image" Target="../media/image29.png"/><Relationship Id="rId5" Type="http://schemas.openxmlformats.org/officeDocument/2006/relationships/hyperlink" Target="https://docs.aws.amazon.com/architecture-diagrams/latest/data-lake-architecture-for-renewable-energy/data-lake-architecture-for-renewable-energy.html" TargetMode="External"/><Relationship Id="rId15" Type="http://schemas.openxmlformats.org/officeDocument/2006/relationships/image" Target="../media/image12.png"/><Relationship Id="rId23" Type="http://schemas.openxmlformats.org/officeDocument/2006/relationships/image" Target="../media/image20.png"/><Relationship Id="rId28" Type="http://schemas.openxmlformats.org/officeDocument/2006/relationships/image" Target="../media/image25.png"/><Relationship Id="rId36" Type="http://schemas.openxmlformats.org/officeDocument/2006/relationships/image" Target="../media/image33.png"/><Relationship Id="rId10" Type="http://schemas.openxmlformats.org/officeDocument/2006/relationships/image" Target="../media/image7.png"/><Relationship Id="rId19" Type="http://schemas.openxmlformats.org/officeDocument/2006/relationships/image" Target="../media/image16.png"/><Relationship Id="rId31" Type="http://schemas.openxmlformats.org/officeDocument/2006/relationships/image" Target="../media/image28.png"/><Relationship Id="rId4" Type="http://schemas.openxmlformats.org/officeDocument/2006/relationships/image" Target="../media/image2.svg"/><Relationship Id="rId9" Type="http://schemas.openxmlformats.org/officeDocument/2006/relationships/image" Target="../media/image6.png"/><Relationship Id="rId14" Type="http://schemas.openxmlformats.org/officeDocument/2006/relationships/image" Target="../media/image11.svg"/><Relationship Id="rId22" Type="http://schemas.openxmlformats.org/officeDocument/2006/relationships/image" Target="../media/image19.png"/><Relationship Id="rId27" Type="http://schemas.openxmlformats.org/officeDocument/2006/relationships/image" Target="../media/image24.svg"/><Relationship Id="rId30" Type="http://schemas.openxmlformats.org/officeDocument/2006/relationships/image" Target="../media/image27.svg"/><Relationship Id="rId35" Type="http://schemas.openxmlformats.org/officeDocument/2006/relationships/image" Target="../media/image32.png"/><Relationship Id="rId8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architecture/" TargetMode="External"/><Relationship Id="rId2" Type="http://schemas.openxmlformats.org/officeDocument/2006/relationships/hyperlink" Target="https://aws.amazon.com/architecture/icons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provide%20feedback" TargetMode="External"/><Relationship Id="rId4" Type="http://schemas.openxmlformats.org/officeDocument/2006/relationships/hyperlink" Target="https://aws.amazon.com/architecture/well-architected/?wa-lens-whitepapers.sort-by=item.additionalFields.sortDate&amp;wa-lens-whitepapers.sort-order=des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71">
            <a:extLst>
              <a:ext uri="{FF2B5EF4-FFF2-40B4-BE49-F238E27FC236}">
                <a16:creationId xmlns:a16="http://schemas.microsoft.com/office/drawing/2014/main" id="{1271BE9C-FDD5-DC4D-9BA5-3B7493EA2D8F}"/>
              </a:ext>
            </a:extLst>
          </p:cNvPr>
          <p:cNvSpPr txBox="1"/>
          <p:nvPr/>
        </p:nvSpPr>
        <p:spPr>
          <a:xfrm>
            <a:off x="95668" y="134489"/>
            <a:ext cx="62719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Data Lake Architecture for Renewable Energy</a:t>
            </a:r>
            <a:endParaRPr lang="en-US" sz="2000" b="1" dirty="0"/>
          </a:p>
        </p:txBody>
      </p:sp>
      <p:pic>
        <p:nvPicPr>
          <p:cNvPr id="103" name="Graphic 102">
            <a:extLst>
              <a:ext uri="{FF2B5EF4-FFF2-40B4-BE49-F238E27FC236}">
                <a16:creationId xmlns:a16="http://schemas.microsoft.com/office/drawing/2014/main" id="{1DD42CEA-08C0-B743-AC84-1AA6A123B8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392" y="6406198"/>
            <a:ext cx="585391" cy="348070"/>
          </a:xfrm>
          <a:prstGeom prst="rect">
            <a:avLst/>
          </a:prstGeom>
        </p:spPr>
      </p:pic>
      <p:sp>
        <p:nvSpPr>
          <p:cNvPr id="104" name="AWS copyright text">
            <a:extLst>
              <a:ext uri="{FF2B5EF4-FFF2-40B4-BE49-F238E27FC236}">
                <a16:creationId xmlns:a16="http://schemas.microsoft.com/office/drawing/2014/main" id="{E926D9DC-0FDF-1C44-85C5-53E31AA8B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619133"/>
            <a:ext cx="4036484" cy="14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x-none" sz="933" b="0" i="0" dirty="0">
                <a:solidFill>
                  <a:srgbClr val="7F7F7F"/>
                </a:solidFill>
                <a:latin typeface="Amazon Ember" charset="0"/>
                <a:ea typeface="Amazon Ember" charset="0"/>
                <a:cs typeface="Amazon Ember" charset="0"/>
              </a:rPr>
              <a:t>© 2022, Amazon Web Services, Inc. or its affiliates. All rights reserved.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4BEBEF-567F-BD43-B598-F246075C6BF3}"/>
              </a:ext>
            </a:extLst>
          </p:cNvPr>
          <p:cNvSpPr txBox="1"/>
          <p:nvPr/>
        </p:nvSpPr>
        <p:spPr>
          <a:xfrm>
            <a:off x="95668" y="530476"/>
            <a:ext cx="48628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For the architecture description, refer to the </a:t>
            </a:r>
            <a:r>
              <a:rPr lang="en-US" sz="1400" dirty="0">
                <a:hlinkClick r:id="rId5"/>
              </a:rPr>
              <a:t>full diagram</a:t>
            </a:r>
            <a:r>
              <a:rPr lang="en-US" sz="1400" dirty="0"/>
              <a:t>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7FA021-F00F-9A65-AE79-46D18E00EA45}"/>
              </a:ext>
            </a:extLst>
          </p:cNvPr>
          <p:cNvSpPr txBox="1"/>
          <p:nvPr/>
        </p:nvSpPr>
        <p:spPr>
          <a:xfrm>
            <a:off x="6100725" y="1441230"/>
            <a:ext cx="31731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data lake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A00B56-3531-EC16-72AB-BBAAAEB3EF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8778" y="1722411"/>
            <a:ext cx="457240" cy="4572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EAD3E1-A7C4-E568-34D6-81A53DE5A6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2410" y="2660069"/>
            <a:ext cx="457240" cy="4572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9379A9-ECA2-78FC-8D53-248B7AEC6B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5795" y="2620523"/>
            <a:ext cx="457240" cy="4572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FAA7D6B-C1A4-2ABD-84C9-C1A4F56579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56921" y="2617534"/>
            <a:ext cx="464382" cy="4503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F5967F-6C9B-A18B-22AC-FF62C25AB26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3942" y="1764741"/>
            <a:ext cx="474070" cy="47407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D4D3958-7EA7-4B2F-93B0-A19414E36A17}"/>
              </a:ext>
            </a:extLst>
          </p:cNvPr>
          <p:cNvSpPr/>
          <p:nvPr/>
        </p:nvSpPr>
        <p:spPr>
          <a:xfrm>
            <a:off x="7099653" y="3048225"/>
            <a:ext cx="8080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AWS Glue</a:t>
            </a:r>
          </a:p>
          <a:p>
            <a:pPr algn="ctr"/>
            <a:r>
              <a:rPr lang="en-US" sz="900" i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ETL job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99B4BFB-FFA2-790C-F675-A6D686C5267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47191" y="4147207"/>
            <a:ext cx="457242" cy="45724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E70FD2D-D880-BDF8-EE42-2AACBCB42783}"/>
              </a:ext>
            </a:extLst>
          </p:cNvPr>
          <p:cNvSpPr/>
          <p:nvPr/>
        </p:nvSpPr>
        <p:spPr>
          <a:xfrm>
            <a:off x="8062593" y="4585016"/>
            <a:ext cx="107433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Redshift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6BCB784-C8DB-7734-9270-A9E60A59799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86717" y="1403235"/>
            <a:ext cx="1104816" cy="1448522"/>
          </a:xfrm>
          <a:prstGeom prst="rect">
            <a:avLst/>
          </a:prstGeom>
        </p:spPr>
      </p:pic>
      <p:pic>
        <p:nvPicPr>
          <p:cNvPr id="17" name="Picture 53">
            <a:extLst>
              <a:ext uri="{FF2B5EF4-FFF2-40B4-BE49-F238E27FC236}">
                <a16:creationId xmlns:a16="http://schemas.microsoft.com/office/drawing/2014/main" id="{E52533B1-C552-5508-855C-986531E05F2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088404" y="1412695"/>
            <a:ext cx="279287" cy="28023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8EBA424-B286-8225-86DF-8C5932895B74}"/>
              </a:ext>
            </a:extLst>
          </p:cNvPr>
          <p:cNvSpPr txBox="1"/>
          <p:nvPr/>
        </p:nvSpPr>
        <p:spPr>
          <a:xfrm>
            <a:off x="2052536" y="2123414"/>
            <a:ext cx="1217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wind farms 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turbine sensors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solar farms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hydrogen plants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9FB8EC5-8470-2718-12B1-BACBB695FA6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61735" y="4813729"/>
            <a:ext cx="456826" cy="456826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6E089BAE-D45F-D977-FD3E-81112FD229B9}"/>
              </a:ext>
            </a:extLst>
          </p:cNvPr>
          <p:cNvSpPr/>
          <p:nvPr/>
        </p:nvSpPr>
        <p:spPr>
          <a:xfrm>
            <a:off x="7948255" y="5272947"/>
            <a:ext cx="1261884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Timestream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C0645FA-8BE3-2F68-BF81-528D66E8660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54280" y="1965262"/>
            <a:ext cx="458681" cy="458681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189B7D62-4C4A-CC86-B061-6B159D805AB0}"/>
              </a:ext>
            </a:extLst>
          </p:cNvPr>
          <p:cNvSpPr/>
          <p:nvPr/>
        </p:nvSpPr>
        <p:spPr>
          <a:xfrm>
            <a:off x="3217842" y="2388973"/>
            <a:ext cx="89960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AWS IoT Core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775E1BD-4012-AA2A-6958-FFBC6DF2459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819626" y="1856409"/>
            <a:ext cx="450051" cy="450051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97E3069E-C809-A788-A110-4C26A0F126EE}"/>
              </a:ext>
            </a:extLst>
          </p:cNvPr>
          <p:cNvSpPr/>
          <p:nvPr/>
        </p:nvSpPr>
        <p:spPr>
          <a:xfrm>
            <a:off x="9634740" y="2344432"/>
            <a:ext cx="831959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Athena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8E719DC-4E73-B8D5-9E99-470B2D889DF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27178" y="3150295"/>
            <a:ext cx="455390" cy="45539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0EC21146-AB46-22FF-BF97-54287CC606E8}"/>
              </a:ext>
            </a:extLst>
          </p:cNvPr>
          <p:cNvSpPr/>
          <p:nvPr/>
        </p:nvSpPr>
        <p:spPr>
          <a:xfrm>
            <a:off x="9246531" y="3624910"/>
            <a:ext cx="80616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</a:t>
            </a:r>
          </a:p>
          <a:p>
            <a:pPr algn="ctr"/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QuickSight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45C0355-BFD3-112D-19A1-13B70DC1BA3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073349" y="3299679"/>
            <a:ext cx="377130" cy="358802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C932B5E-8FD1-BE0F-751C-EF3EA211A73A}"/>
              </a:ext>
            </a:extLst>
          </p:cNvPr>
          <p:cNvCxnSpPr>
            <a:cxnSpLocks/>
          </p:cNvCxnSpPr>
          <p:nvPr/>
        </p:nvCxnSpPr>
        <p:spPr>
          <a:xfrm flipV="1">
            <a:off x="3184414" y="3508011"/>
            <a:ext cx="252000" cy="1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D1DC137-B79B-838B-00B9-A4B557746A9E}"/>
              </a:ext>
            </a:extLst>
          </p:cNvPr>
          <p:cNvCxnSpPr>
            <a:cxnSpLocks/>
          </p:cNvCxnSpPr>
          <p:nvPr/>
        </p:nvCxnSpPr>
        <p:spPr>
          <a:xfrm>
            <a:off x="6567801" y="2879360"/>
            <a:ext cx="635115" cy="0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7F64145-8E42-2A58-3D01-67FF8D450801}"/>
              </a:ext>
            </a:extLst>
          </p:cNvPr>
          <p:cNvCxnSpPr>
            <a:cxnSpLocks/>
          </p:cNvCxnSpPr>
          <p:nvPr/>
        </p:nvCxnSpPr>
        <p:spPr>
          <a:xfrm>
            <a:off x="7761776" y="2866652"/>
            <a:ext cx="601634" cy="350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Picture 39">
            <a:extLst>
              <a:ext uri="{FF2B5EF4-FFF2-40B4-BE49-F238E27FC236}">
                <a16:creationId xmlns:a16="http://schemas.microsoft.com/office/drawing/2014/main" id="{ED938C85-9A70-0822-D509-10637A9CEAC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535773" y="1102460"/>
            <a:ext cx="280440" cy="335309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DFD2B51C-C44A-A4C8-CF9B-587F2B2FA67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117553" y="3753270"/>
            <a:ext cx="446422" cy="466339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5FE937A2-59CF-F797-6F9B-595023BE545E}"/>
              </a:ext>
            </a:extLst>
          </p:cNvPr>
          <p:cNvSpPr txBox="1"/>
          <p:nvPr/>
        </p:nvSpPr>
        <p:spPr>
          <a:xfrm>
            <a:off x="5674378" y="4175304"/>
            <a:ext cx="13197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SageMaker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A41E0EC6-8814-062F-655E-FEA226E85F10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271615" y="1673359"/>
            <a:ext cx="280440" cy="335309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0FC2E6E0-383B-3E3B-0670-3178C1ACE0A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236669" y="2943583"/>
            <a:ext cx="280440" cy="335309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F3322371-D5F2-9072-DA53-2C7B0C015F1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387033" y="3299707"/>
            <a:ext cx="351816" cy="355485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93E4682A-B867-36D3-4CD5-48340061209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674837" y="3302667"/>
            <a:ext cx="356566" cy="356566"/>
          </a:xfrm>
          <a:prstGeom prst="rect">
            <a:avLst/>
          </a:prstGeom>
        </p:spPr>
      </p:pic>
      <p:pic>
        <p:nvPicPr>
          <p:cNvPr id="107" name="Graphic 18">
            <a:extLst>
              <a:ext uri="{FF2B5EF4-FFF2-40B4-BE49-F238E27FC236}">
                <a16:creationId xmlns:a16="http://schemas.microsoft.com/office/drawing/2014/main" id="{D7D9860C-1C6D-642E-FC6A-A5A3EF650A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019" y="3285919"/>
            <a:ext cx="450847" cy="450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083C398C-84CA-F92C-1BA9-41FBACE4EDEF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749219" y="5206958"/>
            <a:ext cx="280440" cy="335309"/>
          </a:xfrm>
          <a:prstGeom prst="rect">
            <a:avLst/>
          </a:prstGeom>
        </p:spPr>
      </p:pic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4D405EAD-B48D-DF59-DC22-E465A08557F6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3198255" y="2193491"/>
            <a:ext cx="256025" cy="1112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ectangle 111">
            <a:extLst>
              <a:ext uri="{FF2B5EF4-FFF2-40B4-BE49-F238E27FC236}">
                <a16:creationId xmlns:a16="http://schemas.microsoft.com/office/drawing/2014/main" id="{6F498974-DD52-50E8-E426-B0572B5B8E75}"/>
              </a:ext>
            </a:extLst>
          </p:cNvPr>
          <p:cNvSpPr/>
          <p:nvPr/>
        </p:nvSpPr>
        <p:spPr>
          <a:xfrm>
            <a:off x="7065344" y="2179611"/>
            <a:ext cx="8678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AWS Glue Data Catalog</a:t>
            </a:r>
          </a:p>
        </p:txBody>
      </p:sp>
      <p:pic>
        <p:nvPicPr>
          <p:cNvPr id="113" name="Picture 112">
            <a:extLst>
              <a:ext uri="{FF2B5EF4-FFF2-40B4-BE49-F238E27FC236}">
                <a16:creationId xmlns:a16="http://schemas.microsoft.com/office/drawing/2014/main" id="{45071165-5F9C-4C0C-01E6-4654FAE1224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45961" y="1761434"/>
            <a:ext cx="474070" cy="474070"/>
          </a:xfrm>
          <a:prstGeom prst="rect">
            <a:avLst/>
          </a:prstGeom>
        </p:spPr>
      </p:pic>
      <p:sp>
        <p:nvSpPr>
          <p:cNvPr id="114" name="NumBox 4">
            <a:extLst>
              <a:ext uri="{FF2B5EF4-FFF2-40B4-BE49-F238E27FC236}">
                <a16:creationId xmlns:a16="http://schemas.microsoft.com/office/drawing/2014/main" id="{3B2B1023-8F26-B26D-F45F-F574B6DC24E1}"/>
              </a:ext>
            </a:extLst>
          </p:cNvPr>
          <p:cNvSpPr/>
          <p:nvPr/>
        </p:nvSpPr>
        <p:spPr>
          <a:xfrm>
            <a:off x="5812810" y="1479553"/>
            <a:ext cx="274320" cy="285269"/>
          </a:xfrm>
          <a:prstGeom prst="roundRect">
            <a:avLst>
              <a:gd name="adj" fmla="val 16667"/>
            </a:avLst>
          </a:prstGeom>
          <a:solidFill>
            <a:srgbClr val="007C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4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2FFB3D59-2F18-B235-6C40-D50F0131DE63}"/>
              </a:ext>
            </a:extLst>
          </p:cNvPr>
          <p:cNvCxnSpPr>
            <a:cxnSpLocks/>
          </p:cNvCxnSpPr>
          <p:nvPr/>
        </p:nvCxnSpPr>
        <p:spPr>
          <a:xfrm>
            <a:off x="6567301" y="2008662"/>
            <a:ext cx="703982" cy="0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A9CDC1BC-E8EA-80D6-E956-029291212339}"/>
              </a:ext>
            </a:extLst>
          </p:cNvPr>
          <p:cNvCxnSpPr>
            <a:cxnSpLocks/>
          </p:cNvCxnSpPr>
          <p:nvPr/>
        </p:nvCxnSpPr>
        <p:spPr>
          <a:xfrm>
            <a:off x="7716335" y="2014028"/>
            <a:ext cx="629626" cy="650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ctangle 116">
            <a:extLst>
              <a:ext uri="{FF2B5EF4-FFF2-40B4-BE49-F238E27FC236}">
                <a16:creationId xmlns:a16="http://schemas.microsoft.com/office/drawing/2014/main" id="{E644B0CB-7F44-27C6-AE45-59C1FA04351E}"/>
              </a:ext>
            </a:extLst>
          </p:cNvPr>
          <p:cNvSpPr/>
          <p:nvPr/>
        </p:nvSpPr>
        <p:spPr>
          <a:xfrm rot="5400000">
            <a:off x="8427979" y="2377994"/>
            <a:ext cx="3240752" cy="1391688"/>
          </a:xfrm>
          <a:prstGeom prst="rect">
            <a:avLst/>
          </a:prstGeom>
          <a:noFill/>
          <a:ln w="12700">
            <a:solidFill>
              <a:srgbClr val="5A6B8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E996F93B-2264-8BF8-017E-BD8FDAA026D7}"/>
              </a:ext>
            </a:extLst>
          </p:cNvPr>
          <p:cNvCxnSpPr>
            <a:cxnSpLocks/>
          </p:cNvCxnSpPr>
          <p:nvPr/>
        </p:nvCxnSpPr>
        <p:spPr>
          <a:xfrm>
            <a:off x="8706138" y="2845804"/>
            <a:ext cx="646373" cy="3339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9" name="Graphic 118">
            <a:extLst>
              <a:ext uri="{FF2B5EF4-FFF2-40B4-BE49-F238E27FC236}">
                <a16:creationId xmlns:a16="http://schemas.microsoft.com/office/drawing/2014/main" id="{3A4C0430-236B-A591-0F34-BCDB2F90FBE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073349" y="2903512"/>
            <a:ext cx="273504" cy="273504"/>
          </a:xfrm>
          <a:prstGeom prst="rect">
            <a:avLst/>
          </a:prstGeom>
        </p:spPr>
      </p:pic>
      <p:sp>
        <p:nvSpPr>
          <p:cNvPr id="120" name="Rectangle 119">
            <a:extLst>
              <a:ext uri="{FF2B5EF4-FFF2-40B4-BE49-F238E27FC236}">
                <a16:creationId xmlns:a16="http://schemas.microsoft.com/office/drawing/2014/main" id="{D3247F33-AC9D-5362-C732-AEFD8DCB6A0E}"/>
              </a:ext>
            </a:extLst>
          </p:cNvPr>
          <p:cNvSpPr/>
          <p:nvPr/>
        </p:nvSpPr>
        <p:spPr>
          <a:xfrm rot="16200000">
            <a:off x="1885263" y="3083011"/>
            <a:ext cx="1478602" cy="1101884"/>
          </a:xfrm>
          <a:prstGeom prst="rect">
            <a:avLst/>
          </a:prstGeom>
          <a:noFill/>
          <a:ln w="12700">
            <a:solidFill>
              <a:srgbClr val="5A6B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33B79D61-7C90-1AD1-AC26-0DB9766333A9}"/>
              </a:ext>
            </a:extLst>
          </p:cNvPr>
          <p:cNvSpPr txBox="1"/>
          <p:nvPr/>
        </p:nvSpPr>
        <p:spPr>
          <a:xfrm>
            <a:off x="3538930" y="2887243"/>
            <a:ext cx="20993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ingestion </a:t>
            </a: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C6F74616-700C-0C1A-9990-145C09E616EE}"/>
              </a:ext>
            </a:extLst>
          </p:cNvPr>
          <p:cNvCxnSpPr>
            <a:cxnSpLocks/>
          </p:cNvCxnSpPr>
          <p:nvPr/>
        </p:nvCxnSpPr>
        <p:spPr>
          <a:xfrm>
            <a:off x="6331379" y="2245316"/>
            <a:ext cx="0" cy="418075"/>
          </a:xfrm>
          <a:prstGeom prst="straightConnector1">
            <a:avLst/>
          </a:prstGeom>
          <a:ln w="12700">
            <a:solidFill>
              <a:schemeClr val="tx2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17374C8D-2776-A73C-EDAD-45E767ABFC20}"/>
              </a:ext>
            </a:extLst>
          </p:cNvPr>
          <p:cNvCxnSpPr>
            <a:cxnSpLocks/>
          </p:cNvCxnSpPr>
          <p:nvPr/>
        </p:nvCxnSpPr>
        <p:spPr>
          <a:xfrm>
            <a:off x="8571604" y="2236622"/>
            <a:ext cx="0" cy="361873"/>
          </a:xfrm>
          <a:prstGeom prst="straightConnector1">
            <a:avLst/>
          </a:prstGeom>
          <a:ln w="12700">
            <a:solidFill>
              <a:schemeClr val="tx2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657B0B00-E750-F83B-AEE4-C216E15389D1}"/>
              </a:ext>
            </a:extLst>
          </p:cNvPr>
          <p:cNvSpPr txBox="1"/>
          <p:nvPr/>
        </p:nvSpPr>
        <p:spPr>
          <a:xfrm>
            <a:off x="9349153" y="1411852"/>
            <a:ext cx="13916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interactive analytics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29E3F97E-9EC6-1B03-6F3E-489CDCF279B8}"/>
              </a:ext>
            </a:extLst>
          </p:cNvPr>
          <p:cNvSpPr/>
          <p:nvPr/>
        </p:nvSpPr>
        <p:spPr>
          <a:xfrm>
            <a:off x="5784020" y="1438264"/>
            <a:ext cx="3501410" cy="2121002"/>
          </a:xfrm>
          <a:prstGeom prst="rect">
            <a:avLst/>
          </a:prstGeom>
          <a:noFill/>
          <a:ln w="12700">
            <a:solidFill>
              <a:srgbClr val="5A6B8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E0280EF0-344E-8632-A0E4-82617E32AADA}"/>
              </a:ext>
            </a:extLst>
          </p:cNvPr>
          <p:cNvSpPr/>
          <p:nvPr/>
        </p:nvSpPr>
        <p:spPr>
          <a:xfrm>
            <a:off x="3220076" y="1257041"/>
            <a:ext cx="7568694" cy="488494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113D352A-1829-2E35-16DB-96EE2D4E8610}"/>
              </a:ext>
            </a:extLst>
          </p:cNvPr>
          <p:cNvSpPr/>
          <p:nvPr/>
        </p:nvSpPr>
        <p:spPr>
          <a:xfrm>
            <a:off x="3577863" y="1275604"/>
            <a:ext cx="9605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AWS Cloud</a:t>
            </a:r>
          </a:p>
        </p:txBody>
      </p:sp>
      <p:sp>
        <p:nvSpPr>
          <p:cNvPr id="128" name="TextBox 19">
            <a:extLst>
              <a:ext uri="{FF2B5EF4-FFF2-40B4-BE49-F238E27FC236}">
                <a16:creationId xmlns:a16="http://schemas.microsoft.com/office/drawing/2014/main" id="{EDE1864A-0274-82C6-2EB5-FBD476B3E7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026" y="2369981"/>
            <a:ext cx="8703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Kinesis Data Streams</a:t>
            </a:r>
          </a:p>
        </p:txBody>
      </p:sp>
      <p:sp>
        <p:nvSpPr>
          <p:cNvPr id="129" name="TextBox 34">
            <a:extLst>
              <a:ext uri="{FF2B5EF4-FFF2-40B4-BE49-F238E27FC236}">
                <a16:creationId xmlns:a16="http://schemas.microsoft.com/office/drawing/2014/main" id="{C99E991C-3F6A-2F0B-3B29-005A25B04B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7802" y="2373278"/>
            <a:ext cx="8963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Kinesis Data Analytics</a:t>
            </a:r>
          </a:p>
        </p:txBody>
      </p:sp>
      <p:pic>
        <p:nvPicPr>
          <p:cNvPr id="130" name="Graphic 9">
            <a:extLst>
              <a:ext uri="{FF2B5EF4-FFF2-40B4-BE49-F238E27FC236}">
                <a16:creationId xmlns:a16="http://schemas.microsoft.com/office/drawing/2014/main" id="{9E4EAD19-AB24-FAC7-EC6F-987B63AC1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8155" y="5434433"/>
            <a:ext cx="445544" cy="445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1" name="Rectangle 130">
            <a:extLst>
              <a:ext uri="{FF2B5EF4-FFF2-40B4-BE49-F238E27FC236}">
                <a16:creationId xmlns:a16="http://schemas.microsoft.com/office/drawing/2014/main" id="{BE0725A3-28F3-1707-A55F-EF20747E9146}"/>
              </a:ext>
            </a:extLst>
          </p:cNvPr>
          <p:cNvSpPr/>
          <p:nvPr/>
        </p:nvSpPr>
        <p:spPr>
          <a:xfrm>
            <a:off x="7127413" y="3651143"/>
            <a:ext cx="2158012" cy="1838292"/>
          </a:xfrm>
          <a:prstGeom prst="rect">
            <a:avLst/>
          </a:prstGeom>
          <a:noFill/>
          <a:ln w="12700">
            <a:solidFill>
              <a:srgbClr val="5A6B8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7BCE7AA-660D-6A87-A667-EB8195780107}"/>
              </a:ext>
            </a:extLst>
          </p:cNvPr>
          <p:cNvSpPr txBox="1"/>
          <p:nvPr/>
        </p:nvSpPr>
        <p:spPr>
          <a:xfrm>
            <a:off x="7127414" y="3616171"/>
            <a:ext cx="21246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consumption </a:t>
            </a:r>
          </a:p>
        </p:txBody>
      </p: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E0C10E50-2D6D-E9A6-6C46-8326AA3E3F03}"/>
              </a:ext>
            </a:extLst>
          </p:cNvPr>
          <p:cNvCxnSpPr>
            <a:cxnSpLocks/>
            <a:stCxn id="10" idx="2"/>
            <a:endCxn id="14" idx="0"/>
          </p:cNvCxnSpPr>
          <p:nvPr/>
        </p:nvCxnSpPr>
        <p:spPr bwMode="auto">
          <a:xfrm flipH="1">
            <a:off x="8575812" y="3077763"/>
            <a:ext cx="8603" cy="1069444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Rectangle 133">
            <a:extLst>
              <a:ext uri="{FF2B5EF4-FFF2-40B4-BE49-F238E27FC236}">
                <a16:creationId xmlns:a16="http://schemas.microsoft.com/office/drawing/2014/main" id="{E971BF8A-65E2-C280-00EE-7BC52034520E}"/>
              </a:ext>
            </a:extLst>
          </p:cNvPr>
          <p:cNvSpPr/>
          <p:nvPr/>
        </p:nvSpPr>
        <p:spPr>
          <a:xfrm rot="5400000">
            <a:off x="3838326" y="2319164"/>
            <a:ext cx="1215113" cy="2431855"/>
          </a:xfrm>
          <a:prstGeom prst="rect">
            <a:avLst/>
          </a:prstGeom>
          <a:noFill/>
          <a:ln w="12700">
            <a:solidFill>
              <a:srgbClr val="5A6B8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5" name="Group 25">
            <a:extLst>
              <a:ext uri="{FF2B5EF4-FFF2-40B4-BE49-F238E27FC236}">
                <a16:creationId xmlns:a16="http://schemas.microsoft.com/office/drawing/2014/main" id="{576C3DAC-033F-317D-4C13-083665A3A6DC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9623248" y="2286947"/>
            <a:ext cx="799444" cy="818416"/>
            <a:chOff x="2674471" y="1567527"/>
            <a:chExt cx="1488360" cy="331243"/>
          </a:xfrm>
        </p:grpSpPr>
        <p:sp>
          <p:nvSpPr>
            <p:cNvPr id="136" name="Freeform 26">
              <a:extLst>
                <a:ext uri="{FF2B5EF4-FFF2-40B4-BE49-F238E27FC236}">
                  <a16:creationId xmlns:a16="http://schemas.microsoft.com/office/drawing/2014/main" id="{81C8C7C6-8BB1-7CA0-CCB5-5E685E7A4A5E}"/>
                </a:ext>
              </a:extLst>
            </p:cNvPr>
            <p:cNvSpPr/>
            <p:nvPr/>
          </p:nvSpPr>
          <p:spPr>
            <a:xfrm rot="10800000">
              <a:off x="3247894" y="1567527"/>
              <a:ext cx="914937" cy="331243"/>
            </a:xfrm>
            <a:custGeom>
              <a:avLst/>
              <a:gdLst>
                <a:gd name="connsiteX0" fmla="*/ 0 w 622300"/>
                <a:gd name="connsiteY0" fmla="*/ 0 h 1574800"/>
                <a:gd name="connsiteX1" fmla="*/ 622300 w 622300"/>
                <a:gd name="connsiteY1" fmla="*/ 0 h 1574800"/>
                <a:gd name="connsiteX2" fmla="*/ 622300 w 622300"/>
                <a:gd name="connsiteY2" fmla="*/ 1574800 h 1574800"/>
                <a:gd name="connsiteX3" fmla="*/ 482600 w 622300"/>
                <a:gd name="connsiteY3" fmla="*/ 1574800 h 1574800"/>
                <a:gd name="connsiteX4" fmla="*/ 0 w 622300"/>
                <a:gd name="connsiteY4" fmla="*/ 1574800 h 157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2300" h="1574800">
                  <a:moveTo>
                    <a:pt x="0" y="0"/>
                  </a:moveTo>
                  <a:lnTo>
                    <a:pt x="622300" y="0"/>
                  </a:lnTo>
                  <a:lnTo>
                    <a:pt x="622300" y="1574800"/>
                  </a:lnTo>
                  <a:lnTo>
                    <a:pt x="482600" y="1574800"/>
                  </a:lnTo>
                  <a:lnTo>
                    <a:pt x="0" y="1574800"/>
                  </a:lnTo>
                </a:path>
              </a:pathLst>
            </a:custGeom>
            <a:noFill/>
            <a:ln w="12700">
              <a:solidFill>
                <a:schemeClr val="tx2"/>
              </a:solidFill>
              <a:headEnd type="arrow" w="med" len="sm"/>
              <a:tailEnd type="arrow" w="med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4CCFE5E9-FBB9-3FE4-B62C-AFB972507F0D}"/>
                </a:ext>
              </a:extLst>
            </p:cNvPr>
            <p:cNvCxnSpPr>
              <a:cxnSpLocks/>
            </p:cNvCxnSpPr>
            <p:nvPr/>
          </p:nvCxnSpPr>
          <p:spPr>
            <a:xfrm>
              <a:off x="2674471" y="1710853"/>
              <a:ext cx="573423" cy="0"/>
            </a:xfrm>
            <a:prstGeom prst="straightConnector1">
              <a:avLst/>
            </a:prstGeom>
            <a:ln w="12700">
              <a:solidFill>
                <a:srgbClr val="545B64"/>
              </a:solidFill>
              <a:headEnd type="none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8" name="Graphic 137">
            <a:extLst>
              <a:ext uri="{FF2B5EF4-FFF2-40B4-BE49-F238E27FC236}">
                <a16:creationId xmlns:a16="http://schemas.microsoft.com/office/drawing/2014/main" id="{A62E7736-9BA0-11B9-3814-20B6345FFE83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0192310" y="3136683"/>
            <a:ext cx="452937" cy="455391"/>
          </a:xfrm>
          <a:prstGeom prst="rect">
            <a:avLst/>
          </a:prstGeom>
        </p:spPr>
      </p:pic>
      <p:sp>
        <p:nvSpPr>
          <p:cNvPr id="139" name="TextBox 11">
            <a:extLst>
              <a:ext uri="{FF2B5EF4-FFF2-40B4-BE49-F238E27FC236}">
                <a16:creationId xmlns:a16="http://schemas.microsoft.com/office/drawing/2014/main" id="{70F360CA-9A93-32BC-5FF3-1A26197B4B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74019" y="3616092"/>
            <a:ext cx="670181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</a:t>
            </a:r>
          </a:p>
          <a:p>
            <a:pPr algn="ctr" eaLnBrk="1" hangingPunct="1"/>
            <a:r>
              <a:rPr lang="en-US" alt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Managed </a:t>
            </a:r>
          </a:p>
          <a:p>
            <a:pPr algn="ctr" eaLnBrk="1" hangingPunct="1"/>
            <a:r>
              <a:rPr lang="en-US" alt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Grafana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5E657846-2F8D-F9A1-DDB9-BB6D1E49AD18}"/>
              </a:ext>
            </a:extLst>
          </p:cNvPr>
          <p:cNvSpPr/>
          <p:nvPr/>
        </p:nvSpPr>
        <p:spPr>
          <a:xfrm rot="5400000">
            <a:off x="4933104" y="4030173"/>
            <a:ext cx="858853" cy="3212423"/>
          </a:xfrm>
          <a:prstGeom prst="rect">
            <a:avLst/>
          </a:prstGeom>
          <a:noFill/>
          <a:ln w="12700">
            <a:solidFill>
              <a:srgbClr val="5A6B8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B97AF241-9410-8C3D-A013-E304D611B23B}"/>
              </a:ext>
            </a:extLst>
          </p:cNvPr>
          <p:cNvSpPr txBox="1"/>
          <p:nvPr/>
        </p:nvSpPr>
        <p:spPr>
          <a:xfrm>
            <a:off x="4034334" y="5186344"/>
            <a:ext cx="29516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security and governance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1B3963A4-F410-8B10-660B-5DD098C947CE}"/>
              </a:ext>
            </a:extLst>
          </p:cNvPr>
          <p:cNvSpPr txBox="1"/>
          <p:nvPr/>
        </p:nvSpPr>
        <p:spPr>
          <a:xfrm>
            <a:off x="2082135" y="1703301"/>
            <a:ext cx="11078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renewable energy data</a:t>
            </a:r>
          </a:p>
        </p:txBody>
      </p:sp>
      <p:pic>
        <p:nvPicPr>
          <p:cNvPr id="143" name="Graphic 9">
            <a:extLst>
              <a:ext uri="{FF2B5EF4-FFF2-40B4-BE49-F238E27FC236}">
                <a16:creationId xmlns:a16="http://schemas.microsoft.com/office/drawing/2014/main" id="{F9DA5482-1C97-273F-0309-F30F40F8C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6849" y="1955930"/>
            <a:ext cx="458681" cy="458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4" name="NumBox 6">
            <a:extLst>
              <a:ext uri="{FF2B5EF4-FFF2-40B4-BE49-F238E27FC236}">
                <a16:creationId xmlns:a16="http://schemas.microsoft.com/office/drawing/2014/main" id="{DA8382C1-70BF-D21E-E22C-2FF1DF916E14}"/>
              </a:ext>
            </a:extLst>
          </p:cNvPr>
          <p:cNvSpPr/>
          <p:nvPr/>
        </p:nvSpPr>
        <p:spPr>
          <a:xfrm>
            <a:off x="7860730" y="3921126"/>
            <a:ext cx="274320" cy="274320"/>
          </a:xfrm>
          <a:prstGeom prst="roundRect">
            <a:avLst/>
          </a:prstGeom>
          <a:solidFill>
            <a:srgbClr val="007C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6</a:t>
            </a:r>
          </a:p>
        </p:txBody>
      </p:sp>
      <p:sp>
        <p:nvSpPr>
          <p:cNvPr id="145" name="NumBox 7">
            <a:extLst>
              <a:ext uri="{FF2B5EF4-FFF2-40B4-BE49-F238E27FC236}">
                <a16:creationId xmlns:a16="http://schemas.microsoft.com/office/drawing/2014/main" id="{01D5EB09-8F7C-85BA-4F88-2B2D949A908A}"/>
              </a:ext>
            </a:extLst>
          </p:cNvPr>
          <p:cNvSpPr/>
          <p:nvPr/>
        </p:nvSpPr>
        <p:spPr>
          <a:xfrm>
            <a:off x="9401688" y="1668226"/>
            <a:ext cx="274320" cy="274320"/>
          </a:xfrm>
          <a:prstGeom prst="roundRect">
            <a:avLst/>
          </a:prstGeom>
          <a:solidFill>
            <a:srgbClr val="007C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8</a:t>
            </a:r>
          </a:p>
        </p:txBody>
      </p:sp>
      <p:sp>
        <p:nvSpPr>
          <p:cNvPr id="146" name="NumBox 7">
            <a:extLst>
              <a:ext uri="{FF2B5EF4-FFF2-40B4-BE49-F238E27FC236}">
                <a16:creationId xmlns:a16="http://schemas.microsoft.com/office/drawing/2014/main" id="{79D50116-A578-6FBF-3405-6FF32CBDC4F9}"/>
              </a:ext>
            </a:extLst>
          </p:cNvPr>
          <p:cNvSpPr/>
          <p:nvPr/>
        </p:nvSpPr>
        <p:spPr>
          <a:xfrm>
            <a:off x="5772224" y="3604516"/>
            <a:ext cx="274320" cy="274320"/>
          </a:xfrm>
          <a:prstGeom prst="roundRect">
            <a:avLst/>
          </a:prstGeom>
          <a:solidFill>
            <a:srgbClr val="007C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9</a:t>
            </a:r>
          </a:p>
        </p:txBody>
      </p:sp>
      <p:pic>
        <p:nvPicPr>
          <p:cNvPr id="147" name="Picture 146">
            <a:extLst>
              <a:ext uri="{FF2B5EF4-FFF2-40B4-BE49-F238E27FC236}">
                <a16:creationId xmlns:a16="http://schemas.microsoft.com/office/drawing/2014/main" id="{C14C48C5-038F-3A65-43F2-B3654BA27FA1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791160" y="5428834"/>
            <a:ext cx="457240" cy="451143"/>
          </a:xfrm>
          <a:prstGeom prst="rect">
            <a:avLst/>
          </a:prstGeom>
        </p:spPr>
      </p:pic>
      <p:sp>
        <p:nvSpPr>
          <p:cNvPr id="148" name="Rectangle 147">
            <a:extLst>
              <a:ext uri="{FF2B5EF4-FFF2-40B4-BE49-F238E27FC236}">
                <a16:creationId xmlns:a16="http://schemas.microsoft.com/office/drawing/2014/main" id="{2C1EE644-6A7C-26E0-B24A-A5C433C0BF7F}"/>
              </a:ext>
            </a:extLst>
          </p:cNvPr>
          <p:cNvSpPr/>
          <p:nvPr/>
        </p:nvSpPr>
        <p:spPr>
          <a:xfrm rot="5400000">
            <a:off x="3848652" y="1059900"/>
            <a:ext cx="1215113" cy="2411596"/>
          </a:xfrm>
          <a:prstGeom prst="rect">
            <a:avLst/>
          </a:prstGeom>
          <a:noFill/>
          <a:ln w="12700">
            <a:solidFill>
              <a:srgbClr val="5A6B8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DA006F68-0613-56BA-8AA5-874C760B499D}"/>
              </a:ext>
            </a:extLst>
          </p:cNvPr>
          <p:cNvSpPr txBox="1"/>
          <p:nvPr/>
        </p:nvSpPr>
        <p:spPr>
          <a:xfrm>
            <a:off x="3552055" y="1625254"/>
            <a:ext cx="20883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real-time analytics</a:t>
            </a:r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DE455BCA-C515-4C7E-EC23-3FF5C5F282F5}"/>
              </a:ext>
            </a:extLst>
          </p:cNvPr>
          <p:cNvCxnSpPr>
            <a:cxnSpLocks/>
          </p:cNvCxnSpPr>
          <p:nvPr/>
        </p:nvCxnSpPr>
        <p:spPr>
          <a:xfrm>
            <a:off x="3912193" y="2201423"/>
            <a:ext cx="256025" cy="1112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444BDB6C-DF16-BC11-4E38-ADAB7A6AD5F5}"/>
              </a:ext>
            </a:extLst>
          </p:cNvPr>
          <p:cNvCxnSpPr>
            <a:cxnSpLocks/>
          </p:cNvCxnSpPr>
          <p:nvPr/>
        </p:nvCxnSpPr>
        <p:spPr>
          <a:xfrm>
            <a:off x="4633402" y="2206290"/>
            <a:ext cx="256025" cy="1112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2" name="Group 22">
            <a:extLst>
              <a:ext uri="{FF2B5EF4-FFF2-40B4-BE49-F238E27FC236}">
                <a16:creationId xmlns:a16="http://schemas.microsoft.com/office/drawing/2014/main" id="{B09AEBCF-0669-7204-4113-B59244CC14BF}"/>
              </a:ext>
            </a:extLst>
          </p:cNvPr>
          <p:cNvGrpSpPr>
            <a:grpSpLocks/>
          </p:cNvGrpSpPr>
          <p:nvPr/>
        </p:nvGrpSpPr>
        <p:grpSpPr bwMode="auto">
          <a:xfrm>
            <a:off x="5253469" y="2312294"/>
            <a:ext cx="847256" cy="1010317"/>
            <a:chOff x="2442116" y="1051134"/>
            <a:chExt cx="1726182" cy="319545"/>
          </a:xfrm>
        </p:grpSpPr>
        <p:sp>
          <p:nvSpPr>
            <p:cNvPr id="153" name="Freeform 23">
              <a:extLst>
                <a:ext uri="{FF2B5EF4-FFF2-40B4-BE49-F238E27FC236}">
                  <a16:creationId xmlns:a16="http://schemas.microsoft.com/office/drawing/2014/main" id="{88597788-3743-3838-9D77-88757B1587FB}"/>
                </a:ext>
              </a:extLst>
            </p:cNvPr>
            <p:cNvSpPr/>
            <p:nvPr/>
          </p:nvSpPr>
          <p:spPr>
            <a:xfrm>
              <a:off x="2442116" y="1051134"/>
              <a:ext cx="1085890" cy="319545"/>
            </a:xfrm>
            <a:custGeom>
              <a:avLst/>
              <a:gdLst>
                <a:gd name="connsiteX0" fmla="*/ 0 w 622300"/>
                <a:gd name="connsiteY0" fmla="*/ 0 h 1574800"/>
                <a:gd name="connsiteX1" fmla="*/ 622300 w 622300"/>
                <a:gd name="connsiteY1" fmla="*/ 0 h 1574800"/>
                <a:gd name="connsiteX2" fmla="*/ 622300 w 622300"/>
                <a:gd name="connsiteY2" fmla="*/ 1574800 h 1574800"/>
                <a:gd name="connsiteX3" fmla="*/ 482600 w 622300"/>
                <a:gd name="connsiteY3" fmla="*/ 1574800 h 1574800"/>
                <a:gd name="connsiteX4" fmla="*/ 0 w 622300"/>
                <a:gd name="connsiteY4" fmla="*/ 1574800 h 157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2300" h="1574800">
                  <a:moveTo>
                    <a:pt x="0" y="0"/>
                  </a:moveTo>
                  <a:lnTo>
                    <a:pt x="622300" y="0"/>
                  </a:lnTo>
                  <a:lnTo>
                    <a:pt x="622300" y="1574800"/>
                  </a:lnTo>
                  <a:lnTo>
                    <a:pt x="482600" y="1574800"/>
                  </a:lnTo>
                  <a:lnTo>
                    <a:pt x="0" y="1574800"/>
                  </a:lnTo>
                </a:path>
              </a:pathLst>
            </a:custGeom>
            <a:noFill/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18A8E4DF-6195-AC04-E811-9B890E36E9CA}"/>
                </a:ext>
              </a:extLst>
            </p:cNvPr>
            <p:cNvCxnSpPr>
              <a:cxnSpLocks/>
            </p:cNvCxnSpPr>
            <p:nvPr/>
          </p:nvCxnSpPr>
          <p:spPr>
            <a:xfrm>
              <a:off x="3520508" y="1215963"/>
              <a:ext cx="647790" cy="0"/>
            </a:xfrm>
            <a:prstGeom prst="straightConnector1">
              <a:avLst/>
            </a:prstGeom>
            <a:ln w="12700">
              <a:solidFill>
                <a:srgbClr val="545B64"/>
              </a:solidFill>
              <a:headEnd type="none" w="med" len="sm"/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5" name="Rectangle 154">
            <a:extLst>
              <a:ext uri="{FF2B5EF4-FFF2-40B4-BE49-F238E27FC236}">
                <a16:creationId xmlns:a16="http://schemas.microsoft.com/office/drawing/2014/main" id="{3D265387-412C-B4BF-83FA-D32004C90870}"/>
              </a:ext>
            </a:extLst>
          </p:cNvPr>
          <p:cNvSpPr/>
          <p:nvPr/>
        </p:nvSpPr>
        <p:spPr>
          <a:xfrm>
            <a:off x="4621628" y="3694049"/>
            <a:ext cx="76174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AWS DMS</a:t>
            </a:r>
          </a:p>
        </p:txBody>
      </p:sp>
      <p:sp>
        <p:nvSpPr>
          <p:cNvPr id="156" name="Freeform 35">
            <a:extLst>
              <a:ext uri="{FF2B5EF4-FFF2-40B4-BE49-F238E27FC236}">
                <a16:creationId xmlns:a16="http://schemas.microsoft.com/office/drawing/2014/main" id="{C3CC0BA6-39AE-F38F-FC19-5F8D55852815}"/>
              </a:ext>
            </a:extLst>
          </p:cNvPr>
          <p:cNvSpPr/>
          <p:nvPr/>
        </p:nvSpPr>
        <p:spPr>
          <a:xfrm flipH="1" flipV="1">
            <a:off x="3760376" y="2636566"/>
            <a:ext cx="4597747" cy="2326852"/>
          </a:xfrm>
          <a:custGeom>
            <a:avLst/>
            <a:gdLst>
              <a:gd name="connsiteX0" fmla="*/ 1371600 w 1371600"/>
              <a:gd name="connsiteY0" fmla="*/ 711200 h 711200"/>
              <a:gd name="connsiteX1" fmla="*/ 1371600 w 1371600"/>
              <a:gd name="connsiteY1" fmla="*/ 0 h 711200"/>
              <a:gd name="connsiteX2" fmla="*/ 0 w 1371600"/>
              <a:gd name="connsiteY2" fmla="*/ 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00" h="711200">
                <a:moveTo>
                  <a:pt x="1371600" y="711200"/>
                </a:moveTo>
                <a:lnTo>
                  <a:pt x="1371600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tx2"/>
            </a:solidFill>
            <a:headEnd type="none" w="med" len="sm"/>
            <a:tailEnd type="arrow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7" name="Freeform 35">
            <a:extLst>
              <a:ext uri="{FF2B5EF4-FFF2-40B4-BE49-F238E27FC236}">
                <a16:creationId xmlns:a16="http://schemas.microsoft.com/office/drawing/2014/main" id="{63BF4AFF-D6C7-4C8D-9601-DC20F353A827}"/>
              </a:ext>
            </a:extLst>
          </p:cNvPr>
          <p:cNvSpPr/>
          <p:nvPr/>
        </p:nvSpPr>
        <p:spPr>
          <a:xfrm flipH="1" flipV="1">
            <a:off x="5005200" y="3776457"/>
            <a:ext cx="3303968" cy="657550"/>
          </a:xfrm>
          <a:custGeom>
            <a:avLst/>
            <a:gdLst>
              <a:gd name="connsiteX0" fmla="*/ 1371600 w 1371600"/>
              <a:gd name="connsiteY0" fmla="*/ 711200 h 711200"/>
              <a:gd name="connsiteX1" fmla="*/ 1371600 w 1371600"/>
              <a:gd name="connsiteY1" fmla="*/ 0 h 711200"/>
              <a:gd name="connsiteX2" fmla="*/ 0 w 1371600"/>
              <a:gd name="connsiteY2" fmla="*/ 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00" h="711200">
                <a:moveTo>
                  <a:pt x="1371600" y="711200"/>
                </a:moveTo>
                <a:lnTo>
                  <a:pt x="1371600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tx2"/>
            </a:solidFill>
            <a:headEnd type="none" w="med" len="sm"/>
            <a:tailEnd type="arrow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2E471C27-ADE2-D4B9-034A-D64F57F7B578}"/>
              </a:ext>
            </a:extLst>
          </p:cNvPr>
          <p:cNvCxnSpPr>
            <a:cxnSpLocks/>
          </p:cNvCxnSpPr>
          <p:nvPr/>
        </p:nvCxnSpPr>
        <p:spPr>
          <a:xfrm>
            <a:off x="8782622" y="4434007"/>
            <a:ext cx="561308" cy="6433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3F1CB2CF-F194-DD68-F652-5F8BBD582DE6}"/>
              </a:ext>
            </a:extLst>
          </p:cNvPr>
          <p:cNvCxnSpPr>
            <a:cxnSpLocks/>
          </p:cNvCxnSpPr>
          <p:nvPr/>
        </p:nvCxnSpPr>
        <p:spPr>
          <a:xfrm>
            <a:off x="3733800" y="3508011"/>
            <a:ext cx="1044000" cy="0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723F7E97-6947-D65F-AF39-E5EC1BD48282}"/>
              </a:ext>
            </a:extLst>
          </p:cNvPr>
          <p:cNvCxnSpPr>
            <a:cxnSpLocks/>
            <a:endCxn id="46" idx="0"/>
          </p:cNvCxnSpPr>
          <p:nvPr/>
        </p:nvCxnSpPr>
        <p:spPr bwMode="auto">
          <a:xfrm>
            <a:off x="6339259" y="3087012"/>
            <a:ext cx="1505" cy="666258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1" name="Graphic 160">
            <a:extLst>
              <a:ext uri="{FF2B5EF4-FFF2-40B4-BE49-F238E27FC236}">
                <a16:creationId xmlns:a16="http://schemas.microsoft.com/office/drawing/2014/main" id="{755B3414-45A0-B2DD-FD9B-7B4D3D51C00C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/>
        </p:blipFill>
        <p:spPr>
          <a:xfrm>
            <a:off x="3216420" y="1269117"/>
            <a:ext cx="381000" cy="381000"/>
          </a:xfrm>
          <a:prstGeom prst="rect">
            <a:avLst/>
          </a:prstGeom>
        </p:spPr>
      </p:pic>
      <p:pic>
        <p:nvPicPr>
          <p:cNvPr id="162" name="Graphic 14">
            <a:extLst>
              <a:ext uri="{FF2B5EF4-FFF2-40B4-BE49-F238E27FC236}">
                <a16:creationId xmlns:a16="http://schemas.microsoft.com/office/drawing/2014/main" id="{A4D43F46-2081-A4A3-6B19-4AFE61586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4504" y="1959990"/>
            <a:ext cx="463364" cy="463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" name="Rectangle 162">
            <a:extLst>
              <a:ext uri="{FF2B5EF4-FFF2-40B4-BE49-F238E27FC236}">
                <a16:creationId xmlns:a16="http://schemas.microsoft.com/office/drawing/2014/main" id="{61EFAA17-8B01-4CF2-DE9E-B4E2C70829CB}"/>
              </a:ext>
            </a:extLst>
          </p:cNvPr>
          <p:cNvSpPr/>
          <p:nvPr/>
        </p:nvSpPr>
        <p:spPr>
          <a:xfrm>
            <a:off x="3746482" y="3726104"/>
            <a:ext cx="45719" cy="161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CD883222-AF2E-CF92-773C-5586E6EE065D}"/>
              </a:ext>
            </a:extLst>
          </p:cNvPr>
          <p:cNvSpPr/>
          <p:nvPr/>
        </p:nvSpPr>
        <p:spPr>
          <a:xfrm>
            <a:off x="3239616" y="3712739"/>
            <a:ext cx="876842" cy="415498"/>
          </a:xfrm>
          <a:prstGeom prst="rect">
            <a:avLst/>
          </a:prstGeom>
          <a:solidFill>
            <a:schemeClr val="bg1"/>
          </a:solidFill>
          <a:effectLst>
            <a:glow rad="139700">
              <a:schemeClr val="bg1">
                <a:alpha val="40000"/>
              </a:schemeClr>
            </a:glow>
          </a:effectLst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900" dirty="0">
                <a:effectLst>
                  <a:glow rad="258688">
                    <a:schemeClr val="bg1">
                      <a:alpha val="40000"/>
                    </a:schemeClr>
                  </a:glow>
                </a:effectLst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AWS Schema </a:t>
            </a:r>
          </a:p>
          <a:p>
            <a:pPr algn="ctr"/>
            <a:r>
              <a:rPr lang="en-US" sz="900" dirty="0">
                <a:effectLst>
                  <a:glow rad="258688">
                    <a:schemeClr val="bg1">
                      <a:alpha val="40000"/>
                    </a:schemeClr>
                  </a:glow>
                </a:effectLst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Conversion Tool </a:t>
            </a:r>
          </a:p>
          <a:p>
            <a:pPr algn="ctr"/>
            <a:r>
              <a:rPr lang="en-US" sz="900" dirty="0">
                <a:effectLst>
                  <a:glow rad="258688">
                    <a:schemeClr val="bg1">
                      <a:alpha val="40000"/>
                    </a:schemeClr>
                  </a:glow>
                </a:effectLst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(AWS SCT)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D4D9A0C3-0619-988A-4C11-233EEA23887A}"/>
              </a:ext>
            </a:extLst>
          </p:cNvPr>
          <p:cNvSpPr/>
          <p:nvPr/>
        </p:nvSpPr>
        <p:spPr>
          <a:xfrm>
            <a:off x="5855453" y="2315730"/>
            <a:ext cx="967612" cy="1384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AWS Glue Crawler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9635BF9C-8496-B62A-D94A-232D5029F461}"/>
              </a:ext>
            </a:extLst>
          </p:cNvPr>
          <p:cNvSpPr/>
          <p:nvPr/>
        </p:nvSpPr>
        <p:spPr>
          <a:xfrm>
            <a:off x="8077200" y="2334192"/>
            <a:ext cx="1020414" cy="1384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AWS Glue crawler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B9D53987-3E86-688F-CE23-3E2381D2656D}"/>
              </a:ext>
            </a:extLst>
          </p:cNvPr>
          <p:cNvSpPr/>
          <p:nvPr/>
        </p:nvSpPr>
        <p:spPr>
          <a:xfrm>
            <a:off x="5934258" y="3157000"/>
            <a:ext cx="813043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S3</a:t>
            </a:r>
          </a:p>
          <a:p>
            <a:pPr algn="ctr"/>
            <a:r>
              <a:rPr lang="en-US" sz="900" i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raw data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F96A9E59-B767-B2BE-D8A3-151F9ACC5995}"/>
              </a:ext>
            </a:extLst>
          </p:cNvPr>
          <p:cNvSpPr/>
          <p:nvPr/>
        </p:nvSpPr>
        <p:spPr>
          <a:xfrm>
            <a:off x="8153400" y="3169315"/>
            <a:ext cx="856984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S3</a:t>
            </a:r>
          </a:p>
          <a:p>
            <a:pPr algn="ctr"/>
            <a:r>
              <a:rPr lang="en-US" sz="900" i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processed data</a:t>
            </a:r>
          </a:p>
        </p:txBody>
      </p:sp>
      <p:sp>
        <p:nvSpPr>
          <p:cNvPr id="169" name="NumBox 5">
            <a:extLst>
              <a:ext uri="{FF2B5EF4-FFF2-40B4-BE49-F238E27FC236}">
                <a16:creationId xmlns:a16="http://schemas.microsoft.com/office/drawing/2014/main" id="{87CB95AC-2627-7799-8A4A-A8E033B24D14}"/>
              </a:ext>
            </a:extLst>
          </p:cNvPr>
          <p:cNvSpPr/>
          <p:nvPr/>
        </p:nvSpPr>
        <p:spPr>
          <a:xfrm>
            <a:off x="7924800" y="2941611"/>
            <a:ext cx="274320" cy="274320"/>
          </a:xfrm>
          <a:prstGeom prst="roundRect">
            <a:avLst/>
          </a:prstGeom>
          <a:solidFill>
            <a:srgbClr val="007C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5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0E6EA47E-0E7A-40DC-C62D-2B60A9BA4659}"/>
              </a:ext>
            </a:extLst>
          </p:cNvPr>
          <p:cNvSpPr txBox="1"/>
          <p:nvPr/>
        </p:nvSpPr>
        <p:spPr>
          <a:xfrm>
            <a:off x="2043244" y="3586591"/>
            <a:ext cx="147461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asset</a:t>
            </a:r>
          </a:p>
          <a:p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management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enterprise</a:t>
            </a:r>
          </a:p>
          <a:p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resource planning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HR system</a:t>
            </a:r>
          </a:p>
        </p:txBody>
      </p:sp>
      <p:pic>
        <p:nvPicPr>
          <p:cNvPr id="171" name="Graphic 22">
            <a:extLst>
              <a:ext uri="{FF2B5EF4-FFF2-40B4-BE49-F238E27FC236}">
                <a16:creationId xmlns:a16="http://schemas.microsoft.com/office/drawing/2014/main" id="{EE432CD5-3357-0430-D3E5-9375534C7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3282830"/>
            <a:ext cx="457200" cy="438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2" name="TextBox 171">
            <a:extLst>
              <a:ext uri="{FF2B5EF4-FFF2-40B4-BE49-F238E27FC236}">
                <a16:creationId xmlns:a16="http://schemas.microsoft.com/office/drawing/2014/main" id="{5A8558D5-CE5E-9078-405F-308203F3B619}"/>
              </a:ext>
            </a:extLst>
          </p:cNvPr>
          <p:cNvSpPr txBox="1"/>
          <p:nvPr/>
        </p:nvSpPr>
        <p:spPr>
          <a:xfrm>
            <a:off x="2352961" y="2844799"/>
            <a:ext cx="934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corporate data center</a:t>
            </a:r>
          </a:p>
        </p:txBody>
      </p:sp>
    </p:spTree>
    <p:extLst>
      <p:ext uri="{BB962C8B-B14F-4D97-AF65-F5344CB8AC3E}">
        <p14:creationId xmlns:p14="http://schemas.microsoft.com/office/powerpoint/2010/main" val="644375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C6148-E3E5-664B-8A24-89C2726A7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68" y="401065"/>
            <a:ext cx="10515600" cy="982412"/>
          </a:xfrm>
        </p:spPr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CB9B0-CBBE-A041-9695-C37896486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all service icons, refer to </a:t>
            </a:r>
            <a:r>
              <a:rPr lang="en-US" dirty="0">
                <a:hlinkClick r:id="rId2"/>
              </a:rPr>
              <a:t>AWS Architecture Icons</a:t>
            </a:r>
            <a:r>
              <a:rPr lang="en-US" dirty="0"/>
              <a:t>.</a:t>
            </a:r>
          </a:p>
          <a:p>
            <a:r>
              <a:rPr lang="en-US" dirty="0"/>
              <a:t>For more architecture diagrams, refer to </a:t>
            </a:r>
            <a:r>
              <a:rPr lang="en-US" dirty="0">
                <a:hlinkClick r:id="rId3"/>
              </a:rPr>
              <a:t>AWS Architecture Center</a:t>
            </a:r>
            <a:r>
              <a:rPr lang="en-US" dirty="0"/>
              <a:t>.</a:t>
            </a:r>
          </a:p>
          <a:p>
            <a:r>
              <a:rPr lang="en-US" dirty="0"/>
              <a:t>For more AWS best practices, refer to </a:t>
            </a:r>
            <a:r>
              <a:rPr lang="en-US" dirty="0">
                <a:hlinkClick r:id="rId4"/>
              </a:rPr>
              <a:t>AWS Well-Architected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If you have suggestions about making this experience better, </a:t>
            </a:r>
            <a:r>
              <a:rPr lang="en-US" dirty="0">
                <a:hlinkClick r:id="rId5"/>
              </a:rPr>
              <a:t>provide feedback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6C8BDD-2AC7-FD49-B718-D5C3842239D0}"/>
              </a:ext>
            </a:extLst>
          </p:cNvPr>
          <p:cNvSpPr txBox="1"/>
          <p:nvPr/>
        </p:nvSpPr>
        <p:spPr>
          <a:xfrm>
            <a:off x="673768" y="1174282"/>
            <a:ext cx="9731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get started with customizing your architecture diagram, refer to the following resources.</a:t>
            </a:r>
          </a:p>
        </p:txBody>
      </p:sp>
    </p:spTree>
    <p:extLst>
      <p:ext uri="{BB962C8B-B14F-4D97-AF65-F5344CB8AC3E}">
        <p14:creationId xmlns:p14="http://schemas.microsoft.com/office/powerpoint/2010/main" val="2495759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58607</TotalTime>
  <Words>331</Words>
  <Application>Microsoft Macintosh PowerPoint</Application>
  <PresentationFormat>Widescreen</PresentationFormat>
  <Paragraphs>65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Amazon Ember</vt:lpstr>
      <vt:lpstr>Arial</vt:lpstr>
      <vt:lpstr>Calibri</vt:lpstr>
      <vt:lpstr>Calibri Light</vt:lpstr>
      <vt:lpstr>Office Theme</vt:lpstr>
      <vt:lpstr>PowerPoint Presentation</vt:lpstr>
      <vt:lpstr>Resources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Lake Architecture for Renewable Energy  </dc:title>
  <dc:subject/>
  <dc:creator>Amazon Web Services</dc:creator>
  <cp:keywords/>
  <dc:description/>
  <cp:lastModifiedBy>Janelle Nolan</cp:lastModifiedBy>
  <cp:revision>90</cp:revision>
  <dcterms:created xsi:type="dcterms:W3CDTF">2020-07-21T19:38:25Z</dcterms:created>
  <dcterms:modified xsi:type="dcterms:W3CDTF">2023-05-04T18:00:45Z</dcterms:modified>
  <cp:category/>
</cp:coreProperties>
</file>